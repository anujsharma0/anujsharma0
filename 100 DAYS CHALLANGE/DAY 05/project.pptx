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  <p:embeddedFontLst>
    <p:embeddedFont>
      <p:font typeface="MiSans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font" Target="fonts/font1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_1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73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age"/>
          <p:cNvPicPr/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C1F13">
                  <a:alpha val="94902"/>
                </a:srgbClr>
              </a:gs>
              <a:gs pos="45000">
                <a:srgbClr val="0C1F13">
                  <a:alpha val="80000"/>
                </a:srgbClr>
              </a:gs>
              <a:gs pos="100000">
                <a:srgbClr val="0C1F13">
                  <a:alpha val="14902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812800" y="17526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8FBF7F"/>
                </a:solidFill>
                <a:latin typeface="MiSans"/>
                <a:ea typeface="MiSans"/>
              </a:rPr>
              <a:t>AGRICULTURAL DECISION SUPPORT · ANDROID · CSE PROJECT</a:t>
            </a:r>
            <a:endParaRPr lang="en-US" sz="10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2032000"/>
            <a:ext cx="7112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6400" noProof="1" b="1">
                <a:solidFill>
                  <a:srgbClr val="FFFFFF"/>
                </a:solidFill>
                <a:latin typeface="MiSans"/>
                <a:ea typeface="MiSans"/>
              </a:rPr>
              <a:t>AgriSense</a:t>
            </a:r>
            <a:endParaRPr lang="en-US" sz="6400" noProof="1"/>
          </a:p>
        </p:txBody>
      </p:sp>
      <p:sp>
        <p:nvSpPr>
          <p:cNvPr id="6" name="subtitle"/>
          <p:cNvSpPr txBox="1"/>
          <p:nvPr/>
        </p:nvSpPr>
        <p:spPr>
          <a:xfrm>
            <a:off x="812800" y="3200400"/>
            <a:ext cx="711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>
                <a:solidFill>
                  <a:srgbClr val="EAF2E4"/>
                </a:solidFill>
                <a:latin typeface="MiSans"/>
                <a:ea typeface="MiSans"/>
              </a:rPr>
              <a:t>Intelligent Crop Decision &amp; Risk Analysis System</a:t>
            </a:r>
            <a:endParaRPr lang="en-US" sz="1900" noProof="1"/>
          </a:p>
        </p:txBody>
      </p:sp>
      <p:sp>
        <p:nvSpPr>
          <p:cNvPr id="7" name="tagline-bar"/>
          <p:cNvSpPr/>
          <p:nvPr/>
        </p:nvSpPr>
        <p:spPr>
          <a:xfrm>
            <a:off x="812800" y="3962400"/>
            <a:ext cx="38100" cy="508000"/>
          </a:xfrm>
          <a:prstGeom prst="rect">
            <a:avLst/>
          </a:prstGeom>
          <a:solidFill>
            <a:srgbClr val="8FBF7F"/>
          </a:solidFill>
          <a:ln>
            <a:noFill/>
          </a:ln>
        </p:spPr>
      </p:sp>
      <p:sp>
        <p:nvSpPr>
          <p:cNvPr id="8" name="tagline"/>
          <p:cNvSpPr txBox="1"/>
          <p:nvPr/>
        </p:nvSpPr>
        <p:spPr>
          <a:xfrm>
            <a:off x="1016000" y="39624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CFE3C8"/>
                </a:solidFill>
                <a:latin typeface="MiSans"/>
                <a:ea typeface="MiSans"/>
              </a:rPr>
              <a:t>“Understand your farm. Plan your crop. Reduce uncertainty.”</a:t>
            </a:r>
            <a:endParaRPr lang="en-US" sz="1500" noProof="1"/>
          </a:p>
        </p:txBody>
      </p:sp>
      <p:sp>
        <p:nvSpPr>
          <p:cNvPr id="9" name="info-line"/>
          <p:cNvSpPr/>
          <p:nvPr/>
        </p:nvSpPr>
        <p:spPr>
          <a:xfrm>
            <a:off x="812800" y="5486400"/>
            <a:ext cx="7112000" cy="12700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</p:sp>
      <p:sp>
        <p:nvSpPr>
          <p:cNvPr id="10" name="info-team-label"/>
          <p:cNvSpPr txBox="1"/>
          <p:nvPr/>
        </p:nvSpPr>
        <p:spPr>
          <a:xfrm>
            <a:off x="812800" y="56642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9FB79A"/>
                </a:solidFill>
                <a:latin typeface="MiSans"/>
                <a:ea typeface="MiSans"/>
              </a:rPr>
              <a:t>TEAM</a:t>
            </a:r>
            <a:endParaRPr lang="en-US" sz="900" noProof="1"/>
          </a:p>
        </p:txBody>
      </p:sp>
      <p:sp>
        <p:nvSpPr>
          <p:cNvPr id="11" name="info-team-value"/>
          <p:cNvSpPr txBox="1"/>
          <p:nvPr/>
        </p:nvSpPr>
        <p:spPr>
          <a:xfrm>
            <a:off x="812800" y="5867400"/>
            <a:ext cx="2540000" cy="393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Taniya,Utkarsh,Tushya,Krish,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Jiya,Arnav</a:t>
            </a:r>
            <a:endParaRPr lang="en-US" sz="1200" noProof="1"/>
          </a:p>
        </p:txBody>
      </p:sp>
      <p:sp>
        <p:nvSpPr>
          <p:cNvPr id="12" name="info-college-label"/>
          <p:cNvSpPr txBox="1"/>
          <p:nvPr/>
        </p:nvSpPr>
        <p:spPr>
          <a:xfrm>
            <a:off x="3556000" y="56642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9FB79A"/>
                </a:solidFill>
                <a:latin typeface="MiSans"/>
                <a:ea typeface="MiSans"/>
              </a:rPr>
              <a:t>COLLEGE</a:t>
            </a:r>
            <a:endParaRPr lang="en-US" sz="900" noProof="1"/>
          </a:p>
        </p:txBody>
      </p:sp>
      <p:sp>
        <p:nvSpPr>
          <p:cNvPr id="13" name="info-college-value"/>
          <p:cNvSpPr txBox="1"/>
          <p:nvPr/>
        </p:nvSpPr>
        <p:spPr>
          <a:xfrm>
            <a:off x="3556000" y="5867400"/>
            <a:ext cx="254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GNIOT, Group of Institution</a:t>
            </a:r>
            <a:endParaRPr lang="en-US" sz="1200" noProof="1"/>
          </a:p>
        </p:txBody>
      </p:sp>
      <p:sp>
        <p:nvSpPr>
          <p:cNvPr id="14" name="info-dept-label"/>
          <p:cNvSpPr txBox="1"/>
          <p:nvPr/>
        </p:nvSpPr>
        <p:spPr>
          <a:xfrm>
            <a:off x="6299200" y="56642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9FB79A"/>
                </a:solidFill>
                <a:latin typeface="MiSans"/>
                <a:ea typeface="MiSans"/>
              </a:rPr>
              <a:t>DEPARTMENT</a:t>
            </a:r>
            <a:endParaRPr lang="en-US" sz="900" noProof="1"/>
          </a:p>
        </p:txBody>
      </p:sp>
      <p:sp>
        <p:nvSpPr>
          <p:cNvPr id="15" name="info-dept-value"/>
          <p:cNvSpPr txBox="1"/>
          <p:nvPr/>
        </p:nvSpPr>
        <p:spPr>
          <a:xfrm>
            <a:off x="6299200" y="5867400"/>
            <a:ext cx="254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Computer Science And Engineering</a:t>
            </a:r>
            <a:endParaRPr lang="en-US" sz="1200" noProof="1"/>
          </a:p>
        </p:txBody>
      </p:sp>
      <p:sp>
        <p:nvSpPr>
          <p:cNvPr id="16" name="info-year-label"/>
          <p:cNvSpPr txBox="1"/>
          <p:nvPr/>
        </p:nvSpPr>
        <p:spPr>
          <a:xfrm>
            <a:off x="9042400" y="56642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9FB79A"/>
                </a:solidFill>
                <a:latin typeface="MiSans"/>
                <a:ea typeface="MiSans"/>
              </a:rPr>
              <a:t>ACADEMIC YEAR</a:t>
            </a:r>
            <a:endParaRPr lang="en-US" sz="900" noProof="1"/>
          </a:p>
        </p:txBody>
      </p:sp>
      <p:sp>
        <p:nvSpPr>
          <p:cNvPr id="17" name="info-year-value"/>
          <p:cNvSpPr txBox="1"/>
          <p:nvPr/>
        </p:nvSpPr>
        <p:spPr>
          <a:xfrm>
            <a:off x="9042400" y="5867400"/>
            <a:ext cx="254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2026-27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3E7A4E"/>
                </a:solidFill>
                <a:latin typeface="MiSans"/>
                <a:ea typeface="MiSans"/>
              </a:rPr>
              <a:t>THE PROBLEM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4445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300" noProof="1" b="1">
                <a:solidFill>
                  <a:srgbClr val="1F2A20"/>
                </a:solidFill>
                <a:latin typeface="MiSans"/>
                <a:ea typeface="MiSans"/>
              </a:rPr>
              <a:t>The farmer's decision is more complicated than choosing a crop</a:t>
            </a:r>
            <a:endParaRPr lang="en-US" sz="2300" noProof="1"/>
          </a:p>
        </p:txBody>
      </p:sp>
      <p:sp>
        <p:nvSpPr>
          <p:cNvPr id="4" name="lead"/>
          <p:cNvSpPr txBox="1"/>
          <p:nvPr/>
        </p:nvSpPr>
        <p:spPr>
          <a:xfrm>
            <a:off x="609600" y="1930400"/>
            <a:ext cx="4191000" cy="1016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F2A20"/>
                </a:solidFill>
                <a:highlight>
                  <a:srgbClr val="F6F3EA"/>
                </a:highlight>
                <a:latin typeface="MiSans"/>
                <a:ea typeface="MiSans"/>
              </a:rPr>
              <a:t>Choosing a crop means weighing field conditions, climate, biology and economics at the same time — eleven factors shape the outcome.</a:t>
            </a:r>
            <a:endParaRPr lang="en-US" sz="1200" noProof="1"/>
          </a:p>
        </p:txBody>
      </p:sp>
      <p:sp>
        <p:nvSpPr>
          <p:cNvPr id="5" name="msg-bar"/>
          <p:cNvSpPr/>
          <p:nvPr/>
        </p:nvSpPr>
        <p:spPr>
          <a:xfrm>
            <a:off x="609600" y="5435600"/>
            <a:ext cx="38100" cy="787400"/>
          </a:xfrm>
          <a:prstGeom prst="rect">
            <a:avLst/>
          </a:prstGeom>
          <a:solidFill>
            <a:srgbClr val="3E7A4E"/>
          </a:solidFill>
          <a:ln>
            <a:noFill/>
          </a:ln>
        </p:spPr>
      </p:sp>
      <p:sp>
        <p:nvSpPr>
          <p:cNvPr id="6" name="msg"/>
          <p:cNvSpPr txBox="1"/>
          <p:nvPr/>
        </p:nvSpPr>
        <p:spPr>
          <a:xfrm>
            <a:off x="787400" y="5435600"/>
            <a:ext cx="40132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400" noProof="1" b="1">
                <a:solidFill>
                  <a:srgbClr val="173B27"/>
                </a:solidFill>
                <a:latin typeface="MiSans"/>
                <a:ea typeface="MiSans"/>
              </a:rPr>
              <a:t>“A crop that looks profitable on paper may not be the best crop for a particular farm.”</a:t>
            </a:r>
            <a:endParaRPr lang="en-US" sz="1400" noProof="1"/>
          </a:p>
        </p:txBody>
      </p:sp>
      <p:sp>
        <p:nvSpPr>
          <p:cNvPr id="7" name="g1-panel"/>
          <p:cNvSpPr/>
          <p:nvPr/>
        </p:nvSpPr>
        <p:spPr>
          <a:xfrm>
            <a:off x="5080000" y="1397000"/>
            <a:ext cx="1905000" cy="3810000"/>
          </a:xfrm>
          <a:prstGeom prst="roundRect">
            <a:avLst>
              <a:gd name="adj" fmla="val 8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8" name="g1-header"/>
          <p:cNvSpPr txBox="1"/>
          <p:nvPr/>
        </p:nvSpPr>
        <p:spPr>
          <a:xfrm>
            <a:off x="5257800" y="1574800"/>
            <a:ext cx="1600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50" kern="0">
                <a:solidFill>
                  <a:srgbClr val="3E7A4E"/>
                </a:solidFill>
                <a:latin typeface="MiSans"/>
                <a:ea typeface="MiSans"/>
              </a:rPr>
              <a:t>FARM &amp; FIELD</a:t>
            </a:r>
            <a:endParaRPr lang="en-US" sz="900" noProof="1"/>
          </a:p>
        </p:txBody>
      </p:sp>
      <p:sp>
        <p:nvSpPr>
          <p:cNvPr id="9" name="g1-i1-icon"/>
          <p:cNvSpPr/>
          <p:nvPr>
            <p:extLst>
              <p:ext uri="{F5677B7D-0D2A-4D9B-9A5C-6D8D7D0E5A5D}">
                <pptd:icon encoding="base64url">eyJpY29uTmFtZSI6ImZhczpzZWVkbGluZyJ9</pptd:icon>
              </p:ext>
            </p:extLst>
          </p:nvPr>
        </p:nvSpPr>
        <p:spPr>
          <a:xfrm>
            <a:off x="5257800" y="1955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0" name="g1-i1-text"/>
          <p:cNvSpPr txBox="1"/>
          <p:nvPr/>
        </p:nvSpPr>
        <p:spPr>
          <a:xfrm>
            <a:off x="5537200" y="1930400"/>
            <a:ext cx="134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Soil condition</a:t>
            </a:r>
            <a:endParaRPr lang="en-US" sz="1100" noProof="1"/>
          </a:p>
        </p:txBody>
      </p:sp>
      <p:sp>
        <p:nvSpPr>
          <p:cNvPr id="11" name="g1-i2-icon"/>
          <p:cNvSpPr/>
          <p:nvPr>
            <p:extLst>
              <p:ext uri="{F5677B7D-0D2A-4D9B-9A5C-6D8D7D0E5A5D}">
                <pptd:icon encoding="base64url">eyJpY29uTmFtZSI6ImZhczpkcm9wbGV0In0</pptd:icon>
              </p:ext>
            </p:extLst>
          </p:nvPr>
        </p:nvSpPr>
        <p:spPr>
          <a:xfrm>
            <a:off x="5257800" y="2590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92" y="512"/>
                </a:moveTo>
                <a:cubicBezTo>
                  <a:pt x="86" y="512"/>
                  <a:pt x="0" y="426"/>
                  <a:pt x="0" y="320"/>
                </a:cubicBezTo>
                <a:cubicBezTo>
                  <a:pt x="0" y="229"/>
                  <a:pt x="130" y="46"/>
                  <a:pt x="167" y="-3"/>
                </a:cubicBezTo>
                <a:cubicBezTo>
                  <a:pt x="173" y="-11"/>
                  <a:pt x="182" y="-16"/>
                  <a:pt x="192" y="-16"/>
                </a:cubicBezTo>
                <a:lnTo>
                  <a:pt x="192" y="-16"/>
                </a:lnTo>
                <a:cubicBezTo>
                  <a:pt x="202" y="-16"/>
                  <a:pt x="212" y="-11"/>
                  <a:pt x="217" y="-3"/>
                </a:cubicBezTo>
                <a:cubicBezTo>
                  <a:pt x="254" y="46"/>
                  <a:pt x="384" y="229"/>
                  <a:pt x="384" y="320"/>
                </a:cubicBezTo>
                <a:cubicBezTo>
                  <a:pt x="384" y="426"/>
                  <a:pt x="298" y="512"/>
                  <a:pt x="192" y="512"/>
                </a:cubicBezTo>
                <a:close/>
                <a:moveTo>
                  <a:pt x="112" y="312"/>
                </a:moveTo>
                <a:cubicBezTo>
                  <a:pt x="112" y="299"/>
                  <a:pt x="101" y="288"/>
                  <a:pt x="88" y="288"/>
                </a:cubicBezTo>
                <a:cubicBezTo>
                  <a:pt x="75" y="288"/>
                  <a:pt x="64" y="299"/>
                  <a:pt x="64" y="312"/>
                </a:cubicBezTo>
                <a:cubicBezTo>
                  <a:pt x="64" y="387"/>
                  <a:pt x="125" y="448"/>
                  <a:pt x="200" y="448"/>
                </a:cubicBezTo>
                <a:cubicBezTo>
                  <a:pt x="213" y="448"/>
                  <a:pt x="224" y="437"/>
                  <a:pt x="224" y="424"/>
                </a:cubicBezTo>
                <a:cubicBezTo>
                  <a:pt x="224" y="411"/>
                  <a:pt x="213" y="400"/>
                  <a:pt x="200" y="400"/>
                </a:cubicBezTo>
                <a:cubicBezTo>
                  <a:pt x="151" y="400"/>
                  <a:pt x="112" y="361"/>
                  <a:pt x="112" y="312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2" name="g1-i2-text"/>
          <p:cNvSpPr txBox="1"/>
          <p:nvPr/>
        </p:nvSpPr>
        <p:spPr>
          <a:xfrm>
            <a:off x="5537200" y="2565400"/>
            <a:ext cx="134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Water availability</a:t>
            </a:r>
            <a:endParaRPr lang="en-US" sz="1100" noProof="1"/>
          </a:p>
        </p:txBody>
      </p:sp>
      <p:sp>
        <p:nvSpPr>
          <p:cNvPr id="13" name="g1-i3-icon"/>
          <p:cNvSpPr/>
          <p:nvPr>
            <p:extLst>
              <p:ext uri="{F5677B7D-0D2A-4D9B-9A5C-6D8D7D0E5A5D}">
                <pptd:icon encoding="base64url">eyJpY29uTmFtZSI6ImZhczpyb3RhdGUifQ</pptd:icon>
              </p:ext>
            </p:extLst>
          </p:nvPr>
        </p:nvSpPr>
        <p:spPr>
          <a:xfrm>
            <a:off x="5257800" y="3225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80" y="192"/>
                </a:moveTo>
                <a:lnTo>
                  <a:pt x="488" y="192"/>
                </a:lnTo>
                <a:cubicBezTo>
                  <a:pt x="501" y="192"/>
                  <a:pt x="512" y="181"/>
                  <a:pt x="512" y="168"/>
                </a:cubicBezTo>
                <a:lnTo>
                  <a:pt x="512" y="24"/>
                </a:lnTo>
                <a:cubicBezTo>
                  <a:pt x="512" y="14"/>
                  <a:pt x="506" y="6"/>
                  <a:pt x="497" y="2"/>
                </a:cubicBezTo>
                <a:cubicBezTo>
                  <a:pt x="488" y="-2"/>
                  <a:pt x="478" y="0"/>
                  <a:pt x="471" y="7"/>
                </a:cubicBezTo>
                <a:lnTo>
                  <a:pt x="419" y="59"/>
                </a:lnTo>
                <a:cubicBezTo>
                  <a:pt x="375" y="22"/>
                  <a:pt x="318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ubicBezTo>
                  <a:pt x="79" y="136"/>
                  <a:pt x="159" y="64"/>
                  <a:pt x="256" y="64"/>
                </a:cubicBezTo>
                <a:cubicBezTo>
                  <a:pt x="300" y="64"/>
                  <a:pt x="341" y="79"/>
                  <a:pt x="374" y="104"/>
                </a:cubicBezTo>
                <a:lnTo>
                  <a:pt x="327" y="151"/>
                </a:lnTo>
                <a:cubicBezTo>
                  <a:pt x="320" y="158"/>
                  <a:pt x="318" y="168"/>
                  <a:pt x="322" y="177"/>
                </a:cubicBezTo>
                <a:cubicBezTo>
                  <a:pt x="326" y="186"/>
                  <a:pt x="334" y="192"/>
                  <a:pt x="344" y="192"/>
                </a:cubicBezTo>
                <a:lnTo>
                  <a:pt x="480" y="192"/>
                </a:lnTo>
                <a:close/>
                <a:moveTo>
                  <a:pt x="510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12" y="448"/>
                  <a:pt x="171" y="433"/>
                  <a:pt x="138" y="408"/>
                </a:cubicBezTo>
                <a:lnTo>
                  <a:pt x="185" y="361"/>
                </a:lnTo>
                <a:cubicBezTo>
                  <a:pt x="192" y="354"/>
                  <a:pt x="194" y="344"/>
                  <a:pt x="190" y="335"/>
                </a:cubicBezTo>
                <a:cubicBezTo>
                  <a:pt x="186" y="326"/>
                  <a:pt x="178" y="320"/>
                  <a:pt x="168" y="320"/>
                </a:cubicBezTo>
                <a:lnTo>
                  <a:pt x="24" y="320"/>
                </a:lnTo>
                <a:cubicBezTo>
                  <a:pt x="11" y="320"/>
                  <a:pt x="0" y="331"/>
                  <a:pt x="0" y="344"/>
                </a:cubicBezTo>
                <a:lnTo>
                  <a:pt x="0" y="488"/>
                </a:lnTo>
                <a:cubicBezTo>
                  <a:pt x="0" y="498"/>
                  <a:pt x="6" y="507"/>
                  <a:pt x="15" y="510"/>
                </a:cubicBezTo>
                <a:cubicBezTo>
                  <a:pt x="24" y="514"/>
                  <a:pt x="34" y="512"/>
                  <a:pt x="41" y="505"/>
                </a:cubicBezTo>
                <a:lnTo>
                  <a:pt x="93" y="453"/>
                </a:lnTo>
                <a:cubicBezTo>
                  <a:pt x="137" y="490"/>
                  <a:pt x="194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4" name="g1-i3-text"/>
          <p:cNvSpPr txBox="1"/>
          <p:nvPr/>
        </p:nvSpPr>
        <p:spPr>
          <a:xfrm>
            <a:off x="5537200" y="3200400"/>
            <a:ext cx="134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Previous crop</a:t>
            </a:r>
            <a:endParaRPr lang="en-US" sz="1100" noProof="1"/>
          </a:p>
        </p:txBody>
      </p:sp>
      <p:sp>
        <p:nvSpPr>
          <p:cNvPr id="15" name="g1-i4-icon"/>
          <p:cNvSpPr/>
          <p:nvPr>
            <p:extLst>
              <p:ext uri="{F5677B7D-0D2A-4D9B-9A5C-6D8D7D0E5A5D}">
                <pptd:icon encoding="base64url">eyJpY29uTmFtZSI6ImZhczptYXAifQ</pptd:icon>
              </p:ext>
            </p:extLst>
          </p:nvPr>
        </p:nvSpPr>
        <p:spPr>
          <a:xfrm>
            <a:off x="5257800" y="3860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48"/>
                </a:moveTo>
                <a:cubicBezTo>
                  <a:pt x="512" y="37"/>
                  <a:pt x="506" y="27"/>
                  <a:pt x="497" y="21"/>
                </a:cubicBezTo>
                <a:cubicBezTo>
                  <a:pt x="487" y="15"/>
                  <a:pt x="476" y="14"/>
                  <a:pt x="466" y="19"/>
                </a:cubicBezTo>
                <a:lnTo>
                  <a:pt x="350" y="78"/>
                </a:lnTo>
                <a:lnTo>
                  <a:pt x="170" y="18"/>
                </a:lnTo>
                <a:cubicBezTo>
                  <a:pt x="162" y="15"/>
                  <a:pt x="153" y="16"/>
                  <a:pt x="146" y="19"/>
                </a:cubicBezTo>
                <a:lnTo>
                  <a:pt x="18" y="83"/>
                </a:lnTo>
                <a:cubicBezTo>
                  <a:pt x="7" y="89"/>
                  <a:pt x="0" y="100"/>
                  <a:pt x="0" y="112"/>
                </a:cubicBezTo>
                <a:lnTo>
                  <a:pt x="0" y="464"/>
                </a:lnTo>
                <a:cubicBezTo>
                  <a:pt x="0" y="475"/>
                  <a:pt x="6" y="485"/>
                  <a:pt x="15" y="491"/>
                </a:cubicBezTo>
                <a:cubicBezTo>
                  <a:pt x="25" y="497"/>
                  <a:pt x="36" y="498"/>
                  <a:pt x="46" y="493"/>
                </a:cubicBezTo>
                <a:lnTo>
                  <a:pt x="162" y="434"/>
                </a:lnTo>
                <a:lnTo>
                  <a:pt x="342" y="494"/>
                </a:lnTo>
                <a:cubicBezTo>
                  <a:pt x="350" y="497"/>
                  <a:pt x="359" y="496"/>
                  <a:pt x="366" y="493"/>
                </a:cubicBezTo>
                <a:lnTo>
                  <a:pt x="494" y="429"/>
                </a:lnTo>
                <a:cubicBezTo>
                  <a:pt x="505" y="423"/>
                  <a:pt x="512" y="412"/>
                  <a:pt x="512" y="400"/>
                </a:cubicBezTo>
                <a:lnTo>
                  <a:pt x="512" y="48"/>
                </a:lnTo>
                <a:close/>
                <a:moveTo>
                  <a:pt x="192" y="377"/>
                </a:moveTo>
                <a:lnTo>
                  <a:pt x="192" y="92"/>
                </a:lnTo>
                <a:lnTo>
                  <a:pt x="320" y="135"/>
                </a:lnTo>
                <a:lnTo>
                  <a:pt x="320" y="420"/>
                </a:lnTo>
                <a:lnTo>
                  <a:pt x="192" y="377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6" name="g1-i4-text"/>
          <p:cNvSpPr txBox="1"/>
          <p:nvPr/>
        </p:nvSpPr>
        <p:spPr>
          <a:xfrm>
            <a:off x="5537200" y="3810000"/>
            <a:ext cx="1346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Long-term farm conditions</a:t>
            </a:r>
            <a:endParaRPr lang="en-US" sz="1100" noProof="1"/>
          </a:p>
        </p:txBody>
      </p:sp>
      <p:sp>
        <p:nvSpPr>
          <p:cNvPr id="17" name="g2-panel"/>
          <p:cNvSpPr/>
          <p:nvPr/>
        </p:nvSpPr>
        <p:spPr>
          <a:xfrm>
            <a:off x="7137400" y="1397000"/>
            <a:ext cx="1905000" cy="3810000"/>
          </a:xfrm>
          <a:prstGeom prst="roundRect">
            <a:avLst>
              <a:gd name="adj" fmla="val 8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18" name="g2-header"/>
          <p:cNvSpPr txBox="1"/>
          <p:nvPr/>
        </p:nvSpPr>
        <p:spPr>
          <a:xfrm>
            <a:off x="7315200" y="1574800"/>
            <a:ext cx="1600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50" kern="0">
                <a:solidFill>
                  <a:srgbClr val="3E7A4E"/>
                </a:solidFill>
                <a:latin typeface="MiSans"/>
                <a:ea typeface="MiSans"/>
              </a:rPr>
              <a:t>CLIMATE &amp; CROP</a:t>
            </a:r>
            <a:endParaRPr lang="en-US" sz="900" noProof="1"/>
          </a:p>
        </p:txBody>
      </p:sp>
      <p:sp>
        <p:nvSpPr>
          <p:cNvPr id="19" name="g2-i1-icon"/>
          <p:cNvSpPr/>
          <p:nvPr>
            <p:extLst>
              <p:ext uri="{F5677B7D-0D2A-4D9B-9A5C-6D8D7D0E5A5D}">
                <pptd:icon encoding="base64url">eyJpY29uTmFtZSI6ImZhczpjbG91ZC1zdW4ifQ</pptd:icon>
              </p:ext>
            </p:extLst>
          </p:nvPr>
        </p:nvSpPr>
        <p:spPr>
          <a:xfrm>
            <a:off x="7315200" y="1955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08" y="192"/>
                </a:moveTo>
                <a:cubicBezTo>
                  <a:pt x="251" y="192"/>
                  <a:pt x="289" y="216"/>
                  <a:pt x="308" y="252"/>
                </a:cubicBezTo>
                <a:cubicBezTo>
                  <a:pt x="322" y="235"/>
                  <a:pt x="344" y="224"/>
                  <a:pt x="368" y="224"/>
                </a:cubicBezTo>
                <a:cubicBezTo>
                  <a:pt x="413" y="224"/>
                  <a:pt x="448" y="260"/>
                  <a:pt x="448" y="304"/>
                </a:cubicBezTo>
                <a:cubicBezTo>
                  <a:pt x="448" y="310"/>
                  <a:pt x="448" y="315"/>
                  <a:pt x="447" y="320"/>
                </a:cubicBezTo>
                <a:cubicBezTo>
                  <a:pt x="447" y="320"/>
                  <a:pt x="448" y="320"/>
                  <a:pt x="448" y="320"/>
                </a:cubicBezTo>
                <a:cubicBezTo>
                  <a:pt x="501" y="320"/>
                  <a:pt x="544" y="363"/>
                  <a:pt x="544" y="416"/>
                </a:cubicBezTo>
                <a:cubicBezTo>
                  <a:pt x="544" y="469"/>
                  <a:pt x="501" y="512"/>
                  <a:pt x="448" y="512"/>
                </a:cubicBezTo>
                <a:lnTo>
                  <a:pt x="128" y="512"/>
                </a:lnTo>
                <a:cubicBezTo>
                  <a:pt x="75" y="512"/>
                  <a:pt x="32" y="469"/>
                  <a:pt x="32" y="416"/>
                </a:cubicBezTo>
                <a:cubicBezTo>
                  <a:pt x="32" y="374"/>
                  <a:pt x="60" y="338"/>
                  <a:pt x="98" y="325"/>
                </a:cubicBezTo>
                <a:cubicBezTo>
                  <a:pt x="97" y="318"/>
                  <a:pt x="96" y="311"/>
                  <a:pt x="96" y="304"/>
                </a:cubicBezTo>
                <a:cubicBezTo>
                  <a:pt x="96" y="242"/>
                  <a:pt x="146" y="192"/>
                  <a:pt x="208" y="192"/>
                </a:cubicBezTo>
                <a:close/>
              </a:path>
              <a:path w="640" h="512">
                <a:moveTo>
                  <a:pt x="400" y="-32"/>
                </a:moveTo>
                <a:cubicBezTo>
                  <a:pt x="406" y="-32"/>
                  <a:pt x="411" y="-29"/>
                  <a:pt x="414" y="-25"/>
                </a:cubicBezTo>
                <a:lnTo>
                  <a:pt x="461" y="46"/>
                </a:lnTo>
                <a:lnTo>
                  <a:pt x="544" y="29"/>
                </a:lnTo>
                <a:cubicBezTo>
                  <a:pt x="549" y="28"/>
                  <a:pt x="555" y="30"/>
                  <a:pt x="559" y="34"/>
                </a:cubicBezTo>
                <a:cubicBezTo>
                  <a:pt x="562" y="38"/>
                  <a:pt x="564" y="43"/>
                  <a:pt x="563" y="48"/>
                </a:cubicBezTo>
                <a:lnTo>
                  <a:pt x="547" y="132"/>
                </a:lnTo>
                <a:lnTo>
                  <a:pt x="617" y="179"/>
                </a:lnTo>
                <a:cubicBezTo>
                  <a:pt x="621" y="182"/>
                  <a:pt x="624" y="187"/>
                  <a:pt x="624" y="192"/>
                </a:cubicBezTo>
                <a:cubicBezTo>
                  <a:pt x="624" y="197"/>
                  <a:pt x="622" y="202"/>
                  <a:pt x="617" y="205"/>
                </a:cubicBezTo>
                <a:lnTo>
                  <a:pt x="547" y="253"/>
                </a:lnTo>
                <a:lnTo>
                  <a:pt x="561" y="327"/>
                </a:lnTo>
                <a:cubicBezTo>
                  <a:pt x="544" y="305"/>
                  <a:pt x="521" y="288"/>
                  <a:pt x="494" y="280"/>
                </a:cubicBezTo>
                <a:cubicBezTo>
                  <a:pt x="492" y="267"/>
                  <a:pt x="487" y="255"/>
                  <a:pt x="481" y="244"/>
                </a:cubicBezTo>
                <a:cubicBezTo>
                  <a:pt x="491" y="229"/>
                  <a:pt x="496" y="211"/>
                  <a:pt x="496" y="192"/>
                </a:cubicBezTo>
                <a:cubicBezTo>
                  <a:pt x="496" y="139"/>
                  <a:pt x="453" y="96"/>
                  <a:pt x="400" y="96"/>
                </a:cubicBezTo>
                <a:cubicBezTo>
                  <a:pt x="353" y="96"/>
                  <a:pt x="313" y="131"/>
                  <a:pt x="306" y="177"/>
                </a:cubicBezTo>
                <a:cubicBezTo>
                  <a:pt x="285" y="161"/>
                  <a:pt x="260" y="150"/>
                  <a:pt x="233" y="146"/>
                </a:cubicBezTo>
                <a:lnTo>
                  <a:pt x="254" y="131"/>
                </a:lnTo>
                <a:lnTo>
                  <a:pt x="238" y="48"/>
                </a:lnTo>
                <a:lnTo>
                  <a:pt x="237" y="46"/>
                </a:lnTo>
                <a:cubicBezTo>
                  <a:pt x="237" y="42"/>
                  <a:pt x="239" y="37"/>
                  <a:pt x="242" y="34"/>
                </a:cubicBezTo>
                <a:cubicBezTo>
                  <a:pt x="246" y="30"/>
                  <a:pt x="251" y="28"/>
                  <a:pt x="256" y="29"/>
                </a:cubicBezTo>
                <a:lnTo>
                  <a:pt x="340" y="46"/>
                </a:lnTo>
                <a:lnTo>
                  <a:pt x="387" y="-25"/>
                </a:lnTo>
                <a:lnTo>
                  <a:pt x="388" y="-26"/>
                </a:lnTo>
                <a:cubicBezTo>
                  <a:pt x="391" y="-30"/>
                  <a:pt x="396" y="-32"/>
                  <a:pt x="400" y="-32"/>
                </a:cubicBezTo>
                <a:close/>
              </a:path>
              <a:path w="640" h="512">
                <a:moveTo>
                  <a:pt x="400" y="144"/>
                </a:moveTo>
                <a:cubicBezTo>
                  <a:pt x="427" y="144"/>
                  <a:pt x="448" y="166"/>
                  <a:pt x="448" y="192"/>
                </a:cubicBezTo>
                <a:cubicBezTo>
                  <a:pt x="448" y="196"/>
                  <a:pt x="448" y="200"/>
                  <a:pt x="447" y="203"/>
                </a:cubicBezTo>
                <a:cubicBezTo>
                  <a:pt x="425" y="186"/>
                  <a:pt x="398" y="176"/>
                  <a:pt x="368" y="176"/>
                </a:cubicBezTo>
                <a:cubicBezTo>
                  <a:pt x="364" y="176"/>
                  <a:pt x="359" y="176"/>
                  <a:pt x="355" y="177"/>
                </a:cubicBezTo>
                <a:cubicBezTo>
                  <a:pt x="361" y="158"/>
                  <a:pt x="379" y="144"/>
                  <a:pt x="400" y="144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0" name="g2-i1-text"/>
          <p:cNvSpPr txBox="1"/>
          <p:nvPr/>
        </p:nvSpPr>
        <p:spPr>
          <a:xfrm>
            <a:off x="7594600" y="1930400"/>
            <a:ext cx="134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Weather</a:t>
            </a:r>
            <a:endParaRPr lang="en-US" sz="1100" noProof="1"/>
          </a:p>
        </p:txBody>
      </p:sp>
      <p:sp>
        <p:nvSpPr>
          <p:cNvPr id="21" name="g2-i2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7315200" y="2590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2" name="g2-i2-text"/>
          <p:cNvSpPr txBox="1"/>
          <p:nvPr/>
        </p:nvSpPr>
        <p:spPr>
          <a:xfrm>
            <a:off x="7594600" y="2565400"/>
            <a:ext cx="134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Expected yield</a:t>
            </a:r>
            <a:endParaRPr lang="en-US" sz="1100" noProof="1"/>
          </a:p>
        </p:txBody>
      </p:sp>
      <p:sp>
        <p:nvSpPr>
          <p:cNvPr id="23" name="g2-i3-icon"/>
          <p:cNvSpPr/>
          <p:nvPr>
            <p:extLst>
              <p:ext uri="{F5677B7D-0D2A-4D9B-9A5C-6D8D7D0E5A5D}">
                <pptd:icon encoding="base64url">eyJpY29uTmFtZSI6ImZhczpidWcifQ</pptd:icon>
              </p:ext>
            </p:extLst>
          </p:nvPr>
        </p:nvSpPr>
        <p:spPr>
          <a:xfrm>
            <a:off x="7315200" y="3225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192" y="96"/>
                </a:moveTo>
                <a:cubicBezTo>
                  <a:pt x="192" y="43"/>
                  <a:pt x="235" y="0"/>
                  <a:pt x="288" y="0"/>
                </a:cubicBezTo>
                <a:cubicBezTo>
                  <a:pt x="341" y="0"/>
                  <a:pt x="384" y="43"/>
                  <a:pt x="384" y="96"/>
                </a:cubicBezTo>
                <a:lnTo>
                  <a:pt x="384" y="100"/>
                </a:lnTo>
                <a:cubicBezTo>
                  <a:pt x="384" y="115"/>
                  <a:pt x="371" y="128"/>
                  <a:pt x="356" y="128"/>
                </a:cubicBezTo>
                <a:lnTo>
                  <a:pt x="221" y="128"/>
                </a:lnTo>
                <a:cubicBezTo>
                  <a:pt x="205" y="128"/>
                  <a:pt x="192" y="115"/>
                  <a:pt x="192" y="100"/>
                </a:cubicBezTo>
                <a:lnTo>
                  <a:pt x="192" y="96"/>
                </a:lnTo>
                <a:close/>
                <a:moveTo>
                  <a:pt x="538" y="109"/>
                </a:moveTo>
                <a:cubicBezTo>
                  <a:pt x="548" y="123"/>
                  <a:pt x="545" y="143"/>
                  <a:pt x="531" y="154"/>
                </a:cubicBezTo>
                <a:lnTo>
                  <a:pt x="433" y="227"/>
                </a:lnTo>
                <a:cubicBezTo>
                  <a:pt x="439" y="236"/>
                  <a:pt x="443" y="246"/>
                  <a:pt x="445" y="256"/>
                </a:cubicBezTo>
                <a:lnTo>
                  <a:pt x="544" y="256"/>
                </a:lnTo>
                <a:cubicBezTo>
                  <a:pt x="562" y="256"/>
                  <a:pt x="576" y="270"/>
                  <a:pt x="576" y="288"/>
                </a:cubicBezTo>
                <a:cubicBezTo>
                  <a:pt x="576" y="306"/>
                  <a:pt x="562" y="320"/>
                  <a:pt x="544" y="320"/>
                </a:cubicBezTo>
                <a:lnTo>
                  <a:pt x="448" y="320"/>
                </a:lnTo>
                <a:lnTo>
                  <a:pt x="448" y="352"/>
                </a:lnTo>
                <a:cubicBezTo>
                  <a:pt x="448" y="355"/>
                  <a:pt x="448" y="357"/>
                  <a:pt x="448" y="360"/>
                </a:cubicBezTo>
                <a:lnTo>
                  <a:pt x="531" y="422"/>
                </a:lnTo>
                <a:cubicBezTo>
                  <a:pt x="545" y="433"/>
                  <a:pt x="548" y="453"/>
                  <a:pt x="538" y="467"/>
                </a:cubicBezTo>
                <a:cubicBezTo>
                  <a:pt x="527" y="481"/>
                  <a:pt x="507" y="484"/>
                  <a:pt x="493" y="474"/>
                </a:cubicBezTo>
                <a:lnTo>
                  <a:pt x="430" y="426"/>
                </a:lnTo>
                <a:cubicBezTo>
                  <a:pt x="407" y="470"/>
                  <a:pt x="363" y="502"/>
                  <a:pt x="312" y="510"/>
                </a:cubicBezTo>
                <a:lnTo>
                  <a:pt x="312" y="280"/>
                </a:lnTo>
                <a:cubicBezTo>
                  <a:pt x="312" y="267"/>
                  <a:pt x="301" y="256"/>
                  <a:pt x="288" y="256"/>
                </a:cubicBezTo>
                <a:cubicBezTo>
                  <a:pt x="275" y="256"/>
                  <a:pt x="264" y="267"/>
                  <a:pt x="264" y="280"/>
                </a:cubicBezTo>
                <a:lnTo>
                  <a:pt x="264" y="510"/>
                </a:lnTo>
                <a:cubicBezTo>
                  <a:pt x="213" y="503"/>
                  <a:pt x="170" y="471"/>
                  <a:pt x="146" y="426"/>
                </a:cubicBezTo>
                <a:lnTo>
                  <a:pt x="83" y="474"/>
                </a:lnTo>
                <a:cubicBezTo>
                  <a:pt x="69" y="484"/>
                  <a:pt x="49" y="481"/>
                  <a:pt x="38" y="467"/>
                </a:cubicBezTo>
                <a:cubicBezTo>
                  <a:pt x="28" y="453"/>
                  <a:pt x="31" y="433"/>
                  <a:pt x="45" y="422"/>
                </a:cubicBezTo>
                <a:lnTo>
                  <a:pt x="128" y="360"/>
                </a:lnTo>
                <a:cubicBezTo>
                  <a:pt x="128" y="357"/>
                  <a:pt x="128" y="355"/>
                  <a:pt x="128" y="352"/>
                </a:cubicBezTo>
                <a:lnTo>
                  <a:pt x="128" y="320"/>
                </a:lnTo>
                <a:lnTo>
                  <a:pt x="32" y="320"/>
                </a:lnTo>
                <a:cubicBezTo>
                  <a:pt x="14" y="320"/>
                  <a:pt x="0" y="306"/>
                  <a:pt x="0" y="288"/>
                </a:cubicBezTo>
                <a:cubicBezTo>
                  <a:pt x="0" y="270"/>
                  <a:pt x="14" y="256"/>
                  <a:pt x="32" y="256"/>
                </a:cubicBezTo>
                <a:lnTo>
                  <a:pt x="131" y="256"/>
                </a:lnTo>
                <a:cubicBezTo>
                  <a:pt x="133" y="246"/>
                  <a:pt x="137" y="236"/>
                  <a:pt x="143" y="227"/>
                </a:cubicBezTo>
                <a:lnTo>
                  <a:pt x="45" y="154"/>
                </a:lnTo>
                <a:cubicBezTo>
                  <a:pt x="31" y="143"/>
                  <a:pt x="28" y="123"/>
                  <a:pt x="38" y="109"/>
                </a:cubicBezTo>
                <a:cubicBezTo>
                  <a:pt x="49" y="95"/>
                  <a:pt x="69" y="92"/>
                  <a:pt x="83" y="102"/>
                </a:cubicBezTo>
                <a:lnTo>
                  <a:pt x="192" y="184"/>
                </a:lnTo>
                <a:cubicBezTo>
                  <a:pt x="204" y="179"/>
                  <a:pt x="218" y="176"/>
                  <a:pt x="232" y="176"/>
                </a:cubicBezTo>
                <a:lnTo>
                  <a:pt x="344" y="176"/>
                </a:lnTo>
                <a:cubicBezTo>
                  <a:pt x="358" y="176"/>
                  <a:pt x="372" y="179"/>
                  <a:pt x="384" y="184"/>
                </a:cubicBezTo>
                <a:lnTo>
                  <a:pt x="493" y="102"/>
                </a:lnTo>
                <a:cubicBezTo>
                  <a:pt x="507" y="92"/>
                  <a:pt x="527" y="95"/>
                  <a:pt x="538" y="109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4" name="g2-i3-text"/>
          <p:cNvSpPr txBox="1"/>
          <p:nvPr/>
        </p:nvSpPr>
        <p:spPr>
          <a:xfrm>
            <a:off x="7594600" y="3200400"/>
            <a:ext cx="134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Disease &amp; pest risk</a:t>
            </a:r>
            <a:endParaRPr lang="en-US" sz="1100" noProof="1"/>
          </a:p>
        </p:txBody>
      </p:sp>
      <p:sp>
        <p:nvSpPr>
          <p:cNvPr id="25" name="g2-i4-icon"/>
          <p:cNvSpPr/>
          <p:nvPr>
            <p:extLst>
              <p:ext uri="{F5677B7D-0D2A-4D9B-9A5C-6D8D7D0E5A5D}">
                <pptd:icon encoding="base64url">eyJpY29uTmFtZSI6ImZhczpjYWxlbmRhci1kYXlzIn0</pptd:icon>
              </p:ext>
            </p:extLst>
          </p:nvPr>
        </p:nvSpPr>
        <p:spPr>
          <a:xfrm>
            <a:off x="7315200" y="3860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0"/>
                </a:moveTo>
                <a:cubicBezTo>
                  <a:pt x="146" y="0"/>
                  <a:pt x="160" y="14"/>
                  <a:pt x="160" y="32"/>
                </a:cubicBezTo>
                <a:lnTo>
                  <a:pt x="160" y="64"/>
                </a:lnTo>
                <a:lnTo>
                  <a:pt x="288" y="64"/>
                </a:lnTo>
                <a:lnTo>
                  <a:pt x="288" y="32"/>
                </a:lnTo>
                <a:cubicBezTo>
                  <a:pt x="288" y="14"/>
                  <a:pt x="302" y="0"/>
                  <a:pt x="320" y="0"/>
                </a:cubicBezTo>
                <a:cubicBezTo>
                  <a:pt x="338" y="0"/>
                  <a:pt x="352" y="14"/>
                  <a:pt x="352" y="32"/>
                </a:cubicBezTo>
                <a:lnTo>
                  <a:pt x="352" y="64"/>
                </a:lnTo>
                <a:lnTo>
                  <a:pt x="384" y="64"/>
                </a:lnTo>
                <a:cubicBezTo>
                  <a:pt x="419" y="64"/>
                  <a:pt x="448" y="93"/>
                  <a:pt x="448" y="128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96" y="64"/>
                </a:lnTo>
                <a:lnTo>
                  <a:pt x="96" y="32"/>
                </a:lnTo>
                <a:cubicBezTo>
                  <a:pt x="96" y="14"/>
                  <a:pt x="110" y="0"/>
                  <a:pt x="128" y="0"/>
                </a:cubicBezTo>
                <a:close/>
                <a:moveTo>
                  <a:pt x="64" y="240"/>
                </a:moveTo>
                <a:lnTo>
                  <a:pt x="64" y="272"/>
                </a:lnTo>
                <a:cubicBezTo>
                  <a:pt x="64" y="281"/>
                  <a:pt x="71" y="288"/>
                  <a:pt x="80" y="288"/>
                </a:cubicBezTo>
                <a:lnTo>
                  <a:pt x="112" y="288"/>
                </a:lnTo>
                <a:cubicBezTo>
                  <a:pt x="121" y="288"/>
                  <a:pt x="128" y="281"/>
                  <a:pt x="128" y="272"/>
                </a:cubicBezTo>
                <a:lnTo>
                  <a:pt x="128" y="240"/>
                </a:lnTo>
                <a:cubicBezTo>
                  <a:pt x="128" y="231"/>
                  <a:pt x="121" y="224"/>
                  <a:pt x="112" y="224"/>
                </a:cubicBezTo>
                <a:lnTo>
                  <a:pt x="80" y="224"/>
                </a:lnTo>
                <a:cubicBezTo>
                  <a:pt x="71" y="224"/>
                  <a:pt x="64" y="231"/>
                  <a:pt x="64" y="240"/>
                </a:cubicBezTo>
                <a:close/>
                <a:moveTo>
                  <a:pt x="192" y="240"/>
                </a:moveTo>
                <a:lnTo>
                  <a:pt x="192" y="272"/>
                </a:lnTo>
                <a:cubicBezTo>
                  <a:pt x="192" y="281"/>
                  <a:pt x="199" y="288"/>
                  <a:pt x="208" y="288"/>
                </a:cubicBezTo>
                <a:lnTo>
                  <a:pt x="240" y="288"/>
                </a:lnTo>
                <a:cubicBezTo>
                  <a:pt x="249" y="288"/>
                  <a:pt x="256" y="281"/>
                  <a:pt x="256" y="272"/>
                </a:cubicBezTo>
                <a:lnTo>
                  <a:pt x="256" y="240"/>
                </a:lnTo>
                <a:cubicBezTo>
                  <a:pt x="256" y="231"/>
                  <a:pt x="249" y="224"/>
                  <a:pt x="240" y="224"/>
                </a:cubicBezTo>
                <a:lnTo>
                  <a:pt x="208" y="224"/>
                </a:lnTo>
                <a:cubicBezTo>
                  <a:pt x="199" y="224"/>
                  <a:pt x="192" y="231"/>
                  <a:pt x="192" y="240"/>
                </a:cubicBezTo>
                <a:close/>
                <a:moveTo>
                  <a:pt x="336" y="224"/>
                </a:moveTo>
                <a:cubicBezTo>
                  <a:pt x="327" y="224"/>
                  <a:pt x="320" y="231"/>
                  <a:pt x="320" y="240"/>
                </a:cubicBezTo>
                <a:lnTo>
                  <a:pt x="320" y="272"/>
                </a:lnTo>
                <a:cubicBezTo>
                  <a:pt x="320" y="281"/>
                  <a:pt x="327" y="288"/>
                  <a:pt x="336" y="288"/>
                </a:cubicBezTo>
                <a:lnTo>
                  <a:pt x="368" y="288"/>
                </a:lnTo>
                <a:cubicBezTo>
                  <a:pt x="377" y="288"/>
                  <a:pt x="384" y="281"/>
                  <a:pt x="384" y="272"/>
                </a:cubicBezTo>
                <a:lnTo>
                  <a:pt x="384" y="240"/>
                </a:lnTo>
                <a:cubicBezTo>
                  <a:pt x="384" y="231"/>
                  <a:pt x="377" y="224"/>
                  <a:pt x="368" y="224"/>
                </a:cubicBezTo>
                <a:lnTo>
                  <a:pt x="336" y="224"/>
                </a:lnTo>
                <a:close/>
                <a:moveTo>
                  <a:pt x="64" y="368"/>
                </a:moveTo>
                <a:lnTo>
                  <a:pt x="64" y="400"/>
                </a:lnTo>
                <a:cubicBezTo>
                  <a:pt x="64" y="409"/>
                  <a:pt x="71" y="416"/>
                  <a:pt x="80" y="416"/>
                </a:cubicBezTo>
                <a:lnTo>
                  <a:pt x="112" y="416"/>
                </a:lnTo>
                <a:cubicBezTo>
                  <a:pt x="121" y="416"/>
                  <a:pt x="128" y="409"/>
                  <a:pt x="128" y="400"/>
                </a:cubicBezTo>
                <a:lnTo>
                  <a:pt x="128" y="368"/>
                </a:lnTo>
                <a:cubicBezTo>
                  <a:pt x="128" y="359"/>
                  <a:pt x="121" y="352"/>
                  <a:pt x="112" y="352"/>
                </a:cubicBezTo>
                <a:lnTo>
                  <a:pt x="80" y="352"/>
                </a:lnTo>
                <a:cubicBezTo>
                  <a:pt x="71" y="352"/>
                  <a:pt x="64" y="359"/>
                  <a:pt x="64" y="368"/>
                </a:cubicBezTo>
                <a:close/>
                <a:moveTo>
                  <a:pt x="208" y="352"/>
                </a:moveTo>
                <a:cubicBezTo>
                  <a:pt x="199" y="352"/>
                  <a:pt x="192" y="359"/>
                  <a:pt x="192" y="368"/>
                </a:cubicBezTo>
                <a:lnTo>
                  <a:pt x="192" y="400"/>
                </a:lnTo>
                <a:cubicBezTo>
                  <a:pt x="192" y="409"/>
                  <a:pt x="199" y="416"/>
                  <a:pt x="208" y="416"/>
                </a:cubicBezTo>
                <a:lnTo>
                  <a:pt x="240" y="416"/>
                </a:lnTo>
                <a:cubicBezTo>
                  <a:pt x="249" y="416"/>
                  <a:pt x="256" y="409"/>
                  <a:pt x="256" y="400"/>
                </a:cubicBezTo>
                <a:lnTo>
                  <a:pt x="256" y="368"/>
                </a:lnTo>
                <a:cubicBezTo>
                  <a:pt x="256" y="359"/>
                  <a:pt x="249" y="352"/>
                  <a:pt x="240" y="352"/>
                </a:cubicBezTo>
                <a:lnTo>
                  <a:pt x="208" y="352"/>
                </a:lnTo>
                <a:close/>
                <a:moveTo>
                  <a:pt x="320" y="368"/>
                </a:moveTo>
                <a:lnTo>
                  <a:pt x="320" y="400"/>
                </a:lnTo>
                <a:cubicBezTo>
                  <a:pt x="320" y="409"/>
                  <a:pt x="327" y="416"/>
                  <a:pt x="336" y="416"/>
                </a:cubicBezTo>
                <a:lnTo>
                  <a:pt x="368" y="416"/>
                </a:lnTo>
                <a:cubicBezTo>
                  <a:pt x="377" y="416"/>
                  <a:pt x="384" y="409"/>
                  <a:pt x="384" y="400"/>
                </a:cubicBezTo>
                <a:lnTo>
                  <a:pt x="384" y="368"/>
                </a:lnTo>
                <a:cubicBezTo>
                  <a:pt x="384" y="359"/>
                  <a:pt x="377" y="352"/>
                  <a:pt x="368" y="352"/>
                </a:cubicBezTo>
                <a:lnTo>
                  <a:pt x="336" y="352"/>
                </a:lnTo>
                <a:cubicBezTo>
                  <a:pt x="327" y="352"/>
                  <a:pt x="320" y="359"/>
                  <a:pt x="320" y="368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6" name="g2-i4-text"/>
          <p:cNvSpPr txBox="1"/>
          <p:nvPr/>
        </p:nvSpPr>
        <p:spPr>
          <a:xfrm>
            <a:off x="7594600" y="3835400"/>
            <a:ext cx="134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Crop duration</a:t>
            </a:r>
            <a:endParaRPr lang="en-US" sz="1100" noProof="1"/>
          </a:p>
        </p:txBody>
      </p:sp>
      <p:sp>
        <p:nvSpPr>
          <p:cNvPr id="27" name="g3-panel"/>
          <p:cNvSpPr/>
          <p:nvPr/>
        </p:nvSpPr>
        <p:spPr>
          <a:xfrm>
            <a:off x="9194800" y="1397000"/>
            <a:ext cx="1905000" cy="3810000"/>
          </a:xfrm>
          <a:prstGeom prst="roundRect">
            <a:avLst>
              <a:gd name="adj" fmla="val 8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28" name="g3-header"/>
          <p:cNvSpPr txBox="1"/>
          <p:nvPr/>
        </p:nvSpPr>
        <p:spPr>
          <a:xfrm>
            <a:off x="9372600" y="1574800"/>
            <a:ext cx="1600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50" kern="0">
                <a:solidFill>
                  <a:srgbClr val="3E7A4E"/>
                </a:solidFill>
                <a:latin typeface="MiSans"/>
                <a:ea typeface="MiSans"/>
              </a:rPr>
              <a:t>MARKET &amp; COST</a:t>
            </a:r>
            <a:endParaRPr lang="en-US" sz="900" noProof="1"/>
          </a:p>
        </p:txBody>
      </p:sp>
      <p:sp>
        <p:nvSpPr>
          <p:cNvPr id="29" name="g3-i1-icon"/>
          <p:cNvSpPr/>
          <p:nvPr>
            <p:extLst>
              <p:ext uri="{F5677B7D-0D2A-4D9B-9A5C-6D8D7D0E5A5D}">
                <pptd:icon encoding="base64url">eyJpY29uTmFtZSI6ImZhczppbmRpYW4tcnVwZWUtc2lnbiJ9</pptd:icon>
              </p:ext>
            </p:extLst>
          </p:nvPr>
        </p:nvSpPr>
        <p:spPr>
          <a:xfrm>
            <a:off x="9372600" y="2082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320" h="512">
                <a:moveTo>
                  <a:pt x="0" y="64"/>
                </a:moveTo>
                <a:cubicBezTo>
                  <a:pt x="0" y="46"/>
                  <a:pt x="14" y="32"/>
                  <a:pt x="32" y="32"/>
                </a:cubicBezTo>
                <a:lnTo>
                  <a:pt x="296" y="32"/>
                </a:lnTo>
                <a:cubicBezTo>
                  <a:pt x="309" y="32"/>
                  <a:pt x="320" y="43"/>
                  <a:pt x="320" y="56"/>
                </a:cubicBezTo>
                <a:cubicBezTo>
                  <a:pt x="320" y="69"/>
                  <a:pt x="309" y="80"/>
                  <a:pt x="296" y="80"/>
                </a:cubicBezTo>
                <a:lnTo>
                  <a:pt x="219" y="80"/>
                </a:lnTo>
                <a:cubicBezTo>
                  <a:pt x="237" y="100"/>
                  <a:pt x="249" y="125"/>
                  <a:pt x="254" y="152"/>
                </a:cubicBezTo>
                <a:lnTo>
                  <a:pt x="296" y="152"/>
                </a:lnTo>
                <a:cubicBezTo>
                  <a:pt x="309" y="152"/>
                  <a:pt x="320" y="163"/>
                  <a:pt x="320" y="176"/>
                </a:cubicBezTo>
                <a:cubicBezTo>
                  <a:pt x="320" y="189"/>
                  <a:pt x="309" y="200"/>
                  <a:pt x="296" y="200"/>
                </a:cubicBezTo>
                <a:lnTo>
                  <a:pt x="254" y="200"/>
                </a:lnTo>
                <a:cubicBezTo>
                  <a:pt x="244" y="262"/>
                  <a:pt x="193" y="311"/>
                  <a:pt x="130" y="319"/>
                </a:cubicBezTo>
                <a:lnTo>
                  <a:pt x="275" y="422"/>
                </a:lnTo>
                <a:cubicBezTo>
                  <a:pt x="289" y="432"/>
                  <a:pt x="292" y="452"/>
                  <a:pt x="282" y="467"/>
                </a:cubicBezTo>
                <a:cubicBezTo>
                  <a:pt x="272" y="481"/>
                  <a:pt x="252" y="484"/>
                  <a:pt x="237" y="474"/>
                </a:cubicBezTo>
                <a:lnTo>
                  <a:pt x="13" y="314"/>
                </a:lnTo>
                <a:cubicBezTo>
                  <a:pt x="2" y="306"/>
                  <a:pt x="-3" y="292"/>
                  <a:pt x="2" y="278"/>
                </a:cubicBezTo>
                <a:cubicBezTo>
                  <a:pt x="6" y="265"/>
                  <a:pt x="18" y="256"/>
                  <a:pt x="32" y="256"/>
                </a:cubicBezTo>
                <a:lnTo>
                  <a:pt x="112" y="256"/>
                </a:lnTo>
                <a:cubicBezTo>
                  <a:pt x="148" y="256"/>
                  <a:pt x="178" y="233"/>
                  <a:pt x="188" y="200"/>
                </a:cubicBezTo>
                <a:lnTo>
                  <a:pt x="24" y="200"/>
                </a:lnTo>
                <a:cubicBezTo>
                  <a:pt x="11" y="200"/>
                  <a:pt x="0" y="189"/>
                  <a:pt x="0" y="176"/>
                </a:cubicBezTo>
                <a:cubicBezTo>
                  <a:pt x="0" y="163"/>
                  <a:pt x="11" y="152"/>
                  <a:pt x="24" y="152"/>
                </a:cubicBezTo>
                <a:lnTo>
                  <a:pt x="188" y="152"/>
                </a:lnTo>
                <a:cubicBezTo>
                  <a:pt x="178" y="120"/>
                  <a:pt x="148" y="96"/>
                  <a:pt x="112" y="96"/>
                </a:cubicBezTo>
                <a:lnTo>
                  <a:pt x="32" y="96"/>
                </a:lnTo>
                <a:cubicBezTo>
                  <a:pt x="14" y="96"/>
                  <a:pt x="0" y="82"/>
                  <a:pt x="0" y="64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30" name="g3-i1-text"/>
          <p:cNvSpPr txBox="1"/>
          <p:nvPr/>
        </p:nvSpPr>
        <p:spPr>
          <a:xfrm>
            <a:off x="9652000" y="2057400"/>
            <a:ext cx="134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Market price</a:t>
            </a:r>
            <a:endParaRPr lang="en-US" sz="1100" noProof="1"/>
          </a:p>
        </p:txBody>
      </p:sp>
      <p:sp>
        <p:nvSpPr>
          <p:cNvPr id="31" name="g3-i2-icon"/>
          <p:cNvSpPr/>
          <p:nvPr>
            <p:extLst>
              <p:ext uri="{F5677B7D-0D2A-4D9B-9A5C-6D8D7D0E5A5D}">
                <pptd:icon encoding="base64url">eyJpY29uTmFtZSI6ImZhczpjaGFydC1saW5lIn0</pptd:icon>
              </p:ext>
            </p:extLst>
          </p:nvPr>
        </p:nvSpPr>
        <p:spPr>
          <a:xfrm>
            <a:off x="9372600" y="2844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32" name="g3-i2-text"/>
          <p:cNvSpPr txBox="1"/>
          <p:nvPr/>
        </p:nvSpPr>
        <p:spPr>
          <a:xfrm>
            <a:off x="9652000" y="2819400"/>
            <a:ext cx="134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Price volatility</a:t>
            </a:r>
            <a:endParaRPr lang="en-US" sz="1100" noProof="1"/>
          </a:p>
        </p:txBody>
      </p:sp>
      <p:sp>
        <p:nvSpPr>
          <p:cNvPr id="33" name="g3-i3-icon"/>
          <p:cNvSpPr/>
          <p:nvPr>
            <p:extLst>
              <p:ext uri="{F5677B7D-0D2A-4D9B-9A5C-6D8D7D0E5A5D}">
                <pptd:icon encoding="base64url">eyJpY29uTmFtZSI6ImZhczp3YWxsZXQifQ</pptd:icon>
              </p:ext>
            </p:extLst>
          </p:nvPr>
        </p:nvSpPr>
        <p:spPr>
          <a:xfrm>
            <a:off x="9372600" y="3606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34" name="g3-i3-text"/>
          <p:cNvSpPr txBox="1"/>
          <p:nvPr/>
        </p:nvSpPr>
        <p:spPr>
          <a:xfrm>
            <a:off x="9652000" y="3581400"/>
            <a:ext cx="134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Cultivation cost</a:t>
            </a:r>
            <a:endParaRPr lang="en-US" sz="1100" noProof="1"/>
          </a:p>
        </p:txBody>
      </p:sp>
      <p:sp>
        <p:nvSpPr>
          <p:cNvPr id="35" name="arr1"/>
          <p:cNvSpPr/>
          <p:nvPr>
            <p:extLst>
              <p:ext uri="{F5677B7D-0D2A-4D9B-9A5C-6D8D7D0E5A5D}">
                <pptd:line encoding="base64url">eyJ2aWV3Qm94IjpbMTAsNDRdLCJwb2ludHMiOiI1LDAgNSw0NCJ9</pptd:line>
              </p:ext>
            </p:extLst>
          </p:nvPr>
        </p:nvSpPr>
        <p:spPr>
          <a:xfrm>
            <a:off x="5969000" y="5207000"/>
            <a:ext cx="127000" cy="558800"/>
          </a:xfrm>
          <a:custGeom>
            <a:avLst/>
            <a:gdLst/>
            <a:ahLst/>
            <a:cxnLst/>
            <a:rect l="l" t="t" r="r" b="b"/>
            <a:pathLst>
              <a:path w="10" h="44">
                <a:moveTo>
                  <a:pt x="5" y="0"/>
                </a:moveTo>
                <a:lnTo>
                  <a:pt x="5" y="44"/>
                </a:lnTo>
              </a:path>
            </a:pathLst>
          </a:custGeom>
          <a:noFill/>
          <a:ln w="19050" cap="rnd">
            <a:solidFill>
              <a:srgbClr val="3E7A4E"/>
            </a:solidFill>
            <a:round/>
            <a:tailEnd type="arrow"/>
          </a:ln>
        </p:spPr>
      </p:sp>
      <p:sp>
        <p:nvSpPr>
          <p:cNvPr id="36" name="arr2"/>
          <p:cNvSpPr/>
          <p:nvPr>
            <p:extLst>
              <p:ext uri="{F5677B7D-0D2A-4D9B-9A5C-6D8D7D0E5A5D}">
                <pptd:line encoding="base64url">eyJ2aWV3Qm94IjpbMTAsNDRdLCJwb2ludHMiOiI1LDAgNSw0NCJ9</pptd:line>
              </p:ext>
            </p:extLst>
          </p:nvPr>
        </p:nvSpPr>
        <p:spPr>
          <a:xfrm>
            <a:off x="8026400" y="5207000"/>
            <a:ext cx="127000" cy="558800"/>
          </a:xfrm>
          <a:custGeom>
            <a:avLst/>
            <a:gdLst/>
            <a:ahLst/>
            <a:cxnLst/>
            <a:rect l="l" t="t" r="r" b="b"/>
            <a:pathLst>
              <a:path w="10" h="44">
                <a:moveTo>
                  <a:pt x="5" y="0"/>
                </a:moveTo>
                <a:lnTo>
                  <a:pt x="5" y="44"/>
                </a:lnTo>
              </a:path>
            </a:pathLst>
          </a:custGeom>
          <a:noFill/>
          <a:ln w="19050" cap="rnd">
            <a:solidFill>
              <a:srgbClr val="3E7A4E"/>
            </a:solidFill>
            <a:round/>
            <a:tailEnd type="arrow"/>
          </a:ln>
        </p:spPr>
      </p:sp>
      <p:sp>
        <p:nvSpPr>
          <p:cNvPr id="37" name="arr3"/>
          <p:cNvSpPr/>
          <p:nvPr>
            <p:extLst>
              <p:ext uri="{F5677B7D-0D2A-4D9B-9A5C-6D8D7D0E5A5D}">
                <pptd:line encoding="base64url">eyJ2aWV3Qm94IjpbMTAsNDRdLCJwb2ludHMiOiI1LDAgNSw0NCJ9</pptd:line>
              </p:ext>
            </p:extLst>
          </p:nvPr>
        </p:nvSpPr>
        <p:spPr>
          <a:xfrm>
            <a:off x="10083800" y="5207000"/>
            <a:ext cx="127000" cy="558800"/>
          </a:xfrm>
          <a:custGeom>
            <a:avLst/>
            <a:gdLst/>
            <a:ahLst/>
            <a:cxnLst/>
            <a:rect l="l" t="t" r="r" b="b"/>
            <a:pathLst>
              <a:path w="10" h="44">
                <a:moveTo>
                  <a:pt x="5" y="0"/>
                </a:moveTo>
                <a:lnTo>
                  <a:pt x="5" y="44"/>
                </a:lnTo>
              </a:path>
            </a:pathLst>
          </a:custGeom>
          <a:noFill/>
          <a:ln w="19050" cap="rnd">
            <a:solidFill>
              <a:srgbClr val="3E7A4E"/>
            </a:solidFill>
            <a:round/>
            <a:tailEnd type="arrow"/>
          </a:ln>
        </p:spPr>
      </p:sp>
      <p:sp>
        <p:nvSpPr>
          <p:cNvPr id="38" name="decision-bar"/>
          <p:cNvSpPr/>
          <p:nvPr/>
        </p:nvSpPr>
        <p:spPr>
          <a:xfrm>
            <a:off x="5080000" y="5816600"/>
            <a:ext cx="6019800" cy="558800"/>
          </a:xfrm>
          <a:prstGeom prst="roundRect">
            <a:avLst>
              <a:gd name="adj" fmla="val 50000"/>
            </a:avLst>
          </a:prstGeom>
          <a:solidFill>
            <a:srgbClr val="173B27"/>
          </a:solidFill>
          <a:ln>
            <a:noFill/>
          </a:ln>
        </p:spPr>
      </p:sp>
      <p:sp>
        <p:nvSpPr>
          <p:cNvPr id="39" name="decision-text"/>
          <p:cNvSpPr txBox="1"/>
          <p:nvPr/>
        </p:nvSpPr>
        <p:spPr>
          <a:xfrm>
            <a:off x="5080000" y="5816600"/>
            <a:ext cx="6019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One decision — which crop, this farm, this season?</a:t>
            </a:r>
            <a:endParaRPr lang="en-US" sz="1300" noProof="1"/>
          </a:p>
        </p:txBody>
      </p:sp>
      <p:sp>
        <p:nvSpPr>
          <p:cNvPr id="40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02 / 14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3E7A4E"/>
                </a:solidFill>
                <a:latin typeface="MiSans"/>
                <a:ea typeface="MiSans"/>
              </a:rPr>
              <a:t>THE IDEA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2A20"/>
                </a:solidFill>
                <a:latin typeface="MiSans"/>
                <a:ea typeface="MiSans"/>
              </a:rPr>
              <a:t>Meet AgriSense</a:t>
            </a:r>
            <a:endParaRPr lang="en-US" sz="2600" noProof="1"/>
          </a:p>
        </p:txBody>
      </p:sp>
      <p:sp>
        <p:nvSpPr>
          <p:cNvPr id="4" name="lead"/>
          <p:cNvSpPr txBox="1"/>
          <p:nvPr/>
        </p:nvSpPr>
        <p:spPr>
          <a:xfrm>
            <a:off x="609600" y="1219200"/>
            <a:ext cx="88900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A farm-level decision-support app that evaluates crop options against farm conditions, environmental factors and economics — together, not in isolation.</a:t>
            </a:r>
            <a:endParaRPr lang="en-US" sz="1200" noProof="1"/>
          </a:p>
        </p:txBody>
      </p:sp>
      <p:sp>
        <p:nvSpPr>
          <p:cNvPr id="5" name="in1"/>
          <p:cNvSpPr/>
          <p:nvPr/>
        </p:nvSpPr>
        <p:spPr>
          <a:xfrm>
            <a:off x="609600" y="2006600"/>
            <a:ext cx="3048000" cy="558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6" name="in1-icon"/>
          <p:cNvSpPr/>
          <p:nvPr>
            <p:extLst>
              <p:ext uri="{F5677B7D-0D2A-4D9B-9A5C-6D8D7D0E5A5D}">
                <pptd:icon encoding="base64url">eyJpY29uTmFtZSI6ImZhczp0cmFjdG9yIn0</pptd:icon>
              </p:ext>
            </p:extLst>
          </p:nvPr>
        </p:nvSpPr>
        <p:spPr>
          <a:xfrm>
            <a:off x="812800" y="2184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96" y="223"/>
                </a:moveTo>
                <a:lnTo>
                  <a:pt x="96" y="64"/>
                </a:lnTo>
                <a:cubicBezTo>
                  <a:pt x="96" y="46"/>
                  <a:pt x="110" y="32"/>
                  <a:pt x="128" y="32"/>
                </a:cubicBezTo>
                <a:lnTo>
                  <a:pt x="236" y="32"/>
                </a:lnTo>
                <a:cubicBezTo>
                  <a:pt x="258" y="32"/>
                  <a:pt x="279" y="44"/>
                  <a:pt x="291" y="63"/>
                </a:cubicBezTo>
                <a:lnTo>
                  <a:pt x="368" y="192"/>
                </a:lnTo>
                <a:lnTo>
                  <a:pt x="432" y="192"/>
                </a:lnTo>
                <a:lnTo>
                  <a:pt x="432" y="120"/>
                </a:lnTo>
                <a:cubicBezTo>
                  <a:pt x="432" y="107"/>
                  <a:pt x="443" y="96"/>
                  <a:pt x="456" y="96"/>
                </a:cubicBezTo>
                <a:cubicBezTo>
                  <a:pt x="469" y="96"/>
                  <a:pt x="480" y="107"/>
                  <a:pt x="480" y="120"/>
                </a:cubicBezTo>
                <a:lnTo>
                  <a:pt x="480" y="192"/>
                </a:lnTo>
                <a:lnTo>
                  <a:pt x="528" y="192"/>
                </a:lnTo>
                <a:cubicBezTo>
                  <a:pt x="555" y="192"/>
                  <a:pt x="576" y="214"/>
                  <a:pt x="576" y="240"/>
                </a:cubicBezTo>
                <a:lnTo>
                  <a:pt x="576" y="282"/>
                </a:lnTo>
                <a:cubicBezTo>
                  <a:pt x="576" y="296"/>
                  <a:pt x="570" y="309"/>
                  <a:pt x="559" y="318"/>
                </a:cubicBezTo>
                <a:lnTo>
                  <a:pt x="524" y="348"/>
                </a:lnTo>
                <a:cubicBezTo>
                  <a:pt x="550" y="363"/>
                  <a:pt x="568" y="391"/>
                  <a:pt x="568" y="424"/>
                </a:cubicBezTo>
                <a:cubicBezTo>
                  <a:pt x="568" y="473"/>
                  <a:pt x="529" y="512"/>
                  <a:pt x="480" y="512"/>
                </a:cubicBezTo>
                <a:cubicBezTo>
                  <a:pt x="432" y="512"/>
                  <a:pt x="392" y="473"/>
                  <a:pt x="392" y="424"/>
                </a:cubicBezTo>
                <a:cubicBezTo>
                  <a:pt x="392" y="410"/>
                  <a:pt x="396" y="396"/>
                  <a:pt x="402" y="384"/>
                </a:cubicBezTo>
                <a:lnTo>
                  <a:pt x="301" y="384"/>
                </a:lnTo>
                <a:cubicBezTo>
                  <a:pt x="298" y="397"/>
                  <a:pt x="293" y="410"/>
                  <a:pt x="286" y="422"/>
                </a:cubicBezTo>
                <a:cubicBezTo>
                  <a:pt x="294" y="431"/>
                  <a:pt x="293" y="445"/>
                  <a:pt x="285" y="454"/>
                </a:cubicBezTo>
                <a:lnTo>
                  <a:pt x="262" y="477"/>
                </a:lnTo>
                <a:cubicBezTo>
                  <a:pt x="253" y="485"/>
                  <a:pt x="239" y="486"/>
                  <a:pt x="230" y="478"/>
                </a:cubicBezTo>
                <a:cubicBezTo>
                  <a:pt x="220" y="483"/>
                  <a:pt x="210" y="487"/>
                  <a:pt x="200" y="490"/>
                </a:cubicBezTo>
                <a:cubicBezTo>
                  <a:pt x="199" y="503"/>
                  <a:pt x="189" y="512"/>
                  <a:pt x="176" y="512"/>
                </a:cubicBezTo>
                <a:lnTo>
                  <a:pt x="144" y="512"/>
                </a:lnTo>
                <a:cubicBezTo>
                  <a:pt x="132" y="512"/>
                  <a:pt x="121" y="503"/>
                  <a:pt x="120" y="490"/>
                </a:cubicBezTo>
                <a:cubicBezTo>
                  <a:pt x="110" y="487"/>
                  <a:pt x="100" y="483"/>
                  <a:pt x="90" y="478"/>
                </a:cubicBezTo>
                <a:cubicBezTo>
                  <a:pt x="81" y="486"/>
                  <a:pt x="67" y="485"/>
                  <a:pt x="58" y="476"/>
                </a:cubicBezTo>
                <a:lnTo>
                  <a:pt x="36" y="454"/>
                </a:lnTo>
                <a:cubicBezTo>
                  <a:pt x="27" y="445"/>
                  <a:pt x="26" y="431"/>
                  <a:pt x="34" y="422"/>
                </a:cubicBezTo>
                <a:cubicBezTo>
                  <a:pt x="29" y="412"/>
                  <a:pt x="25" y="402"/>
                  <a:pt x="22" y="392"/>
                </a:cubicBezTo>
                <a:cubicBezTo>
                  <a:pt x="9" y="391"/>
                  <a:pt x="0" y="380"/>
                  <a:pt x="0" y="368"/>
                </a:cubicBezTo>
                <a:lnTo>
                  <a:pt x="0" y="336"/>
                </a:lnTo>
                <a:cubicBezTo>
                  <a:pt x="0" y="324"/>
                  <a:pt x="9" y="313"/>
                  <a:pt x="22" y="312"/>
                </a:cubicBezTo>
                <a:cubicBezTo>
                  <a:pt x="25" y="302"/>
                  <a:pt x="29" y="292"/>
                  <a:pt x="34" y="282"/>
                </a:cubicBezTo>
                <a:cubicBezTo>
                  <a:pt x="26" y="273"/>
                  <a:pt x="27" y="259"/>
                  <a:pt x="36" y="250"/>
                </a:cubicBezTo>
                <a:lnTo>
                  <a:pt x="58" y="227"/>
                </a:lnTo>
                <a:cubicBezTo>
                  <a:pt x="67" y="219"/>
                  <a:pt x="81" y="218"/>
                  <a:pt x="90" y="226"/>
                </a:cubicBezTo>
                <a:cubicBezTo>
                  <a:pt x="92" y="225"/>
                  <a:pt x="94" y="224"/>
                  <a:pt x="96" y="223"/>
                </a:cubicBezTo>
                <a:close/>
                <a:moveTo>
                  <a:pt x="160" y="96"/>
                </a:moveTo>
                <a:lnTo>
                  <a:pt x="160" y="192"/>
                </a:lnTo>
                <a:lnTo>
                  <a:pt x="293" y="192"/>
                </a:lnTo>
                <a:lnTo>
                  <a:pt x="236" y="96"/>
                </a:lnTo>
                <a:lnTo>
                  <a:pt x="160" y="96"/>
                </a:lnTo>
                <a:close/>
                <a:moveTo>
                  <a:pt x="160" y="288"/>
                </a:moveTo>
                <a:cubicBezTo>
                  <a:pt x="125" y="288"/>
                  <a:pt x="96" y="317"/>
                  <a:pt x="96" y="352"/>
                </a:cubicBezTo>
                <a:cubicBezTo>
                  <a:pt x="96" y="387"/>
                  <a:pt x="125" y="416"/>
                  <a:pt x="160" y="416"/>
                </a:cubicBezTo>
                <a:cubicBezTo>
                  <a:pt x="195" y="416"/>
                  <a:pt x="224" y="387"/>
                  <a:pt x="224" y="352"/>
                </a:cubicBezTo>
                <a:cubicBezTo>
                  <a:pt x="224" y="317"/>
                  <a:pt x="195" y="288"/>
                  <a:pt x="160" y="288"/>
                </a:cubicBezTo>
                <a:close/>
                <a:moveTo>
                  <a:pt x="440" y="424"/>
                </a:moveTo>
                <a:cubicBezTo>
                  <a:pt x="440" y="446"/>
                  <a:pt x="458" y="464"/>
                  <a:pt x="480" y="464"/>
                </a:cubicBezTo>
                <a:cubicBezTo>
                  <a:pt x="502" y="464"/>
                  <a:pt x="520" y="446"/>
                  <a:pt x="520" y="424"/>
                </a:cubicBezTo>
                <a:cubicBezTo>
                  <a:pt x="520" y="402"/>
                  <a:pt x="502" y="384"/>
                  <a:pt x="480" y="384"/>
                </a:cubicBezTo>
                <a:cubicBezTo>
                  <a:pt x="458" y="384"/>
                  <a:pt x="440" y="402"/>
                  <a:pt x="440" y="424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7" name="in1-text"/>
          <p:cNvSpPr txBox="1"/>
          <p:nvPr/>
        </p:nvSpPr>
        <p:spPr>
          <a:xfrm>
            <a:off x="1143000" y="20066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Farm data</a:t>
            </a:r>
            <a:endParaRPr lang="en-US" sz="1200" noProof="1"/>
          </a:p>
        </p:txBody>
      </p:sp>
      <p:sp>
        <p:nvSpPr>
          <p:cNvPr id="8" name="in2"/>
          <p:cNvSpPr/>
          <p:nvPr/>
        </p:nvSpPr>
        <p:spPr>
          <a:xfrm>
            <a:off x="609600" y="2692400"/>
            <a:ext cx="3048000" cy="558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9" name="in2-icon"/>
          <p:cNvSpPr/>
          <p:nvPr>
            <p:extLst>
              <p:ext uri="{F5677B7D-0D2A-4D9B-9A5C-6D8D7D0E5A5D}">
                <pptd:icon encoding="base64url">eyJpY29uTmFtZSI6ImZhczpzZWVkbGluZyJ9</pptd:icon>
              </p:ext>
            </p:extLst>
          </p:nvPr>
        </p:nvSpPr>
        <p:spPr>
          <a:xfrm>
            <a:off x="812800" y="2870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0" name="in2-text"/>
          <p:cNvSpPr txBox="1"/>
          <p:nvPr/>
        </p:nvSpPr>
        <p:spPr>
          <a:xfrm>
            <a:off x="1143000" y="26924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Soil</a:t>
            </a:r>
            <a:endParaRPr lang="en-US" sz="1200" noProof="1"/>
          </a:p>
        </p:txBody>
      </p:sp>
      <p:sp>
        <p:nvSpPr>
          <p:cNvPr id="11" name="in3"/>
          <p:cNvSpPr/>
          <p:nvPr/>
        </p:nvSpPr>
        <p:spPr>
          <a:xfrm>
            <a:off x="609600" y="3378200"/>
            <a:ext cx="3048000" cy="558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12" name="in3-icon"/>
          <p:cNvSpPr/>
          <p:nvPr>
            <p:extLst>
              <p:ext uri="{F5677B7D-0D2A-4D9B-9A5C-6D8D7D0E5A5D}">
                <pptd:icon encoding="base64url">eyJpY29uTmFtZSI6ImZhczpjbG91ZC1zdW4ifQ</pptd:icon>
              </p:ext>
            </p:extLst>
          </p:nvPr>
        </p:nvSpPr>
        <p:spPr>
          <a:xfrm>
            <a:off x="812800" y="3556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08" y="192"/>
                </a:moveTo>
                <a:cubicBezTo>
                  <a:pt x="251" y="192"/>
                  <a:pt x="289" y="216"/>
                  <a:pt x="308" y="252"/>
                </a:cubicBezTo>
                <a:cubicBezTo>
                  <a:pt x="322" y="235"/>
                  <a:pt x="344" y="224"/>
                  <a:pt x="368" y="224"/>
                </a:cubicBezTo>
                <a:cubicBezTo>
                  <a:pt x="413" y="224"/>
                  <a:pt x="448" y="260"/>
                  <a:pt x="448" y="304"/>
                </a:cubicBezTo>
                <a:cubicBezTo>
                  <a:pt x="448" y="310"/>
                  <a:pt x="448" y="315"/>
                  <a:pt x="447" y="320"/>
                </a:cubicBezTo>
                <a:cubicBezTo>
                  <a:pt x="447" y="320"/>
                  <a:pt x="448" y="320"/>
                  <a:pt x="448" y="320"/>
                </a:cubicBezTo>
                <a:cubicBezTo>
                  <a:pt x="501" y="320"/>
                  <a:pt x="544" y="363"/>
                  <a:pt x="544" y="416"/>
                </a:cubicBezTo>
                <a:cubicBezTo>
                  <a:pt x="544" y="469"/>
                  <a:pt x="501" y="512"/>
                  <a:pt x="448" y="512"/>
                </a:cubicBezTo>
                <a:lnTo>
                  <a:pt x="128" y="512"/>
                </a:lnTo>
                <a:cubicBezTo>
                  <a:pt x="75" y="512"/>
                  <a:pt x="32" y="469"/>
                  <a:pt x="32" y="416"/>
                </a:cubicBezTo>
                <a:cubicBezTo>
                  <a:pt x="32" y="374"/>
                  <a:pt x="60" y="338"/>
                  <a:pt x="98" y="325"/>
                </a:cubicBezTo>
                <a:cubicBezTo>
                  <a:pt x="97" y="318"/>
                  <a:pt x="96" y="311"/>
                  <a:pt x="96" y="304"/>
                </a:cubicBezTo>
                <a:cubicBezTo>
                  <a:pt x="96" y="242"/>
                  <a:pt x="146" y="192"/>
                  <a:pt x="208" y="192"/>
                </a:cubicBezTo>
                <a:close/>
              </a:path>
              <a:path w="640" h="512">
                <a:moveTo>
                  <a:pt x="400" y="-32"/>
                </a:moveTo>
                <a:cubicBezTo>
                  <a:pt x="406" y="-32"/>
                  <a:pt x="411" y="-29"/>
                  <a:pt x="414" y="-25"/>
                </a:cubicBezTo>
                <a:lnTo>
                  <a:pt x="461" y="46"/>
                </a:lnTo>
                <a:lnTo>
                  <a:pt x="544" y="29"/>
                </a:lnTo>
                <a:cubicBezTo>
                  <a:pt x="549" y="28"/>
                  <a:pt x="555" y="30"/>
                  <a:pt x="559" y="34"/>
                </a:cubicBezTo>
                <a:cubicBezTo>
                  <a:pt x="562" y="38"/>
                  <a:pt x="564" y="43"/>
                  <a:pt x="563" y="48"/>
                </a:cubicBezTo>
                <a:lnTo>
                  <a:pt x="547" y="132"/>
                </a:lnTo>
                <a:lnTo>
                  <a:pt x="617" y="179"/>
                </a:lnTo>
                <a:cubicBezTo>
                  <a:pt x="621" y="182"/>
                  <a:pt x="624" y="187"/>
                  <a:pt x="624" y="192"/>
                </a:cubicBezTo>
                <a:cubicBezTo>
                  <a:pt x="624" y="197"/>
                  <a:pt x="622" y="202"/>
                  <a:pt x="617" y="205"/>
                </a:cubicBezTo>
                <a:lnTo>
                  <a:pt x="547" y="253"/>
                </a:lnTo>
                <a:lnTo>
                  <a:pt x="561" y="327"/>
                </a:lnTo>
                <a:cubicBezTo>
                  <a:pt x="544" y="305"/>
                  <a:pt x="521" y="288"/>
                  <a:pt x="494" y="280"/>
                </a:cubicBezTo>
                <a:cubicBezTo>
                  <a:pt x="492" y="267"/>
                  <a:pt x="487" y="255"/>
                  <a:pt x="481" y="244"/>
                </a:cubicBezTo>
                <a:cubicBezTo>
                  <a:pt x="491" y="229"/>
                  <a:pt x="496" y="211"/>
                  <a:pt x="496" y="192"/>
                </a:cubicBezTo>
                <a:cubicBezTo>
                  <a:pt x="496" y="139"/>
                  <a:pt x="453" y="96"/>
                  <a:pt x="400" y="96"/>
                </a:cubicBezTo>
                <a:cubicBezTo>
                  <a:pt x="353" y="96"/>
                  <a:pt x="313" y="131"/>
                  <a:pt x="306" y="177"/>
                </a:cubicBezTo>
                <a:cubicBezTo>
                  <a:pt x="285" y="161"/>
                  <a:pt x="260" y="150"/>
                  <a:pt x="233" y="146"/>
                </a:cubicBezTo>
                <a:lnTo>
                  <a:pt x="254" y="131"/>
                </a:lnTo>
                <a:lnTo>
                  <a:pt x="238" y="48"/>
                </a:lnTo>
                <a:lnTo>
                  <a:pt x="237" y="46"/>
                </a:lnTo>
                <a:cubicBezTo>
                  <a:pt x="237" y="42"/>
                  <a:pt x="239" y="37"/>
                  <a:pt x="242" y="34"/>
                </a:cubicBezTo>
                <a:cubicBezTo>
                  <a:pt x="246" y="30"/>
                  <a:pt x="251" y="28"/>
                  <a:pt x="256" y="29"/>
                </a:cubicBezTo>
                <a:lnTo>
                  <a:pt x="340" y="46"/>
                </a:lnTo>
                <a:lnTo>
                  <a:pt x="387" y="-25"/>
                </a:lnTo>
                <a:lnTo>
                  <a:pt x="388" y="-26"/>
                </a:lnTo>
                <a:cubicBezTo>
                  <a:pt x="391" y="-30"/>
                  <a:pt x="396" y="-32"/>
                  <a:pt x="400" y="-32"/>
                </a:cubicBezTo>
                <a:close/>
              </a:path>
              <a:path w="640" h="512">
                <a:moveTo>
                  <a:pt x="400" y="144"/>
                </a:moveTo>
                <a:cubicBezTo>
                  <a:pt x="427" y="144"/>
                  <a:pt x="448" y="166"/>
                  <a:pt x="448" y="192"/>
                </a:cubicBezTo>
                <a:cubicBezTo>
                  <a:pt x="448" y="196"/>
                  <a:pt x="448" y="200"/>
                  <a:pt x="447" y="203"/>
                </a:cubicBezTo>
                <a:cubicBezTo>
                  <a:pt x="425" y="186"/>
                  <a:pt x="398" y="176"/>
                  <a:pt x="368" y="176"/>
                </a:cubicBezTo>
                <a:cubicBezTo>
                  <a:pt x="364" y="176"/>
                  <a:pt x="359" y="176"/>
                  <a:pt x="355" y="177"/>
                </a:cubicBezTo>
                <a:cubicBezTo>
                  <a:pt x="361" y="158"/>
                  <a:pt x="379" y="144"/>
                  <a:pt x="400" y="144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3" name="in3-text"/>
          <p:cNvSpPr txBox="1"/>
          <p:nvPr/>
        </p:nvSpPr>
        <p:spPr>
          <a:xfrm>
            <a:off x="1143000" y="33782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Weather</a:t>
            </a:r>
            <a:endParaRPr lang="en-US" sz="1200" noProof="1"/>
          </a:p>
        </p:txBody>
      </p:sp>
      <p:sp>
        <p:nvSpPr>
          <p:cNvPr id="14" name="in4"/>
          <p:cNvSpPr/>
          <p:nvPr/>
        </p:nvSpPr>
        <p:spPr>
          <a:xfrm>
            <a:off x="609600" y="4064000"/>
            <a:ext cx="3048000" cy="558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15" name="in4-icon"/>
          <p:cNvSpPr/>
          <p:nvPr>
            <p:extLst>
              <p:ext uri="{F5677B7D-0D2A-4D9B-9A5C-6D8D7D0E5A5D}">
                <pptd:icon encoding="base64url">eyJpY29uTmFtZSI6ImZhczpkcm9wbGV0In0</pptd:icon>
              </p:ext>
            </p:extLst>
          </p:nvPr>
        </p:nvSpPr>
        <p:spPr>
          <a:xfrm>
            <a:off x="812800" y="4241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92" y="512"/>
                </a:moveTo>
                <a:cubicBezTo>
                  <a:pt x="86" y="512"/>
                  <a:pt x="0" y="426"/>
                  <a:pt x="0" y="320"/>
                </a:cubicBezTo>
                <a:cubicBezTo>
                  <a:pt x="0" y="229"/>
                  <a:pt x="130" y="46"/>
                  <a:pt x="167" y="-3"/>
                </a:cubicBezTo>
                <a:cubicBezTo>
                  <a:pt x="173" y="-11"/>
                  <a:pt x="182" y="-16"/>
                  <a:pt x="192" y="-16"/>
                </a:cubicBezTo>
                <a:lnTo>
                  <a:pt x="192" y="-16"/>
                </a:lnTo>
                <a:cubicBezTo>
                  <a:pt x="202" y="-16"/>
                  <a:pt x="212" y="-11"/>
                  <a:pt x="217" y="-3"/>
                </a:cubicBezTo>
                <a:cubicBezTo>
                  <a:pt x="254" y="46"/>
                  <a:pt x="384" y="229"/>
                  <a:pt x="384" y="320"/>
                </a:cubicBezTo>
                <a:cubicBezTo>
                  <a:pt x="384" y="426"/>
                  <a:pt x="298" y="512"/>
                  <a:pt x="192" y="512"/>
                </a:cubicBezTo>
                <a:close/>
                <a:moveTo>
                  <a:pt x="112" y="312"/>
                </a:moveTo>
                <a:cubicBezTo>
                  <a:pt x="112" y="299"/>
                  <a:pt x="101" y="288"/>
                  <a:pt x="88" y="288"/>
                </a:cubicBezTo>
                <a:cubicBezTo>
                  <a:pt x="75" y="288"/>
                  <a:pt x="64" y="299"/>
                  <a:pt x="64" y="312"/>
                </a:cubicBezTo>
                <a:cubicBezTo>
                  <a:pt x="64" y="387"/>
                  <a:pt x="125" y="448"/>
                  <a:pt x="200" y="448"/>
                </a:cubicBezTo>
                <a:cubicBezTo>
                  <a:pt x="213" y="448"/>
                  <a:pt x="224" y="437"/>
                  <a:pt x="224" y="424"/>
                </a:cubicBezTo>
                <a:cubicBezTo>
                  <a:pt x="224" y="411"/>
                  <a:pt x="213" y="400"/>
                  <a:pt x="200" y="400"/>
                </a:cubicBezTo>
                <a:cubicBezTo>
                  <a:pt x="151" y="400"/>
                  <a:pt x="112" y="361"/>
                  <a:pt x="112" y="312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6" name="in4-text"/>
          <p:cNvSpPr txBox="1"/>
          <p:nvPr/>
        </p:nvSpPr>
        <p:spPr>
          <a:xfrm>
            <a:off x="1143000" y="40640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Water</a:t>
            </a:r>
            <a:endParaRPr lang="en-US" sz="1200" noProof="1"/>
          </a:p>
        </p:txBody>
      </p:sp>
      <p:sp>
        <p:nvSpPr>
          <p:cNvPr id="17" name="in5"/>
          <p:cNvSpPr/>
          <p:nvPr/>
        </p:nvSpPr>
        <p:spPr>
          <a:xfrm>
            <a:off x="609600" y="4749800"/>
            <a:ext cx="3048000" cy="558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18" name="in5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812800" y="4927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9" name="in5-text"/>
          <p:cNvSpPr txBox="1"/>
          <p:nvPr/>
        </p:nvSpPr>
        <p:spPr>
          <a:xfrm>
            <a:off x="1143000" y="47498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Crop information</a:t>
            </a:r>
            <a:endParaRPr lang="en-US" sz="1200" noProof="1"/>
          </a:p>
        </p:txBody>
      </p:sp>
      <p:sp>
        <p:nvSpPr>
          <p:cNvPr id="20" name="in6"/>
          <p:cNvSpPr/>
          <p:nvPr/>
        </p:nvSpPr>
        <p:spPr>
          <a:xfrm>
            <a:off x="609600" y="5435600"/>
            <a:ext cx="3048000" cy="558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21" name="in6-icon"/>
          <p:cNvSpPr/>
          <p:nvPr>
            <p:extLst>
              <p:ext uri="{F5677B7D-0D2A-4D9B-9A5C-6D8D7D0E5A5D}">
                <pptd:icon encoding="base64url">eyJpY29uTmFtZSI6ImZhczpjaGFydC1saW5lIn0</pptd:icon>
              </p:ext>
            </p:extLst>
          </p:nvPr>
        </p:nvSpPr>
        <p:spPr>
          <a:xfrm>
            <a:off x="812800" y="5613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2" name="in6-text"/>
          <p:cNvSpPr txBox="1"/>
          <p:nvPr/>
        </p:nvSpPr>
        <p:spPr>
          <a:xfrm>
            <a:off x="1143000" y="54356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Market &amp; economic data</a:t>
            </a:r>
            <a:endParaRPr lang="en-US" sz="1200" noProof="1"/>
          </a:p>
        </p:txBody>
      </p:sp>
      <p:sp>
        <p:nvSpPr>
          <p:cNvPr id="23" name="arr-in"/>
          <p:cNvSpPr/>
          <p:nvPr/>
        </p:nvSpPr>
        <p:spPr>
          <a:xfrm>
            <a:off x="3810000" y="3822700"/>
            <a:ext cx="431800" cy="254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3E7A4E"/>
          </a:solidFill>
          <a:ln>
            <a:noFill/>
          </a:ln>
        </p:spPr>
      </p:sp>
      <p:sp>
        <p:nvSpPr>
          <p:cNvPr id="24" name="engine"/>
          <p:cNvSpPr/>
          <p:nvPr/>
        </p:nvSpPr>
        <p:spPr>
          <a:xfrm>
            <a:off x="4394200" y="2870200"/>
            <a:ext cx="3429000" cy="2159000"/>
          </a:xfrm>
          <a:prstGeom prst="roundRect">
            <a:avLst>
              <a:gd name="adj" fmla="val 8000"/>
            </a:avLst>
          </a:prstGeom>
          <a:solidFill>
            <a:srgbClr val="173B27"/>
          </a:solidFill>
          <a:ln>
            <a:noFill/>
          </a:ln>
        </p:spPr>
      </p:sp>
      <p:sp>
        <p:nvSpPr>
          <p:cNvPr id="25" name="engine-name"/>
          <p:cNvSpPr txBox="1"/>
          <p:nvPr/>
        </p:nvSpPr>
        <p:spPr>
          <a:xfrm>
            <a:off x="4394200" y="32258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FFFFFF"/>
                </a:solidFill>
                <a:latin typeface="MiSans"/>
                <a:ea typeface="MiSans"/>
              </a:rPr>
              <a:t>AgriSense</a:t>
            </a:r>
            <a:endParaRPr lang="en-US" sz="2200" noProof="1"/>
          </a:p>
        </p:txBody>
      </p:sp>
      <p:sp>
        <p:nvSpPr>
          <p:cNvPr id="26" name="engine-sub"/>
          <p:cNvSpPr txBox="1"/>
          <p:nvPr/>
        </p:nvSpPr>
        <p:spPr>
          <a:xfrm>
            <a:off x="4394200" y="36576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200" kern="0">
                <a:solidFill>
                  <a:srgbClr val="8FBF7F"/>
                </a:solidFill>
                <a:latin typeface="MiSans"/>
                <a:ea typeface="MiSans"/>
              </a:rPr>
              <a:t>DECISION ENGINE</a:t>
            </a:r>
            <a:endParaRPr lang="en-US" sz="1000" noProof="1"/>
          </a:p>
        </p:txBody>
      </p:sp>
      <p:sp>
        <p:nvSpPr>
          <p:cNvPr id="27" name="engine-line"/>
          <p:cNvSpPr/>
          <p:nvPr/>
        </p:nvSpPr>
        <p:spPr>
          <a:xfrm>
            <a:off x="5219700" y="4013200"/>
            <a:ext cx="1778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</p:sp>
      <p:sp>
        <p:nvSpPr>
          <p:cNvPr id="28" name="engine-cap"/>
          <p:cNvSpPr txBox="1"/>
          <p:nvPr/>
        </p:nvSpPr>
        <p:spPr>
          <a:xfrm>
            <a:off x="4394200" y="4165600"/>
            <a:ext cx="342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300" noProof="1">
                <a:solidFill>
                  <a:srgbClr val="CFE3C8"/>
                </a:solidFill>
                <a:latin typeface="MiSans"/>
                <a:ea typeface="MiSans"/>
              </a:rPr>
              <a:t>Suitability scoring · economics</a:t>
            </a:r>
            <a:endParaRPr lang="en-US" sz="1300" noProof="1"/>
          </a:p>
          <a:p>
            <a:pPr algn="ctr">
              <a:lnSpc>
                <a:spcPct val="140000"/>
              </a:lnSpc>
            </a:pPr>
            <a:r>
              <a:rPr lang="en-US" sz="1300" noProof="1">
                <a:solidFill>
                  <a:srgbClr val="CFE3C8"/>
                </a:solidFill>
                <a:latin typeface="MiSans"/>
                <a:ea typeface="MiSans"/>
              </a:rPr>
              <a:t>risk analysis · scenarios</a:t>
            </a:r>
            <a:endParaRPr lang="en-US" sz="1300" noProof="1"/>
          </a:p>
        </p:txBody>
      </p:sp>
      <p:sp>
        <p:nvSpPr>
          <p:cNvPr id="29" name="arr-out"/>
          <p:cNvSpPr/>
          <p:nvPr/>
        </p:nvSpPr>
        <p:spPr>
          <a:xfrm>
            <a:off x="7975600" y="3822700"/>
            <a:ext cx="431800" cy="254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3E7A4E"/>
          </a:solidFill>
          <a:ln>
            <a:noFill/>
          </a:ln>
        </p:spPr>
      </p:sp>
      <p:sp>
        <p:nvSpPr>
          <p:cNvPr id="30" name="out1"/>
          <p:cNvSpPr/>
          <p:nvPr/>
        </p:nvSpPr>
        <p:spPr>
          <a:xfrm>
            <a:off x="8559800" y="2311400"/>
            <a:ext cx="3022600" cy="711200"/>
          </a:xfrm>
          <a:prstGeom prst="roundRect">
            <a:avLst>
              <a:gd name="adj" fmla="val 12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31" name="out1-icon"/>
          <p:cNvSpPr/>
          <p:nvPr>
            <p:extLst>
              <p:ext uri="{F5677B7D-0D2A-4D9B-9A5C-6D8D7D0E5A5D}">
                <pptd:icon encoding="base64url">eyJpY29uTmFtZSI6ImZhczpsaXN0LWNoZWNrIn0</pptd:icon>
              </p:ext>
            </p:extLst>
          </p:nvPr>
        </p:nvSpPr>
        <p:spPr>
          <a:xfrm>
            <a:off x="8788400" y="2565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34" y="36"/>
                </a:moveTo>
                <a:cubicBezTo>
                  <a:pt x="145" y="44"/>
                  <a:pt x="147" y="59"/>
                  <a:pt x="140" y="70"/>
                </a:cubicBezTo>
                <a:lnTo>
                  <a:pt x="84" y="150"/>
                </a:lnTo>
                <a:cubicBezTo>
                  <a:pt x="80" y="156"/>
                  <a:pt x="73" y="159"/>
                  <a:pt x="66" y="160"/>
                </a:cubicBezTo>
                <a:cubicBezTo>
                  <a:pt x="59" y="160"/>
                  <a:pt x="52" y="158"/>
                  <a:pt x="47" y="153"/>
                </a:cubicBezTo>
                <a:lnTo>
                  <a:pt x="7" y="113"/>
                </a:lnTo>
                <a:cubicBezTo>
                  <a:pt x="-2" y="104"/>
                  <a:pt x="-2" y="88"/>
                  <a:pt x="7" y="79"/>
                </a:cubicBezTo>
                <a:cubicBezTo>
                  <a:pt x="16" y="70"/>
                  <a:pt x="32" y="70"/>
                  <a:pt x="41" y="79"/>
                </a:cubicBezTo>
                <a:lnTo>
                  <a:pt x="61" y="99"/>
                </a:lnTo>
                <a:lnTo>
                  <a:pt x="100" y="42"/>
                </a:lnTo>
                <a:cubicBezTo>
                  <a:pt x="108" y="31"/>
                  <a:pt x="123" y="29"/>
                  <a:pt x="134" y="36"/>
                </a:cubicBezTo>
                <a:close/>
              </a:path>
              <a:path w="512" h="512">
                <a:moveTo>
                  <a:pt x="134" y="196"/>
                </a:moveTo>
                <a:cubicBezTo>
                  <a:pt x="145" y="204"/>
                  <a:pt x="147" y="219"/>
                  <a:pt x="140" y="230"/>
                </a:cubicBezTo>
                <a:lnTo>
                  <a:pt x="84" y="310"/>
                </a:lnTo>
                <a:cubicBezTo>
                  <a:pt x="80" y="316"/>
                  <a:pt x="73" y="319"/>
                  <a:pt x="66" y="320"/>
                </a:cubicBezTo>
                <a:cubicBezTo>
                  <a:pt x="59" y="320"/>
                  <a:pt x="52" y="318"/>
                  <a:pt x="47" y="313"/>
                </a:cubicBezTo>
                <a:lnTo>
                  <a:pt x="7" y="273"/>
                </a:lnTo>
                <a:cubicBezTo>
                  <a:pt x="-2" y="264"/>
                  <a:pt x="-2" y="248"/>
                  <a:pt x="7" y="239"/>
                </a:cubicBezTo>
                <a:cubicBezTo>
                  <a:pt x="16" y="230"/>
                  <a:pt x="32" y="230"/>
                  <a:pt x="41" y="239"/>
                </a:cubicBezTo>
                <a:lnTo>
                  <a:pt x="61" y="259"/>
                </a:lnTo>
                <a:lnTo>
                  <a:pt x="100" y="202"/>
                </a:lnTo>
                <a:cubicBezTo>
                  <a:pt x="108" y="191"/>
                  <a:pt x="123" y="189"/>
                  <a:pt x="134" y="196"/>
                </a:cubicBezTo>
                <a:close/>
              </a:path>
              <a:path w="512" h="512">
                <a:moveTo>
                  <a:pt x="224" y="96"/>
                </a:moveTo>
                <a:cubicBezTo>
                  <a:pt x="224" y="78"/>
                  <a:pt x="238" y="64"/>
                  <a:pt x="256" y="64"/>
                </a:cubicBezTo>
                <a:lnTo>
                  <a:pt x="480" y="64"/>
                </a:lnTo>
                <a:cubicBezTo>
                  <a:pt x="498" y="64"/>
                  <a:pt x="512" y="78"/>
                  <a:pt x="512" y="96"/>
                </a:cubicBezTo>
                <a:cubicBezTo>
                  <a:pt x="512" y="114"/>
                  <a:pt x="498" y="128"/>
                  <a:pt x="480" y="128"/>
                </a:cubicBezTo>
                <a:lnTo>
                  <a:pt x="256" y="128"/>
                </a:lnTo>
                <a:cubicBezTo>
                  <a:pt x="238" y="128"/>
                  <a:pt x="224" y="114"/>
                  <a:pt x="224" y="9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256" y="288"/>
                </a:lnTo>
                <a:cubicBezTo>
                  <a:pt x="238" y="288"/>
                  <a:pt x="224" y="274"/>
                  <a:pt x="224" y="256"/>
                </a:cubicBezTo>
                <a:close/>
              </a:path>
              <a:path w="512" h="512">
                <a:moveTo>
                  <a:pt x="160" y="416"/>
                </a:moveTo>
                <a:cubicBezTo>
                  <a:pt x="160" y="398"/>
                  <a:pt x="174" y="384"/>
                  <a:pt x="192" y="384"/>
                </a:cubicBezTo>
                <a:lnTo>
                  <a:pt x="480" y="384"/>
                </a:lnTo>
                <a:cubicBezTo>
                  <a:pt x="498" y="384"/>
                  <a:pt x="512" y="398"/>
                  <a:pt x="512" y="416"/>
                </a:cubicBezTo>
                <a:cubicBezTo>
                  <a:pt x="512" y="434"/>
                  <a:pt x="498" y="448"/>
                  <a:pt x="480" y="448"/>
                </a:cubicBezTo>
                <a:lnTo>
                  <a:pt x="192" y="448"/>
                </a:lnTo>
                <a:cubicBezTo>
                  <a:pt x="174" y="448"/>
                  <a:pt x="160" y="434"/>
                  <a:pt x="160" y="416"/>
                </a:cubicBezTo>
                <a:close/>
              </a:path>
              <a:path w="512" h="512">
                <a:moveTo>
                  <a:pt x="64" y="376"/>
                </a:moveTo>
                <a:cubicBezTo>
                  <a:pt x="86" y="376"/>
                  <a:pt x="104" y="394"/>
                  <a:pt x="104" y="416"/>
                </a:cubicBezTo>
                <a:cubicBezTo>
                  <a:pt x="104" y="438"/>
                  <a:pt x="86" y="456"/>
                  <a:pt x="64" y="456"/>
                </a:cubicBezTo>
                <a:cubicBezTo>
                  <a:pt x="42" y="456"/>
                  <a:pt x="24" y="438"/>
                  <a:pt x="24" y="416"/>
                </a:cubicBezTo>
                <a:cubicBezTo>
                  <a:pt x="24" y="394"/>
                  <a:pt x="42" y="376"/>
                  <a:pt x="64" y="376"/>
                </a:cubicBezTo>
                <a:close/>
              </a:path>
            </a:pathLst>
          </a:custGeom>
          <a:solidFill>
            <a:srgbClr val="173B27"/>
          </a:solidFill>
          <a:ln>
            <a:noFill/>
          </a:ln>
        </p:spPr>
      </p:sp>
      <p:sp>
        <p:nvSpPr>
          <p:cNvPr id="32" name="out1-text"/>
          <p:cNvSpPr txBox="1"/>
          <p:nvPr/>
        </p:nvSpPr>
        <p:spPr>
          <a:xfrm>
            <a:off x="9118600" y="2311400"/>
            <a:ext cx="2362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73B27"/>
                </a:solidFill>
                <a:latin typeface="MiSans"/>
                <a:ea typeface="MiSans"/>
              </a:rPr>
              <a:t>Crop recommendations</a:t>
            </a:r>
            <a:endParaRPr lang="en-US" sz="1200" noProof="1"/>
          </a:p>
        </p:txBody>
      </p:sp>
      <p:sp>
        <p:nvSpPr>
          <p:cNvPr id="33" name="out2"/>
          <p:cNvSpPr/>
          <p:nvPr/>
        </p:nvSpPr>
        <p:spPr>
          <a:xfrm>
            <a:off x="8559800" y="3200400"/>
            <a:ext cx="3022600" cy="711200"/>
          </a:xfrm>
          <a:prstGeom prst="roundRect">
            <a:avLst>
              <a:gd name="adj" fmla="val 12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34" name="out2-icon"/>
          <p:cNvSpPr/>
          <p:nvPr>
            <p:extLst>
              <p:ext uri="{F5677B7D-0D2A-4D9B-9A5C-6D8D7D0E5A5D}">
                <pptd:icon encoding="base64url">eyJpY29uTmFtZSI6ImZhczpjb2lucyJ9</pptd:icon>
              </p:ext>
            </p:extLst>
          </p:nvPr>
        </p:nvSpPr>
        <p:spPr>
          <a:xfrm>
            <a:off x="8788400" y="3454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96"/>
                </a:moveTo>
                <a:lnTo>
                  <a:pt x="128" y="80"/>
                </a:lnTo>
                <a:cubicBezTo>
                  <a:pt x="128" y="36"/>
                  <a:pt x="214" y="0"/>
                  <a:pt x="320" y="0"/>
                </a:cubicBezTo>
                <a:cubicBezTo>
                  <a:pt x="426" y="0"/>
                  <a:pt x="512" y="36"/>
                  <a:pt x="512" y="80"/>
                </a:cubicBezTo>
                <a:lnTo>
                  <a:pt x="512" y="96"/>
                </a:lnTo>
                <a:cubicBezTo>
                  <a:pt x="512" y="127"/>
                  <a:pt x="471" y="153"/>
                  <a:pt x="410" y="167"/>
                </a:cubicBezTo>
                <a:cubicBezTo>
                  <a:pt x="408" y="164"/>
                  <a:pt x="405" y="161"/>
                  <a:pt x="403" y="159"/>
                </a:cubicBezTo>
                <a:cubicBezTo>
                  <a:pt x="387" y="143"/>
                  <a:pt x="367" y="132"/>
                  <a:pt x="346" y="123"/>
                </a:cubicBezTo>
                <a:cubicBezTo>
                  <a:pt x="304" y="106"/>
                  <a:pt x="250" y="96"/>
                  <a:pt x="192" y="96"/>
                </a:cubicBezTo>
                <a:cubicBezTo>
                  <a:pt x="170" y="96"/>
                  <a:pt x="149" y="98"/>
                  <a:pt x="128" y="100"/>
                </a:cubicBezTo>
                <a:cubicBezTo>
                  <a:pt x="128" y="99"/>
                  <a:pt x="128" y="97"/>
                  <a:pt x="128" y="96"/>
                </a:cubicBezTo>
                <a:close/>
              </a:path>
              <a:path w="512" h="512">
                <a:moveTo>
                  <a:pt x="432" y="353"/>
                </a:moveTo>
                <a:lnTo>
                  <a:pt x="432" y="307"/>
                </a:lnTo>
                <a:cubicBezTo>
                  <a:pt x="447" y="303"/>
                  <a:pt x="461" y="298"/>
                  <a:pt x="474" y="293"/>
                </a:cubicBezTo>
                <a:cubicBezTo>
                  <a:pt x="487" y="287"/>
                  <a:pt x="500" y="281"/>
                  <a:pt x="512" y="273"/>
                </a:cubicBezTo>
                <a:lnTo>
                  <a:pt x="512" y="288"/>
                </a:lnTo>
                <a:cubicBezTo>
                  <a:pt x="512" y="315"/>
                  <a:pt x="481" y="339"/>
                  <a:pt x="432" y="353"/>
                </a:cubicBezTo>
                <a:close/>
              </a:path>
              <a:path w="512" h="512">
                <a:moveTo>
                  <a:pt x="432" y="257"/>
                </a:moveTo>
                <a:lnTo>
                  <a:pt x="432" y="224"/>
                </a:lnTo>
                <a:cubicBezTo>
                  <a:pt x="432" y="220"/>
                  <a:pt x="432" y="215"/>
                  <a:pt x="431" y="211"/>
                </a:cubicBezTo>
                <a:cubicBezTo>
                  <a:pt x="447" y="207"/>
                  <a:pt x="461" y="202"/>
                  <a:pt x="474" y="197"/>
                </a:cubicBezTo>
                <a:cubicBezTo>
                  <a:pt x="487" y="191"/>
                  <a:pt x="500" y="185"/>
                  <a:pt x="512" y="177"/>
                </a:cubicBezTo>
                <a:lnTo>
                  <a:pt x="512" y="192"/>
                </a:lnTo>
                <a:cubicBezTo>
                  <a:pt x="512" y="219"/>
                  <a:pt x="481" y="242"/>
                  <a:pt x="432" y="257"/>
                </a:cubicBezTo>
                <a:close/>
              </a:path>
              <a:path w="512" h="512">
                <a:moveTo>
                  <a:pt x="0" y="240"/>
                </a:moveTo>
                <a:lnTo>
                  <a:pt x="0" y="224"/>
                </a:lnTo>
                <a:cubicBezTo>
                  <a:pt x="0" y="180"/>
                  <a:pt x="86" y="144"/>
                  <a:pt x="192" y="144"/>
                </a:cubicBezTo>
                <a:cubicBezTo>
                  <a:pt x="298" y="144"/>
                  <a:pt x="384" y="180"/>
                  <a:pt x="384" y="224"/>
                </a:cubicBezTo>
                <a:lnTo>
                  <a:pt x="384" y="240"/>
                </a:lnTo>
                <a:cubicBezTo>
                  <a:pt x="384" y="284"/>
                  <a:pt x="298" y="320"/>
                  <a:pt x="192" y="320"/>
                </a:cubicBezTo>
                <a:cubicBezTo>
                  <a:pt x="86" y="320"/>
                  <a:pt x="0" y="284"/>
                  <a:pt x="0" y="240"/>
                </a:cubicBezTo>
                <a:close/>
              </a:path>
              <a:path w="512" h="512">
                <a:moveTo>
                  <a:pt x="384" y="336"/>
                </a:moveTo>
                <a:cubicBezTo>
                  <a:pt x="384" y="380"/>
                  <a:pt x="298" y="416"/>
                  <a:pt x="192" y="416"/>
                </a:cubicBezTo>
                <a:cubicBezTo>
                  <a:pt x="86" y="416"/>
                  <a:pt x="0" y="380"/>
                  <a:pt x="0" y="336"/>
                </a:cubicBezTo>
                <a:lnTo>
                  <a:pt x="0" y="321"/>
                </a:lnTo>
                <a:cubicBezTo>
                  <a:pt x="12" y="329"/>
                  <a:pt x="25" y="335"/>
                  <a:pt x="38" y="341"/>
                </a:cubicBezTo>
                <a:cubicBezTo>
                  <a:pt x="80" y="358"/>
                  <a:pt x="134" y="368"/>
                  <a:pt x="192" y="368"/>
                </a:cubicBezTo>
                <a:cubicBezTo>
                  <a:pt x="250" y="368"/>
                  <a:pt x="304" y="358"/>
                  <a:pt x="346" y="341"/>
                </a:cubicBezTo>
                <a:cubicBezTo>
                  <a:pt x="359" y="335"/>
                  <a:pt x="372" y="329"/>
                  <a:pt x="384" y="321"/>
                </a:cubicBezTo>
                <a:lnTo>
                  <a:pt x="384" y="336"/>
                </a:lnTo>
                <a:close/>
              </a:path>
              <a:path w="512" h="512">
                <a:moveTo>
                  <a:pt x="384" y="417"/>
                </a:moveTo>
                <a:lnTo>
                  <a:pt x="384" y="432"/>
                </a:lnTo>
                <a:cubicBezTo>
                  <a:pt x="384" y="476"/>
                  <a:pt x="298" y="512"/>
                  <a:pt x="192" y="512"/>
                </a:cubicBezTo>
                <a:cubicBezTo>
                  <a:pt x="86" y="512"/>
                  <a:pt x="0" y="476"/>
                  <a:pt x="0" y="432"/>
                </a:cubicBezTo>
                <a:lnTo>
                  <a:pt x="0" y="417"/>
                </a:lnTo>
                <a:cubicBezTo>
                  <a:pt x="12" y="425"/>
                  <a:pt x="25" y="431"/>
                  <a:pt x="38" y="437"/>
                </a:cubicBezTo>
                <a:cubicBezTo>
                  <a:pt x="80" y="454"/>
                  <a:pt x="134" y="464"/>
                  <a:pt x="192" y="464"/>
                </a:cubicBezTo>
                <a:cubicBezTo>
                  <a:pt x="250" y="464"/>
                  <a:pt x="304" y="454"/>
                  <a:pt x="346" y="437"/>
                </a:cubicBezTo>
                <a:cubicBezTo>
                  <a:pt x="359" y="431"/>
                  <a:pt x="372" y="425"/>
                  <a:pt x="384" y="417"/>
                </a:cubicBezTo>
                <a:close/>
              </a:path>
            </a:pathLst>
          </a:custGeom>
          <a:solidFill>
            <a:srgbClr val="173B27"/>
          </a:solidFill>
          <a:ln>
            <a:noFill/>
          </a:ln>
        </p:spPr>
      </p:sp>
      <p:sp>
        <p:nvSpPr>
          <p:cNvPr id="35" name="out2-text"/>
          <p:cNvSpPr txBox="1"/>
          <p:nvPr/>
        </p:nvSpPr>
        <p:spPr>
          <a:xfrm>
            <a:off x="9118600" y="3200400"/>
            <a:ext cx="2362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73B27"/>
                </a:solidFill>
                <a:latin typeface="MiSans"/>
                <a:ea typeface="MiSans"/>
              </a:rPr>
              <a:t>Expected profit &amp; ROI</a:t>
            </a:r>
            <a:endParaRPr lang="en-US" sz="1200" noProof="1"/>
          </a:p>
        </p:txBody>
      </p:sp>
      <p:sp>
        <p:nvSpPr>
          <p:cNvPr id="36" name="out3"/>
          <p:cNvSpPr/>
          <p:nvPr/>
        </p:nvSpPr>
        <p:spPr>
          <a:xfrm>
            <a:off x="8559800" y="4089400"/>
            <a:ext cx="3022600" cy="711200"/>
          </a:xfrm>
          <a:prstGeom prst="roundRect">
            <a:avLst>
              <a:gd name="adj" fmla="val 12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37" name="out3-icon"/>
          <p:cNvSpPr/>
          <p:nvPr>
            <p:extLst>
              <p:ext uri="{F5677B7D-0D2A-4D9B-9A5C-6D8D7D0E5A5D}">
                <pptd:icon encoding="base64url">eyJpY29uTmFtZSI6ImZhczpzaGllbGQtaGFsdmVkIn0</pptd:icon>
              </p:ext>
            </p:extLst>
          </p:nvPr>
        </p:nvSpPr>
        <p:spPr>
          <a:xfrm>
            <a:off x="8788400" y="4343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173B27"/>
          </a:solidFill>
          <a:ln>
            <a:noFill/>
          </a:ln>
        </p:spPr>
      </p:sp>
      <p:sp>
        <p:nvSpPr>
          <p:cNvPr id="38" name="out3-text"/>
          <p:cNvSpPr txBox="1"/>
          <p:nvPr/>
        </p:nvSpPr>
        <p:spPr>
          <a:xfrm>
            <a:off x="9118600" y="4089400"/>
            <a:ext cx="2362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73B27"/>
                </a:solidFill>
                <a:latin typeface="MiSans"/>
                <a:ea typeface="MiSans"/>
              </a:rPr>
              <a:t>Risk levels</a:t>
            </a:r>
            <a:endParaRPr lang="en-US" sz="1200" noProof="1"/>
          </a:p>
        </p:txBody>
      </p:sp>
      <p:sp>
        <p:nvSpPr>
          <p:cNvPr id="39" name="out4"/>
          <p:cNvSpPr/>
          <p:nvPr/>
        </p:nvSpPr>
        <p:spPr>
          <a:xfrm>
            <a:off x="8559800" y="4978400"/>
            <a:ext cx="3022600" cy="711200"/>
          </a:xfrm>
          <a:prstGeom prst="roundRect">
            <a:avLst>
              <a:gd name="adj" fmla="val 12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40" name="out4-icon"/>
          <p:cNvSpPr/>
          <p:nvPr>
            <p:extLst>
              <p:ext uri="{F5677B7D-0D2A-4D9B-9A5C-6D8D7D0E5A5D}">
                <pptd:icon encoding="base64url">eyJpY29uTmFtZSI6ImZhczpzbGlkZXJzIn0</pptd:icon>
              </p:ext>
            </p:extLst>
          </p:nvPr>
        </p:nvSpPr>
        <p:spPr>
          <a:xfrm>
            <a:off x="8788400" y="5232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64"/>
                </a:moveTo>
                <a:cubicBezTo>
                  <a:pt x="14" y="64"/>
                  <a:pt x="0" y="78"/>
                  <a:pt x="0" y="96"/>
                </a:cubicBezTo>
                <a:cubicBezTo>
                  <a:pt x="0" y="114"/>
                  <a:pt x="14" y="128"/>
                  <a:pt x="32" y="128"/>
                </a:cubicBezTo>
                <a:lnTo>
                  <a:pt x="119" y="128"/>
                </a:lnTo>
                <a:cubicBezTo>
                  <a:pt x="131" y="156"/>
                  <a:pt x="159" y="176"/>
                  <a:pt x="192" y="176"/>
                </a:cubicBezTo>
                <a:cubicBezTo>
                  <a:pt x="225" y="176"/>
                  <a:pt x="253" y="156"/>
                  <a:pt x="265" y="128"/>
                </a:cubicBezTo>
                <a:lnTo>
                  <a:pt x="480" y="128"/>
                </a:lnTo>
                <a:cubicBezTo>
                  <a:pt x="498" y="128"/>
                  <a:pt x="512" y="114"/>
                  <a:pt x="512" y="96"/>
                </a:cubicBezTo>
                <a:cubicBezTo>
                  <a:pt x="512" y="78"/>
                  <a:pt x="498" y="64"/>
                  <a:pt x="480" y="64"/>
                </a:cubicBezTo>
                <a:lnTo>
                  <a:pt x="265" y="64"/>
                </a:lnTo>
                <a:cubicBezTo>
                  <a:pt x="253" y="36"/>
                  <a:pt x="225" y="16"/>
                  <a:pt x="192" y="16"/>
                </a:cubicBezTo>
                <a:cubicBezTo>
                  <a:pt x="159" y="16"/>
                  <a:pt x="131" y="36"/>
                  <a:pt x="119" y="64"/>
                </a:cubicBezTo>
                <a:lnTo>
                  <a:pt x="32" y="64"/>
                </a:lnTo>
                <a:close/>
              </a:path>
              <a:path w="512" h="512">
                <a:moveTo>
                  <a:pt x="32" y="224"/>
                </a:move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279" y="288"/>
                </a:lnTo>
                <a:cubicBezTo>
                  <a:pt x="291" y="316"/>
                  <a:pt x="319" y="336"/>
                  <a:pt x="352" y="336"/>
                </a:cubicBezTo>
                <a:cubicBezTo>
                  <a:pt x="385" y="336"/>
                  <a:pt x="413" y="316"/>
                  <a:pt x="425" y="288"/>
                </a:cubicBezTo>
                <a:lnTo>
                  <a:pt x="480" y="288"/>
                </a:lnTo>
                <a:cubicBezTo>
                  <a:pt x="498" y="288"/>
                  <a:pt x="512" y="274"/>
                  <a:pt x="512" y="256"/>
                </a:cubicBezTo>
                <a:cubicBezTo>
                  <a:pt x="512" y="238"/>
                  <a:pt x="498" y="224"/>
                  <a:pt x="480" y="224"/>
                </a:cubicBezTo>
                <a:lnTo>
                  <a:pt x="425" y="224"/>
                </a:lnTo>
                <a:cubicBezTo>
                  <a:pt x="413" y="196"/>
                  <a:pt x="385" y="176"/>
                  <a:pt x="352" y="176"/>
                </a:cubicBezTo>
                <a:cubicBezTo>
                  <a:pt x="319" y="176"/>
                  <a:pt x="291" y="196"/>
                  <a:pt x="279" y="224"/>
                </a:cubicBezTo>
                <a:lnTo>
                  <a:pt x="32" y="224"/>
                </a:lnTo>
                <a:close/>
              </a:path>
              <a:path w="512" h="512">
                <a:moveTo>
                  <a:pt x="32" y="384"/>
                </a:moveTo>
                <a:cubicBezTo>
                  <a:pt x="14" y="384"/>
                  <a:pt x="0" y="398"/>
                  <a:pt x="0" y="416"/>
                </a:cubicBezTo>
                <a:cubicBezTo>
                  <a:pt x="0" y="434"/>
                  <a:pt x="14" y="448"/>
                  <a:pt x="32" y="448"/>
                </a:cubicBezTo>
                <a:lnTo>
                  <a:pt x="87" y="448"/>
                </a:lnTo>
                <a:cubicBezTo>
                  <a:pt x="99" y="476"/>
                  <a:pt x="127" y="496"/>
                  <a:pt x="160" y="496"/>
                </a:cubicBezTo>
                <a:cubicBezTo>
                  <a:pt x="193" y="496"/>
                  <a:pt x="221" y="476"/>
                  <a:pt x="233" y="448"/>
                </a:cubicBezTo>
                <a:lnTo>
                  <a:pt x="480" y="448"/>
                </a:lnTo>
                <a:cubicBezTo>
                  <a:pt x="498" y="448"/>
                  <a:pt x="512" y="434"/>
                  <a:pt x="512" y="416"/>
                </a:cubicBezTo>
                <a:cubicBezTo>
                  <a:pt x="512" y="398"/>
                  <a:pt x="498" y="384"/>
                  <a:pt x="480" y="384"/>
                </a:cubicBezTo>
                <a:lnTo>
                  <a:pt x="233" y="384"/>
                </a:lnTo>
                <a:cubicBezTo>
                  <a:pt x="221" y="356"/>
                  <a:pt x="193" y="336"/>
                  <a:pt x="160" y="336"/>
                </a:cubicBezTo>
                <a:cubicBezTo>
                  <a:pt x="127" y="336"/>
                  <a:pt x="99" y="356"/>
                  <a:pt x="87" y="384"/>
                </a:cubicBezTo>
                <a:lnTo>
                  <a:pt x="32" y="384"/>
                </a:lnTo>
                <a:close/>
              </a:path>
            </a:pathLst>
          </a:custGeom>
          <a:solidFill>
            <a:srgbClr val="173B27"/>
          </a:solidFill>
          <a:ln>
            <a:noFill/>
          </a:ln>
        </p:spPr>
      </p:sp>
      <p:sp>
        <p:nvSpPr>
          <p:cNvPr id="41" name="out4-text"/>
          <p:cNvSpPr txBox="1"/>
          <p:nvPr/>
        </p:nvSpPr>
        <p:spPr>
          <a:xfrm>
            <a:off x="9118600" y="4978400"/>
            <a:ext cx="2362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73B27"/>
                </a:solidFill>
                <a:latin typeface="MiSans"/>
                <a:ea typeface="MiSans"/>
              </a:rPr>
              <a:t>What-if scenarios</a:t>
            </a:r>
            <a:endParaRPr lang="en-US" sz="1200" noProof="1"/>
          </a:p>
        </p:txBody>
      </p:sp>
      <p:sp>
        <p:nvSpPr>
          <p:cNvPr id="42" name="note"/>
          <p:cNvSpPr txBox="1"/>
          <p:nvPr/>
        </p:nvSpPr>
        <p:spPr>
          <a:xfrm>
            <a:off x="609600" y="62992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Working prototype — combines farmer input with demonstration datasets and modeled estimates.</a:t>
            </a:r>
            <a:endParaRPr lang="en-US" sz="1000" noProof="1"/>
          </a:p>
        </p:txBody>
      </p:sp>
      <p:sp>
        <p:nvSpPr>
          <p:cNvPr id="43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03 / 14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3E7A4E"/>
                </a:solidFill>
                <a:latin typeface="MiSans"/>
                <a:ea typeface="MiSans"/>
              </a:rPr>
              <a:t>WHY AGRISENSE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812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2A20"/>
                </a:solidFill>
                <a:latin typeface="MiSans"/>
                <a:ea typeface="MiSans"/>
              </a:rPr>
              <a:t>Not Just “What Should I Plant?”</a:t>
            </a:r>
            <a:endParaRPr lang="en-US" sz="2600" noProof="1"/>
          </a:p>
        </p:txBody>
      </p:sp>
      <p:sp>
        <p:nvSpPr>
          <p:cNvPr id="4" name="simple-panel"/>
          <p:cNvSpPr/>
          <p:nvPr/>
        </p:nvSpPr>
        <p:spPr>
          <a:xfrm>
            <a:off x="609600" y="1473200"/>
            <a:ext cx="5283200" cy="2235200"/>
          </a:xfrm>
          <a:prstGeom prst="roundRect">
            <a:avLst>
              <a:gd name="adj" fmla="val 6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5" name="simple-header"/>
          <p:cNvSpPr txBox="1"/>
          <p:nvPr/>
        </p:nvSpPr>
        <p:spPr>
          <a:xfrm>
            <a:off x="914400" y="1701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8A6B45"/>
                </a:solidFill>
                <a:latin typeface="MiSans"/>
                <a:ea typeface="MiSans"/>
              </a:rPr>
              <a:t>SIMPLE RECOMMENDER</a:t>
            </a:r>
            <a:endParaRPr lang="en-US" sz="900" noProof="1"/>
          </a:p>
        </p:txBody>
      </p:sp>
      <p:sp>
        <p:nvSpPr>
          <p:cNvPr id="6" name="simple-chip1"/>
          <p:cNvSpPr/>
          <p:nvPr/>
        </p:nvSpPr>
        <p:spPr>
          <a:xfrm>
            <a:off x="914400" y="2133600"/>
            <a:ext cx="1905000" cy="508000"/>
          </a:xfrm>
          <a:prstGeom prst="roundRect">
            <a:avLst>
              <a:gd name="adj" fmla="val 16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7" name="simple-chip1-text"/>
          <p:cNvSpPr txBox="1"/>
          <p:nvPr/>
        </p:nvSpPr>
        <p:spPr>
          <a:xfrm>
            <a:off x="914400" y="21336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725F"/>
                </a:solidFill>
                <a:latin typeface="MiSans"/>
                <a:ea typeface="MiSans"/>
              </a:rPr>
              <a:t>Soil looks suitable</a:t>
            </a:r>
            <a:endParaRPr lang="en-US" sz="1100" noProof="1"/>
          </a:p>
        </p:txBody>
      </p:sp>
      <p:sp>
        <p:nvSpPr>
          <p:cNvPr id="8" name="simple-arrow"/>
          <p:cNvSpPr/>
          <p:nvPr/>
        </p:nvSpPr>
        <p:spPr>
          <a:xfrm>
            <a:off x="2971800" y="2273300"/>
            <a:ext cx="381000" cy="2286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8A6B45"/>
          </a:solidFill>
          <a:ln>
            <a:noFill/>
          </a:ln>
        </p:spPr>
      </p:sp>
      <p:sp>
        <p:nvSpPr>
          <p:cNvPr id="9" name="simple-chip2"/>
          <p:cNvSpPr/>
          <p:nvPr/>
        </p:nvSpPr>
        <p:spPr>
          <a:xfrm>
            <a:off x="3505200" y="2133600"/>
            <a:ext cx="1905000" cy="508000"/>
          </a:xfrm>
          <a:prstGeom prst="roundRect">
            <a:avLst>
              <a:gd name="adj" fmla="val 16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10" name="simple-chip2-text"/>
          <p:cNvSpPr txBox="1"/>
          <p:nvPr/>
        </p:nvSpPr>
        <p:spPr>
          <a:xfrm>
            <a:off x="3505200" y="21336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66725F"/>
                </a:solidFill>
                <a:latin typeface="MiSans"/>
                <a:ea typeface="MiSans"/>
              </a:rPr>
              <a:t>Plant Crop X</a:t>
            </a:r>
            <a:endParaRPr lang="en-US" sz="1100" noProof="1"/>
          </a:p>
        </p:txBody>
      </p:sp>
      <p:sp>
        <p:nvSpPr>
          <p:cNvPr id="11" name="simple-note"/>
          <p:cNvSpPr txBox="1"/>
          <p:nvPr/>
        </p:nvSpPr>
        <p:spPr>
          <a:xfrm>
            <a:off x="914400" y="2946400"/>
            <a:ext cx="469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8A6B45"/>
                </a:solidFill>
                <a:latin typeface="MiSans"/>
                <a:ea typeface="MiSans"/>
              </a:rPr>
              <a:t>One variable in, one answer out.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8A6B45"/>
                </a:solidFill>
                <a:latin typeface="MiSans"/>
                <a:ea typeface="MiSans"/>
              </a:rPr>
              <a:t>No economics, no uncertainty, no downside.</a:t>
            </a:r>
            <a:endParaRPr lang="en-US" sz="1100" noProof="1"/>
          </a:p>
        </p:txBody>
      </p:sp>
      <p:sp>
        <p:nvSpPr>
          <p:cNvPr id="12" name="agri-panel"/>
          <p:cNvSpPr/>
          <p:nvPr/>
        </p:nvSpPr>
        <p:spPr>
          <a:xfrm>
            <a:off x="6299200" y="1473200"/>
            <a:ext cx="5283200" cy="2235200"/>
          </a:xfrm>
          <a:prstGeom prst="roundRect">
            <a:avLst>
              <a:gd name="adj" fmla="val 6000"/>
            </a:avLst>
          </a:prstGeom>
          <a:solidFill>
            <a:srgbClr val="173B27"/>
          </a:solidFill>
          <a:ln>
            <a:noFill/>
          </a:ln>
        </p:spPr>
      </p:sp>
      <p:sp>
        <p:nvSpPr>
          <p:cNvPr id="13" name="agri-header"/>
          <p:cNvSpPr txBox="1"/>
          <p:nvPr/>
        </p:nvSpPr>
        <p:spPr>
          <a:xfrm>
            <a:off x="6604000" y="1701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8FBF7F"/>
                </a:solidFill>
                <a:latin typeface="MiSans"/>
                <a:ea typeface="MiSans"/>
              </a:rPr>
              <a:t>AGRISENSE</a:t>
            </a:r>
            <a:endParaRPr lang="en-US" sz="900" noProof="1"/>
          </a:p>
        </p:txBody>
      </p:sp>
      <p:sp>
        <p:nvSpPr>
          <p:cNvPr id="14" name="agri-text"/>
          <p:cNvSpPr txBox="1"/>
          <p:nvPr/>
        </p:nvSpPr>
        <p:spPr>
          <a:xfrm>
            <a:off x="6604000" y="2006600"/>
            <a:ext cx="4673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400" noProof="1">
                <a:solidFill>
                  <a:srgbClr val="FFFFFF"/>
                </a:solidFill>
                <a:latin typeface="MiSans"/>
                <a:ea typeface="MiSans"/>
              </a:rPr>
              <a:t>Crop X fits your soil — but what is the </a:t>
            </a: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expected profit</a:t>
            </a:r>
            <a:r>
              <a:rPr lang="en-US" sz="1400" noProof="1">
                <a:solidFill>
                  <a:srgbClr val="FFFFFF"/>
                </a:solidFill>
                <a:latin typeface="MiSans"/>
                <a:ea typeface="MiSans"/>
              </a:rPr>
              <a:t>, the </a:t>
            </a: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water requirement</a:t>
            </a:r>
            <a:r>
              <a:rPr lang="en-US" sz="1400" noProof="1">
                <a:solidFill>
                  <a:srgbClr val="FFFFFF"/>
                </a:solidFill>
                <a:latin typeface="MiSans"/>
                <a:ea typeface="MiSans"/>
              </a:rPr>
              <a:t>, the </a:t>
            </a: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risk</a:t>
            </a:r>
            <a:r>
              <a:rPr lang="en-US" sz="1400" noProof="1">
                <a:solidFill>
                  <a:srgbClr val="FFFFFF"/>
                </a:solidFill>
                <a:latin typeface="MiSans"/>
                <a:ea typeface="MiSans"/>
              </a:rPr>
              <a:t>, the </a:t>
            </a: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crop duration</a:t>
            </a:r>
            <a:r>
              <a:rPr lang="en-US" sz="1400" noProof="1">
                <a:solidFill>
                  <a:srgbClr val="FFFFFF"/>
                </a:solidFill>
                <a:latin typeface="MiSans"/>
                <a:ea typeface="MiSans"/>
              </a:rPr>
              <a:t> — and how does it behave in </a:t>
            </a: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downside scenarios</a:t>
            </a:r>
            <a:r>
              <a:rPr lang="en-US" sz="1400" noProof="1">
                <a:solidFill>
                  <a:srgbClr val="FFFFFF"/>
                </a:solidFill>
                <a:latin typeface="MiSans"/>
                <a:ea typeface="MiSans"/>
              </a:rPr>
              <a:t>?</a:t>
            </a:r>
            <a:endParaRPr lang="en-US" sz="1400" noProof="1"/>
          </a:p>
        </p:txBody>
      </p:sp>
      <p:sp>
        <p:nvSpPr>
          <p:cNvPr id="15" name="cap-label"/>
          <p:cNvSpPr txBox="1"/>
          <p:nvPr/>
        </p:nvSpPr>
        <p:spPr>
          <a:xfrm>
            <a:off x="609600" y="401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66725F"/>
                </a:solidFill>
                <a:latin typeface="MiSans"/>
                <a:ea typeface="MiSans"/>
              </a:rPr>
              <a:t>CORE CAPABILITIES</a:t>
            </a:r>
            <a:endParaRPr lang="en-US" sz="900" noProof="1"/>
          </a:p>
        </p:txBody>
      </p:sp>
      <p:sp>
        <p:nvSpPr>
          <p:cNvPr id="16" name="cap1-icon"/>
          <p:cNvSpPr/>
          <p:nvPr>
            <p:extLst>
              <p:ext uri="{F5677B7D-0D2A-4D9B-9A5C-6D8D7D0E5A5D}">
                <pptd:icon encoding="base64url">eyJpY29uTmFtZSI6ImZhczpidWxsc2V5ZSJ9</pptd:icon>
              </p:ext>
            </p:extLst>
          </p:nvPr>
        </p:nvSpPr>
        <p:spPr>
          <a:xfrm>
            <a:off x="609600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448" y="256"/>
                </a:moveTo>
                <a:cubicBezTo>
                  <a:pt x="448" y="150"/>
                  <a:pt x="362" y="64"/>
                  <a:pt x="256" y="64"/>
                </a:cubicBezTo>
                <a:cubicBezTo>
                  <a:pt x="150" y="64"/>
                  <a:pt x="64" y="150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362" y="448"/>
                  <a:pt x="448" y="362"/>
                  <a:pt x="448" y="256"/>
                </a:cubicBezTo>
                <a:close/>
              </a:path>
              <a:path w="512" h="512">
                <a:moveTo>
                  <a:pt x="256" y="112"/>
                </a:moveTo>
                <a:cubicBezTo>
                  <a:pt x="336" y="112"/>
                  <a:pt x="400" y="176"/>
                  <a:pt x="400" y="256"/>
                </a:cubicBezTo>
                <a:cubicBezTo>
                  <a:pt x="400" y="336"/>
                  <a:pt x="336" y="400"/>
                  <a:pt x="256" y="400"/>
                </a:cubicBezTo>
                <a:cubicBezTo>
                  <a:pt x="176" y="400"/>
                  <a:pt x="112" y="336"/>
                  <a:pt x="112" y="256"/>
                </a:cubicBezTo>
                <a:cubicBezTo>
                  <a:pt x="112" y="176"/>
                  <a:pt x="176" y="112"/>
                  <a:pt x="256" y="112"/>
                </a:cubicBezTo>
                <a:close/>
                <a:moveTo>
                  <a:pt x="256" y="336"/>
                </a:moveTo>
                <a:cubicBezTo>
                  <a:pt x="300" y="336"/>
                  <a:pt x="336" y="300"/>
                  <a:pt x="336" y="256"/>
                </a:cubicBezTo>
                <a:cubicBezTo>
                  <a:pt x="336" y="212"/>
                  <a:pt x="300" y="176"/>
                  <a:pt x="256" y="176"/>
                </a:cubicBezTo>
                <a:cubicBezTo>
                  <a:pt x="212" y="176"/>
                  <a:pt x="176" y="212"/>
                  <a:pt x="176" y="256"/>
                </a:cubicBezTo>
                <a:cubicBezTo>
                  <a:pt x="176" y="300"/>
                  <a:pt x="212" y="336"/>
                  <a:pt x="256" y="33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cubicBezTo>
                  <a:pt x="274" y="224"/>
                  <a:pt x="288" y="238"/>
                  <a:pt x="288" y="256"/>
                </a:cubicBezTo>
                <a:cubicBezTo>
                  <a:pt x="288" y="274"/>
                  <a:pt x="274" y="288"/>
                  <a:pt x="256" y="288"/>
                </a:cubicBezTo>
                <a:cubicBezTo>
                  <a:pt x="238" y="288"/>
                  <a:pt x="224" y="274"/>
                  <a:pt x="224" y="256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7" name="cap1-text"/>
          <p:cNvSpPr txBox="1"/>
          <p:nvPr/>
        </p:nvSpPr>
        <p:spPr>
          <a:xfrm>
            <a:off x="939800" y="43180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Crop suitability</a:t>
            </a:r>
            <a:endParaRPr lang="en-US" sz="1200" noProof="1"/>
          </a:p>
        </p:txBody>
      </p:sp>
      <p:sp>
        <p:nvSpPr>
          <p:cNvPr id="18" name="cap2-icon"/>
          <p:cNvSpPr/>
          <p:nvPr>
            <p:extLst>
              <p:ext uri="{F5677B7D-0D2A-4D9B-9A5C-6D8D7D0E5A5D}">
                <pptd:icon encoding="base64url">eyJpY29uTmFtZSI6ImZhczpjb2lucyJ9</pptd:icon>
              </p:ext>
            </p:extLst>
          </p:nvPr>
        </p:nvSpPr>
        <p:spPr>
          <a:xfrm>
            <a:off x="3352800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96"/>
                </a:moveTo>
                <a:lnTo>
                  <a:pt x="128" y="80"/>
                </a:lnTo>
                <a:cubicBezTo>
                  <a:pt x="128" y="36"/>
                  <a:pt x="214" y="0"/>
                  <a:pt x="320" y="0"/>
                </a:cubicBezTo>
                <a:cubicBezTo>
                  <a:pt x="426" y="0"/>
                  <a:pt x="512" y="36"/>
                  <a:pt x="512" y="80"/>
                </a:cubicBezTo>
                <a:lnTo>
                  <a:pt x="512" y="96"/>
                </a:lnTo>
                <a:cubicBezTo>
                  <a:pt x="512" y="127"/>
                  <a:pt x="471" y="153"/>
                  <a:pt x="410" y="167"/>
                </a:cubicBezTo>
                <a:cubicBezTo>
                  <a:pt x="408" y="164"/>
                  <a:pt x="405" y="161"/>
                  <a:pt x="403" y="159"/>
                </a:cubicBezTo>
                <a:cubicBezTo>
                  <a:pt x="387" y="143"/>
                  <a:pt x="367" y="132"/>
                  <a:pt x="346" y="123"/>
                </a:cubicBezTo>
                <a:cubicBezTo>
                  <a:pt x="304" y="106"/>
                  <a:pt x="250" y="96"/>
                  <a:pt x="192" y="96"/>
                </a:cubicBezTo>
                <a:cubicBezTo>
                  <a:pt x="170" y="96"/>
                  <a:pt x="149" y="98"/>
                  <a:pt x="128" y="100"/>
                </a:cubicBezTo>
                <a:cubicBezTo>
                  <a:pt x="128" y="99"/>
                  <a:pt x="128" y="97"/>
                  <a:pt x="128" y="96"/>
                </a:cubicBezTo>
                <a:close/>
              </a:path>
              <a:path w="512" h="512">
                <a:moveTo>
                  <a:pt x="432" y="353"/>
                </a:moveTo>
                <a:lnTo>
                  <a:pt x="432" y="307"/>
                </a:lnTo>
                <a:cubicBezTo>
                  <a:pt x="447" y="303"/>
                  <a:pt x="461" y="298"/>
                  <a:pt x="474" y="293"/>
                </a:cubicBezTo>
                <a:cubicBezTo>
                  <a:pt x="487" y="287"/>
                  <a:pt x="500" y="281"/>
                  <a:pt x="512" y="273"/>
                </a:cubicBezTo>
                <a:lnTo>
                  <a:pt x="512" y="288"/>
                </a:lnTo>
                <a:cubicBezTo>
                  <a:pt x="512" y="315"/>
                  <a:pt x="481" y="339"/>
                  <a:pt x="432" y="353"/>
                </a:cubicBezTo>
                <a:close/>
              </a:path>
              <a:path w="512" h="512">
                <a:moveTo>
                  <a:pt x="432" y="257"/>
                </a:moveTo>
                <a:lnTo>
                  <a:pt x="432" y="224"/>
                </a:lnTo>
                <a:cubicBezTo>
                  <a:pt x="432" y="220"/>
                  <a:pt x="432" y="215"/>
                  <a:pt x="431" y="211"/>
                </a:cubicBezTo>
                <a:cubicBezTo>
                  <a:pt x="447" y="207"/>
                  <a:pt x="461" y="202"/>
                  <a:pt x="474" y="197"/>
                </a:cubicBezTo>
                <a:cubicBezTo>
                  <a:pt x="487" y="191"/>
                  <a:pt x="500" y="185"/>
                  <a:pt x="512" y="177"/>
                </a:cubicBezTo>
                <a:lnTo>
                  <a:pt x="512" y="192"/>
                </a:lnTo>
                <a:cubicBezTo>
                  <a:pt x="512" y="219"/>
                  <a:pt x="481" y="242"/>
                  <a:pt x="432" y="257"/>
                </a:cubicBezTo>
                <a:close/>
              </a:path>
              <a:path w="512" h="512">
                <a:moveTo>
                  <a:pt x="0" y="240"/>
                </a:moveTo>
                <a:lnTo>
                  <a:pt x="0" y="224"/>
                </a:lnTo>
                <a:cubicBezTo>
                  <a:pt x="0" y="180"/>
                  <a:pt x="86" y="144"/>
                  <a:pt x="192" y="144"/>
                </a:cubicBezTo>
                <a:cubicBezTo>
                  <a:pt x="298" y="144"/>
                  <a:pt x="384" y="180"/>
                  <a:pt x="384" y="224"/>
                </a:cubicBezTo>
                <a:lnTo>
                  <a:pt x="384" y="240"/>
                </a:lnTo>
                <a:cubicBezTo>
                  <a:pt x="384" y="284"/>
                  <a:pt x="298" y="320"/>
                  <a:pt x="192" y="320"/>
                </a:cubicBezTo>
                <a:cubicBezTo>
                  <a:pt x="86" y="320"/>
                  <a:pt x="0" y="284"/>
                  <a:pt x="0" y="240"/>
                </a:cubicBezTo>
                <a:close/>
              </a:path>
              <a:path w="512" h="512">
                <a:moveTo>
                  <a:pt x="384" y="336"/>
                </a:moveTo>
                <a:cubicBezTo>
                  <a:pt x="384" y="380"/>
                  <a:pt x="298" y="416"/>
                  <a:pt x="192" y="416"/>
                </a:cubicBezTo>
                <a:cubicBezTo>
                  <a:pt x="86" y="416"/>
                  <a:pt x="0" y="380"/>
                  <a:pt x="0" y="336"/>
                </a:cubicBezTo>
                <a:lnTo>
                  <a:pt x="0" y="321"/>
                </a:lnTo>
                <a:cubicBezTo>
                  <a:pt x="12" y="329"/>
                  <a:pt x="25" y="335"/>
                  <a:pt x="38" y="341"/>
                </a:cubicBezTo>
                <a:cubicBezTo>
                  <a:pt x="80" y="358"/>
                  <a:pt x="134" y="368"/>
                  <a:pt x="192" y="368"/>
                </a:cubicBezTo>
                <a:cubicBezTo>
                  <a:pt x="250" y="368"/>
                  <a:pt x="304" y="358"/>
                  <a:pt x="346" y="341"/>
                </a:cubicBezTo>
                <a:cubicBezTo>
                  <a:pt x="359" y="335"/>
                  <a:pt x="372" y="329"/>
                  <a:pt x="384" y="321"/>
                </a:cubicBezTo>
                <a:lnTo>
                  <a:pt x="384" y="336"/>
                </a:lnTo>
                <a:close/>
              </a:path>
              <a:path w="512" h="512">
                <a:moveTo>
                  <a:pt x="384" y="417"/>
                </a:moveTo>
                <a:lnTo>
                  <a:pt x="384" y="432"/>
                </a:lnTo>
                <a:cubicBezTo>
                  <a:pt x="384" y="476"/>
                  <a:pt x="298" y="512"/>
                  <a:pt x="192" y="512"/>
                </a:cubicBezTo>
                <a:cubicBezTo>
                  <a:pt x="86" y="512"/>
                  <a:pt x="0" y="476"/>
                  <a:pt x="0" y="432"/>
                </a:cubicBezTo>
                <a:lnTo>
                  <a:pt x="0" y="417"/>
                </a:lnTo>
                <a:cubicBezTo>
                  <a:pt x="12" y="425"/>
                  <a:pt x="25" y="431"/>
                  <a:pt x="38" y="437"/>
                </a:cubicBezTo>
                <a:cubicBezTo>
                  <a:pt x="80" y="454"/>
                  <a:pt x="134" y="464"/>
                  <a:pt x="192" y="464"/>
                </a:cubicBezTo>
                <a:cubicBezTo>
                  <a:pt x="250" y="464"/>
                  <a:pt x="304" y="454"/>
                  <a:pt x="346" y="437"/>
                </a:cubicBezTo>
                <a:cubicBezTo>
                  <a:pt x="359" y="431"/>
                  <a:pt x="372" y="425"/>
                  <a:pt x="384" y="417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9" name="cap2-text"/>
          <p:cNvSpPr txBox="1"/>
          <p:nvPr/>
        </p:nvSpPr>
        <p:spPr>
          <a:xfrm>
            <a:off x="3683000" y="43180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Profit estimation</a:t>
            </a:r>
            <a:endParaRPr lang="en-US" sz="1200" noProof="1"/>
          </a:p>
        </p:txBody>
      </p:sp>
      <p:sp>
        <p:nvSpPr>
          <p:cNvPr id="20" name="cap3-icon"/>
          <p:cNvSpPr/>
          <p:nvPr>
            <p:extLst>
              <p:ext uri="{F5677B7D-0D2A-4D9B-9A5C-6D8D7D0E5A5D}">
                <pptd:icon encoding="base64url">eyJpY29uTmFtZSI6ImZhczpwZXJjZW50In0</pptd:icon>
              </p:ext>
            </p:extLst>
          </p:nvPr>
        </p:nvSpPr>
        <p:spPr>
          <a:xfrm>
            <a:off x="6096000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92" y="128"/>
                </a:moveTo>
                <a:cubicBezTo>
                  <a:pt x="192" y="75"/>
                  <a:pt x="149" y="32"/>
                  <a:pt x="96" y="32"/>
                </a:cubicBezTo>
                <a:cubicBezTo>
                  <a:pt x="43" y="32"/>
                  <a:pt x="0" y="75"/>
                  <a:pt x="0" y="128"/>
                </a:cubicBezTo>
                <a:cubicBezTo>
                  <a:pt x="0" y="181"/>
                  <a:pt x="43" y="224"/>
                  <a:pt x="96" y="224"/>
                </a:cubicBezTo>
                <a:cubicBezTo>
                  <a:pt x="149" y="224"/>
                  <a:pt x="192" y="181"/>
                  <a:pt x="192" y="128"/>
                </a:cubicBezTo>
                <a:close/>
              </a:path>
              <a:path w="448" h="512">
                <a:moveTo>
                  <a:pt x="448" y="384"/>
                </a:moveTo>
                <a:cubicBezTo>
                  <a:pt x="448" y="331"/>
                  <a:pt x="405" y="288"/>
                  <a:pt x="352" y="288"/>
                </a:cubicBezTo>
                <a:cubicBezTo>
                  <a:pt x="299" y="288"/>
                  <a:pt x="256" y="331"/>
                  <a:pt x="256" y="384"/>
                </a:cubicBezTo>
                <a:cubicBezTo>
                  <a:pt x="256" y="437"/>
                  <a:pt x="299" y="480"/>
                  <a:pt x="352" y="480"/>
                </a:cubicBezTo>
                <a:cubicBezTo>
                  <a:pt x="405" y="480"/>
                  <a:pt x="448" y="437"/>
                  <a:pt x="448" y="384"/>
                </a:cubicBezTo>
                <a:close/>
              </a:path>
              <a:path w="448" h="512">
                <a:moveTo>
                  <a:pt x="439" y="87"/>
                </a:moveTo>
                <a:cubicBezTo>
                  <a:pt x="451" y="74"/>
                  <a:pt x="451" y="54"/>
                  <a:pt x="439" y="41"/>
                </a:cubicBezTo>
                <a:cubicBezTo>
                  <a:pt x="426" y="29"/>
                  <a:pt x="406" y="29"/>
                  <a:pt x="393" y="41"/>
                </a:cubicBezTo>
                <a:lnTo>
                  <a:pt x="9" y="425"/>
                </a:lnTo>
                <a:cubicBezTo>
                  <a:pt x="-3" y="438"/>
                  <a:pt x="-3" y="458"/>
                  <a:pt x="9" y="471"/>
                </a:cubicBezTo>
                <a:cubicBezTo>
                  <a:pt x="22" y="483"/>
                  <a:pt x="42" y="483"/>
                  <a:pt x="55" y="471"/>
                </a:cubicBezTo>
                <a:lnTo>
                  <a:pt x="439" y="87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1" name="cap3-text"/>
          <p:cNvSpPr txBox="1"/>
          <p:nvPr/>
        </p:nvSpPr>
        <p:spPr>
          <a:xfrm>
            <a:off x="6426200" y="43180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ROI</a:t>
            </a:r>
            <a:endParaRPr lang="en-US" sz="1200" noProof="1"/>
          </a:p>
        </p:txBody>
      </p:sp>
      <p:sp>
        <p:nvSpPr>
          <p:cNvPr id="22" name="cap4-icon"/>
          <p:cNvSpPr/>
          <p:nvPr>
            <p:extLst>
              <p:ext uri="{F5677B7D-0D2A-4D9B-9A5C-6D8D7D0E5A5D}">
                <pptd:icon encoding="base64url">eyJpY29uTmFtZSI6ImZhczpzaGllbGQtaGFsdmVkIn0</pptd:icon>
              </p:ext>
            </p:extLst>
          </p:nvPr>
        </p:nvSpPr>
        <p:spPr>
          <a:xfrm>
            <a:off x="8839200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3" name="cap4-text"/>
          <p:cNvSpPr txBox="1"/>
          <p:nvPr/>
        </p:nvSpPr>
        <p:spPr>
          <a:xfrm>
            <a:off x="9169400" y="43180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Risk analysis</a:t>
            </a:r>
            <a:endParaRPr lang="en-US" sz="1200" noProof="1"/>
          </a:p>
        </p:txBody>
      </p:sp>
      <p:sp>
        <p:nvSpPr>
          <p:cNvPr id="24" name="cap5-icon"/>
          <p:cNvSpPr/>
          <p:nvPr>
            <p:extLst>
              <p:ext uri="{F5677B7D-0D2A-4D9B-9A5C-6D8D7D0E5A5D}">
                <pptd:icon encoding="base64url">eyJpY29uTmFtZSI6ImZhczpkcm9wbGV0In0</pptd:icon>
              </p:ext>
            </p:extLst>
          </p:nvPr>
        </p:nvSpPr>
        <p:spPr>
          <a:xfrm>
            <a:off x="609600" y="4876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92" y="512"/>
                </a:moveTo>
                <a:cubicBezTo>
                  <a:pt x="86" y="512"/>
                  <a:pt x="0" y="426"/>
                  <a:pt x="0" y="320"/>
                </a:cubicBezTo>
                <a:cubicBezTo>
                  <a:pt x="0" y="229"/>
                  <a:pt x="130" y="46"/>
                  <a:pt x="167" y="-3"/>
                </a:cubicBezTo>
                <a:cubicBezTo>
                  <a:pt x="173" y="-11"/>
                  <a:pt x="182" y="-16"/>
                  <a:pt x="192" y="-16"/>
                </a:cubicBezTo>
                <a:lnTo>
                  <a:pt x="192" y="-16"/>
                </a:lnTo>
                <a:cubicBezTo>
                  <a:pt x="202" y="-16"/>
                  <a:pt x="212" y="-11"/>
                  <a:pt x="217" y="-3"/>
                </a:cubicBezTo>
                <a:cubicBezTo>
                  <a:pt x="254" y="46"/>
                  <a:pt x="384" y="229"/>
                  <a:pt x="384" y="320"/>
                </a:cubicBezTo>
                <a:cubicBezTo>
                  <a:pt x="384" y="426"/>
                  <a:pt x="298" y="512"/>
                  <a:pt x="192" y="512"/>
                </a:cubicBezTo>
                <a:close/>
                <a:moveTo>
                  <a:pt x="112" y="312"/>
                </a:moveTo>
                <a:cubicBezTo>
                  <a:pt x="112" y="299"/>
                  <a:pt x="101" y="288"/>
                  <a:pt x="88" y="288"/>
                </a:cubicBezTo>
                <a:cubicBezTo>
                  <a:pt x="75" y="288"/>
                  <a:pt x="64" y="299"/>
                  <a:pt x="64" y="312"/>
                </a:cubicBezTo>
                <a:cubicBezTo>
                  <a:pt x="64" y="387"/>
                  <a:pt x="125" y="448"/>
                  <a:pt x="200" y="448"/>
                </a:cubicBezTo>
                <a:cubicBezTo>
                  <a:pt x="213" y="448"/>
                  <a:pt x="224" y="437"/>
                  <a:pt x="224" y="424"/>
                </a:cubicBezTo>
                <a:cubicBezTo>
                  <a:pt x="224" y="411"/>
                  <a:pt x="213" y="400"/>
                  <a:pt x="200" y="400"/>
                </a:cubicBezTo>
                <a:cubicBezTo>
                  <a:pt x="151" y="400"/>
                  <a:pt x="112" y="361"/>
                  <a:pt x="112" y="312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5" name="cap5-text"/>
          <p:cNvSpPr txBox="1"/>
          <p:nvPr/>
        </p:nvSpPr>
        <p:spPr>
          <a:xfrm>
            <a:off x="939800" y="48514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Water requirement</a:t>
            </a:r>
            <a:endParaRPr lang="en-US" sz="1200" noProof="1"/>
          </a:p>
        </p:txBody>
      </p:sp>
      <p:sp>
        <p:nvSpPr>
          <p:cNvPr id="26" name="cap6-icon"/>
          <p:cNvSpPr/>
          <p:nvPr>
            <p:extLst>
              <p:ext uri="{F5677B7D-0D2A-4D9B-9A5C-6D8D7D0E5A5D}">
                <pptd:icon encoding="base64url">eyJpY29uTmFtZSI6ImZhczpzY2FsZS1iYWxhbmNlZCJ9</pptd:icon>
              </p:ext>
            </p:extLst>
          </p:nvPr>
        </p:nvSpPr>
        <p:spPr>
          <a:xfrm>
            <a:off x="3352800" y="4876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84" y="32"/>
                </a:moveTo>
                <a:lnTo>
                  <a:pt x="512" y="32"/>
                </a:lnTo>
                <a:cubicBezTo>
                  <a:pt x="530" y="32"/>
                  <a:pt x="544" y="46"/>
                  <a:pt x="544" y="64"/>
                </a:cubicBezTo>
                <a:cubicBezTo>
                  <a:pt x="544" y="82"/>
                  <a:pt x="530" y="96"/>
                  <a:pt x="512" y="96"/>
                </a:cubicBezTo>
                <a:lnTo>
                  <a:pt x="398" y="96"/>
                </a:lnTo>
                <a:cubicBezTo>
                  <a:pt x="393" y="122"/>
                  <a:pt x="376" y="143"/>
                  <a:pt x="352" y="153"/>
                </a:cubicBezTo>
                <a:lnTo>
                  <a:pt x="352" y="448"/>
                </a:lnTo>
                <a:lnTo>
                  <a:pt x="512" y="448"/>
                </a:lnTo>
                <a:cubicBezTo>
                  <a:pt x="530" y="448"/>
                  <a:pt x="544" y="462"/>
                  <a:pt x="544" y="480"/>
                </a:cubicBezTo>
                <a:cubicBezTo>
                  <a:pt x="544" y="498"/>
                  <a:pt x="530" y="512"/>
                  <a:pt x="512" y="512"/>
                </a:cubicBezTo>
                <a:lnTo>
                  <a:pt x="128" y="512"/>
                </a:lnTo>
                <a:cubicBezTo>
                  <a:pt x="110" y="512"/>
                  <a:pt x="96" y="498"/>
                  <a:pt x="96" y="480"/>
                </a:cubicBezTo>
                <a:cubicBezTo>
                  <a:pt x="96" y="462"/>
                  <a:pt x="110" y="448"/>
                  <a:pt x="128" y="448"/>
                </a:cubicBezTo>
                <a:lnTo>
                  <a:pt x="288" y="448"/>
                </a:lnTo>
                <a:lnTo>
                  <a:pt x="288" y="153"/>
                </a:lnTo>
                <a:cubicBezTo>
                  <a:pt x="265" y="143"/>
                  <a:pt x="247" y="122"/>
                  <a:pt x="242" y="96"/>
                </a:cubicBezTo>
                <a:lnTo>
                  <a:pt x="128" y="96"/>
                </a:lnTo>
                <a:cubicBezTo>
                  <a:pt x="110" y="96"/>
                  <a:pt x="96" y="82"/>
                  <a:pt x="96" y="64"/>
                </a:cubicBezTo>
                <a:cubicBezTo>
                  <a:pt x="96" y="46"/>
                  <a:pt x="110" y="32"/>
                  <a:pt x="128" y="32"/>
                </a:cubicBezTo>
                <a:lnTo>
                  <a:pt x="256" y="32"/>
                </a:lnTo>
                <a:cubicBezTo>
                  <a:pt x="271" y="13"/>
                  <a:pt x="294" y="0"/>
                  <a:pt x="320" y="0"/>
                </a:cubicBezTo>
                <a:cubicBezTo>
                  <a:pt x="346" y="0"/>
                  <a:pt x="369" y="13"/>
                  <a:pt x="384" y="32"/>
                </a:cubicBezTo>
                <a:close/>
              </a:path>
              <a:path w="640" h="512">
                <a:moveTo>
                  <a:pt x="512" y="416"/>
                </a:moveTo>
                <a:cubicBezTo>
                  <a:pt x="449" y="416"/>
                  <a:pt x="397" y="382"/>
                  <a:pt x="386" y="337"/>
                </a:cubicBezTo>
                <a:cubicBezTo>
                  <a:pt x="383" y="326"/>
                  <a:pt x="387" y="315"/>
                  <a:pt x="393" y="305"/>
                </a:cubicBezTo>
                <a:lnTo>
                  <a:pt x="488" y="142"/>
                </a:lnTo>
                <a:cubicBezTo>
                  <a:pt x="493" y="133"/>
                  <a:pt x="502" y="128"/>
                  <a:pt x="512" y="128"/>
                </a:cubicBezTo>
                <a:cubicBezTo>
                  <a:pt x="522" y="128"/>
                  <a:pt x="531" y="133"/>
                  <a:pt x="536" y="142"/>
                </a:cubicBezTo>
                <a:lnTo>
                  <a:pt x="631" y="305"/>
                </a:lnTo>
                <a:cubicBezTo>
                  <a:pt x="637" y="315"/>
                  <a:pt x="641" y="326"/>
                  <a:pt x="638" y="337"/>
                </a:cubicBezTo>
                <a:cubicBezTo>
                  <a:pt x="627" y="382"/>
                  <a:pt x="575" y="416"/>
                  <a:pt x="512" y="416"/>
                </a:cubicBezTo>
                <a:close/>
                <a:moveTo>
                  <a:pt x="440" y="320"/>
                </a:moveTo>
                <a:lnTo>
                  <a:pt x="584" y="320"/>
                </a:lnTo>
                <a:lnTo>
                  <a:pt x="512" y="196"/>
                </a:lnTo>
                <a:lnTo>
                  <a:pt x="440" y="320"/>
                </a:lnTo>
                <a:close/>
              </a:path>
              <a:path w="640" h="512">
                <a:moveTo>
                  <a:pt x="1" y="337"/>
                </a:moveTo>
                <a:cubicBezTo>
                  <a:pt x="-2" y="326"/>
                  <a:pt x="2" y="315"/>
                  <a:pt x="8" y="305"/>
                </a:cubicBezTo>
                <a:lnTo>
                  <a:pt x="103" y="142"/>
                </a:lnTo>
                <a:cubicBezTo>
                  <a:pt x="108" y="133"/>
                  <a:pt x="117" y="128"/>
                  <a:pt x="127" y="128"/>
                </a:cubicBezTo>
                <a:cubicBezTo>
                  <a:pt x="137" y="128"/>
                  <a:pt x="146" y="133"/>
                  <a:pt x="151" y="142"/>
                </a:cubicBezTo>
                <a:lnTo>
                  <a:pt x="246" y="305"/>
                </a:lnTo>
                <a:cubicBezTo>
                  <a:pt x="252" y="315"/>
                  <a:pt x="256" y="326"/>
                  <a:pt x="253" y="337"/>
                </a:cubicBezTo>
                <a:cubicBezTo>
                  <a:pt x="242" y="382"/>
                  <a:pt x="190" y="416"/>
                  <a:pt x="127" y="416"/>
                </a:cubicBezTo>
                <a:cubicBezTo>
                  <a:pt x="64" y="416"/>
                  <a:pt x="12" y="382"/>
                  <a:pt x="1" y="337"/>
                </a:cubicBezTo>
                <a:close/>
                <a:moveTo>
                  <a:pt x="127" y="196"/>
                </a:moveTo>
                <a:lnTo>
                  <a:pt x="54" y="320"/>
                </a:lnTo>
                <a:lnTo>
                  <a:pt x="199" y="320"/>
                </a:lnTo>
                <a:lnTo>
                  <a:pt x="127" y="196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7" name="cap6-text"/>
          <p:cNvSpPr txBox="1"/>
          <p:nvPr/>
        </p:nvSpPr>
        <p:spPr>
          <a:xfrm>
            <a:off x="3683000" y="48514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Crop comparison</a:t>
            </a:r>
            <a:endParaRPr lang="en-US" sz="1200" noProof="1"/>
          </a:p>
        </p:txBody>
      </p:sp>
      <p:sp>
        <p:nvSpPr>
          <p:cNvPr id="28" name="cap7-icon"/>
          <p:cNvSpPr/>
          <p:nvPr>
            <p:extLst>
              <p:ext uri="{F5677B7D-0D2A-4D9B-9A5C-6D8D7D0E5A5D}">
                <pptd:icon encoding="base64url">eyJpY29uTmFtZSI6ImZhczpzbGlkZXJzIn0</pptd:icon>
              </p:ext>
            </p:extLst>
          </p:nvPr>
        </p:nvSpPr>
        <p:spPr>
          <a:xfrm>
            <a:off x="6096000" y="4876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64"/>
                </a:moveTo>
                <a:cubicBezTo>
                  <a:pt x="14" y="64"/>
                  <a:pt x="0" y="78"/>
                  <a:pt x="0" y="96"/>
                </a:cubicBezTo>
                <a:cubicBezTo>
                  <a:pt x="0" y="114"/>
                  <a:pt x="14" y="128"/>
                  <a:pt x="32" y="128"/>
                </a:cubicBezTo>
                <a:lnTo>
                  <a:pt x="119" y="128"/>
                </a:lnTo>
                <a:cubicBezTo>
                  <a:pt x="131" y="156"/>
                  <a:pt x="159" y="176"/>
                  <a:pt x="192" y="176"/>
                </a:cubicBezTo>
                <a:cubicBezTo>
                  <a:pt x="225" y="176"/>
                  <a:pt x="253" y="156"/>
                  <a:pt x="265" y="128"/>
                </a:cubicBezTo>
                <a:lnTo>
                  <a:pt x="480" y="128"/>
                </a:lnTo>
                <a:cubicBezTo>
                  <a:pt x="498" y="128"/>
                  <a:pt x="512" y="114"/>
                  <a:pt x="512" y="96"/>
                </a:cubicBezTo>
                <a:cubicBezTo>
                  <a:pt x="512" y="78"/>
                  <a:pt x="498" y="64"/>
                  <a:pt x="480" y="64"/>
                </a:cubicBezTo>
                <a:lnTo>
                  <a:pt x="265" y="64"/>
                </a:lnTo>
                <a:cubicBezTo>
                  <a:pt x="253" y="36"/>
                  <a:pt x="225" y="16"/>
                  <a:pt x="192" y="16"/>
                </a:cubicBezTo>
                <a:cubicBezTo>
                  <a:pt x="159" y="16"/>
                  <a:pt x="131" y="36"/>
                  <a:pt x="119" y="64"/>
                </a:cubicBezTo>
                <a:lnTo>
                  <a:pt x="32" y="64"/>
                </a:lnTo>
                <a:close/>
              </a:path>
              <a:path w="512" h="512">
                <a:moveTo>
                  <a:pt x="32" y="224"/>
                </a:move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279" y="288"/>
                </a:lnTo>
                <a:cubicBezTo>
                  <a:pt x="291" y="316"/>
                  <a:pt x="319" y="336"/>
                  <a:pt x="352" y="336"/>
                </a:cubicBezTo>
                <a:cubicBezTo>
                  <a:pt x="385" y="336"/>
                  <a:pt x="413" y="316"/>
                  <a:pt x="425" y="288"/>
                </a:cubicBezTo>
                <a:lnTo>
                  <a:pt x="480" y="288"/>
                </a:lnTo>
                <a:cubicBezTo>
                  <a:pt x="498" y="288"/>
                  <a:pt x="512" y="274"/>
                  <a:pt x="512" y="256"/>
                </a:cubicBezTo>
                <a:cubicBezTo>
                  <a:pt x="512" y="238"/>
                  <a:pt x="498" y="224"/>
                  <a:pt x="480" y="224"/>
                </a:cubicBezTo>
                <a:lnTo>
                  <a:pt x="425" y="224"/>
                </a:lnTo>
                <a:cubicBezTo>
                  <a:pt x="413" y="196"/>
                  <a:pt x="385" y="176"/>
                  <a:pt x="352" y="176"/>
                </a:cubicBezTo>
                <a:cubicBezTo>
                  <a:pt x="319" y="176"/>
                  <a:pt x="291" y="196"/>
                  <a:pt x="279" y="224"/>
                </a:cubicBezTo>
                <a:lnTo>
                  <a:pt x="32" y="224"/>
                </a:lnTo>
                <a:close/>
              </a:path>
              <a:path w="512" h="512">
                <a:moveTo>
                  <a:pt x="32" y="384"/>
                </a:moveTo>
                <a:cubicBezTo>
                  <a:pt x="14" y="384"/>
                  <a:pt x="0" y="398"/>
                  <a:pt x="0" y="416"/>
                </a:cubicBezTo>
                <a:cubicBezTo>
                  <a:pt x="0" y="434"/>
                  <a:pt x="14" y="448"/>
                  <a:pt x="32" y="448"/>
                </a:cubicBezTo>
                <a:lnTo>
                  <a:pt x="87" y="448"/>
                </a:lnTo>
                <a:cubicBezTo>
                  <a:pt x="99" y="476"/>
                  <a:pt x="127" y="496"/>
                  <a:pt x="160" y="496"/>
                </a:cubicBezTo>
                <a:cubicBezTo>
                  <a:pt x="193" y="496"/>
                  <a:pt x="221" y="476"/>
                  <a:pt x="233" y="448"/>
                </a:cubicBezTo>
                <a:lnTo>
                  <a:pt x="480" y="448"/>
                </a:lnTo>
                <a:cubicBezTo>
                  <a:pt x="498" y="448"/>
                  <a:pt x="512" y="434"/>
                  <a:pt x="512" y="416"/>
                </a:cubicBezTo>
                <a:cubicBezTo>
                  <a:pt x="512" y="398"/>
                  <a:pt x="498" y="384"/>
                  <a:pt x="480" y="384"/>
                </a:cubicBezTo>
                <a:lnTo>
                  <a:pt x="233" y="384"/>
                </a:lnTo>
                <a:cubicBezTo>
                  <a:pt x="221" y="356"/>
                  <a:pt x="193" y="336"/>
                  <a:pt x="160" y="336"/>
                </a:cubicBezTo>
                <a:cubicBezTo>
                  <a:pt x="127" y="336"/>
                  <a:pt x="99" y="356"/>
                  <a:pt x="87" y="384"/>
                </a:cubicBezTo>
                <a:lnTo>
                  <a:pt x="32" y="384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9" name="cap7-text"/>
          <p:cNvSpPr txBox="1"/>
          <p:nvPr/>
        </p:nvSpPr>
        <p:spPr>
          <a:xfrm>
            <a:off x="6426200" y="48514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What-if simulation</a:t>
            </a:r>
            <a:endParaRPr lang="en-US" sz="1200" noProof="1"/>
          </a:p>
        </p:txBody>
      </p:sp>
      <p:sp>
        <p:nvSpPr>
          <p:cNvPr id="30" name="cap8-icon"/>
          <p:cNvSpPr/>
          <p:nvPr>
            <p:extLst>
              <p:ext uri="{F5677B7D-0D2A-4D9B-9A5C-6D8D7D0E5A5D}">
                <pptd:icon encoding="base64url">eyJpY29uTmFtZSI6ImZhczpyb3V0ZSJ9</pptd:icon>
              </p:ext>
            </p:extLst>
          </p:nvPr>
        </p:nvSpPr>
        <p:spPr>
          <a:xfrm>
            <a:off x="8839200" y="4876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96"/>
                </a:moveTo>
                <a:cubicBezTo>
                  <a:pt x="512" y="146"/>
                  <a:pt x="453" y="221"/>
                  <a:pt x="427" y="251"/>
                </a:cubicBezTo>
                <a:cubicBezTo>
                  <a:pt x="424" y="255"/>
                  <a:pt x="418" y="257"/>
                  <a:pt x="413" y="256"/>
                </a:cubicBezTo>
                <a:lnTo>
                  <a:pt x="320" y="256"/>
                </a:lnTo>
                <a:cubicBezTo>
                  <a:pt x="302" y="256"/>
                  <a:pt x="288" y="270"/>
                  <a:pt x="288" y="288"/>
                </a:cubicBezTo>
                <a:cubicBezTo>
                  <a:pt x="288" y="306"/>
                  <a:pt x="302" y="320"/>
                  <a:pt x="320" y="320"/>
                </a:cubicBezTo>
                <a:lnTo>
                  <a:pt x="416" y="320"/>
                </a:lnTo>
                <a:cubicBezTo>
                  <a:pt x="469" y="320"/>
                  <a:pt x="512" y="363"/>
                  <a:pt x="512" y="416"/>
                </a:cubicBezTo>
                <a:cubicBezTo>
                  <a:pt x="512" y="469"/>
                  <a:pt x="469" y="512"/>
                  <a:pt x="416" y="512"/>
                </a:cubicBezTo>
                <a:lnTo>
                  <a:pt x="140" y="512"/>
                </a:lnTo>
                <a:cubicBezTo>
                  <a:pt x="148" y="502"/>
                  <a:pt x="159" y="489"/>
                  <a:pt x="170" y="475"/>
                </a:cubicBezTo>
                <a:cubicBezTo>
                  <a:pt x="176" y="467"/>
                  <a:pt x="182" y="458"/>
                  <a:pt x="189" y="448"/>
                </a:cubicBezTo>
                <a:lnTo>
                  <a:pt x="416" y="448"/>
                </a:lnTo>
                <a:cubicBezTo>
                  <a:pt x="434" y="448"/>
                  <a:pt x="448" y="434"/>
                  <a:pt x="448" y="416"/>
                </a:cubicBezTo>
                <a:cubicBezTo>
                  <a:pt x="448" y="398"/>
                  <a:pt x="434" y="384"/>
                  <a:pt x="416" y="384"/>
                </a:cubicBezTo>
                <a:lnTo>
                  <a:pt x="320" y="384"/>
                </a:lnTo>
                <a:cubicBezTo>
                  <a:pt x="267" y="384"/>
                  <a:pt x="224" y="341"/>
                  <a:pt x="224" y="288"/>
                </a:cubicBezTo>
                <a:cubicBezTo>
                  <a:pt x="224" y="235"/>
                  <a:pt x="267" y="192"/>
                  <a:pt x="320" y="192"/>
                </a:cubicBezTo>
                <a:lnTo>
                  <a:pt x="360" y="192"/>
                </a:lnTo>
                <a:cubicBezTo>
                  <a:pt x="339" y="161"/>
                  <a:pt x="320" y="124"/>
                  <a:pt x="320" y="96"/>
                </a:cubicBezTo>
                <a:cubicBezTo>
                  <a:pt x="320" y="43"/>
                  <a:pt x="363" y="0"/>
                  <a:pt x="416" y="0"/>
                </a:cubicBezTo>
                <a:cubicBezTo>
                  <a:pt x="469" y="0"/>
                  <a:pt x="512" y="43"/>
                  <a:pt x="512" y="96"/>
                </a:cubicBezTo>
                <a:close/>
                <a:moveTo>
                  <a:pt x="416" y="128"/>
                </a:moveTo>
                <a:cubicBezTo>
                  <a:pt x="434" y="128"/>
                  <a:pt x="448" y="114"/>
                  <a:pt x="448" y="96"/>
                </a:cubicBezTo>
                <a:cubicBezTo>
                  <a:pt x="448" y="78"/>
                  <a:pt x="434" y="64"/>
                  <a:pt x="416" y="64"/>
                </a:cubicBezTo>
                <a:cubicBezTo>
                  <a:pt x="398" y="64"/>
                  <a:pt x="384" y="78"/>
                  <a:pt x="384" y="96"/>
                </a:cubicBezTo>
                <a:cubicBezTo>
                  <a:pt x="384" y="114"/>
                  <a:pt x="398" y="128"/>
                  <a:pt x="416" y="128"/>
                </a:cubicBezTo>
                <a:close/>
              </a:path>
              <a:path w="512" h="512">
                <a:moveTo>
                  <a:pt x="117" y="489"/>
                </a:moveTo>
                <a:cubicBezTo>
                  <a:pt x="113" y="493"/>
                  <a:pt x="110" y="497"/>
                  <a:pt x="107" y="500"/>
                </a:cubicBezTo>
                <a:lnTo>
                  <a:pt x="105" y="502"/>
                </a:lnTo>
                <a:lnTo>
                  <a:pt x="105" y="502"/>
                </a:lnTo>
                <a:cubicBezTo>
                  <a:pt x="99" y="507"/>
                  <a:pt x="90" y="506"/>
                  <a:pt x="85" y="500"/>
                </a:cubicBezTo>
                <a:cubicBezTo>
                  <a:pt x="60" y="473"/>
                  <a:pt x="0" y="403"/>
                  <a:pt x="0" y="352"/>
                </a:cubicBezTo>
                <a:cubicBezTo>
                  <a:pt x="0" y="299"/>
                  <a:pt x="43" y="256"/>
                  <a:pt x="96" y="256"/>
                </a:cubicBezTo>
                <a:cubicBezTo>
                  <a:pt x="149" y="256"/>
                  <a:pt x="192" y="299"/>
                  <a:pt x="192" y="352"/>
                </a:cubicBezTo>
                <a:cubicBezTo>
                  <a:pt x="192" y="382"/>
                  <a:pt x="171" y="419"/>
                  <a:pt x="149" y="450"/>
                </a:cubicBezTo>
                <a:cubicBezTo>
                  <a:pt x="138" y="465"/>
                  <a:pt x="127" y="478"/>
                  <a:pt x="118" y="488"/>
                </a:cubicBezTo>
                <a:lnTo>
                  <a:pt x="117" y="489"/>
                </a:lnTo>
                <a:close/>
                <a:moveTo>
                  <a:pt x="128" y="352"/>
                </a:moveTo>
                <a:cubicBezTo>
                  <a:pt x="128" y="334"/>
                  <a:pt x="114" y="320"/>
                  <a:pt x="96" y="320"/>
                </a:cubicBezTo>
                <a:cubicBezTo>
                  <a:pt x="78" y="320"/>
                  <a:pt x="64" y="334"/>
                  <a:pt x="64" y="352"/>
                </a:cubicBezTo>
                <a:cubicBezTo>
                  <a:pt x="64" y="370"/>
                  <a:pt x="78" y="384"/>
                  <a:pt x="96" y="384"/>
                </a:cubicBezTo>
                <a:cubicBezTo>
                  <a:pt x="114" y="384"/>
                  <a:pt x="128" y="370"/>
                  <a:pt x="128" y="352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31" name="cap8-text"/>
          <p:cNvSpPr txBox="1"/>
          <p:nvPr/>
        </p:nvSpPr>
        <p:spPr>
          <a:xfrm>
            <a:off x="9169400" y="48514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Long-term planning</a:t>
            </a:r>
            <a:endParaRPr lang="en-US" sz="1200" noProof="1"/>
          </a:p>
        </p:txBody>
      </p:sp>
      <p:sp>
        <p:nvSpPr>
          <p:cNvPr id="32" name="quote-bar"/>
          <p:cNvSpPr/>
          <p:nvPr/>
        </p:nvSpPr>
        <p:spPr>
          <a:xfrm>
            <a:off x="609600" y="5613400"/>
            <a:ext cx="38100" cy="609600"/>
          </a:xfrm>
          <a:prstGeom prst="rect">
            <a:avLst/>
          </a:prstGeom>
          <a:solidFill>
            <a:srgbClr val="3E7A4E"/>
          </a:solidFill>
          <a:ln>
            <a:noFill/>
          </a:ln>
        </p:spPr>
      </p:sp>
      <p:sp>
        <p:nvSpPr>
          <p:cNvPr id="33" name="quote"/>
          <p:cNvSpPr txBox="1"/>
          <p:nvPr/>
        </p:nvSpPr>
        <p:spPr>
          <a:xfrm>
            <a:off x="787400" y="5613400"/>
            <a:ext cx="10795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173B27"/>
                </a:solidFill>
                <a:latin typeface="MiSans"/>
                <a:ea typeface="MiSans"/>
              </a:rPr>
              <a:t>The app helps the farmer understand the decision — not blindly follow one recommendation.</a:t>
            </a:r>
            <a:endParaRPr lang="en-US" sz="1500" noProof="1"/>
          </a:p>
        </p:txBody>
      </p:sp>
      <p:sp>
        <p:nvSpPr>
          <p:cNvPr id="34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04 / 14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3E7A4E"/>
                </a:solidFill>
                <a:latin typeface="MiSans"/>
                <a:ea typeface="MiSans"/>
              </a:rPr>
              <a:t>SYSTEM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812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2A20"/>
                </a:solidFill>
                <a:latin typeface="MiSans"/>
                <a:ea typeface="MiSans"/>
              </a:rPr>
              <a:t>From Farm Data to a Crop Decision</a:t>
            </a:r>
            <a:endParaRPr lang="en-US" sz="2600" noProof="1"/>
          </a:p>
        </p:txBody>
      </p:sp>
      <p:sp>
        <p:nvSpPr>
          <p:cNvPr id="4" name="laneA-label"/>
          <p:cNvSpPr txBox="1"/>
          <p:nvPr/>
        </p:nvSpPr>
        <p:spPr>
          <a:xfrm>
            <a:off x="609600" y="1371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66725F"/>
                </a:solidFill>
                <a:latin typeface="MiSans"/>
                <a:ea typeface="MiSans"/>
              </a:rPr>
              <a:t>INPUTS</a:t>
            </a:r>
            <a:endParaRPr lang="en-US" sz="900" noProof="1"/>
          </a:p>
        </p:txBody>
      </p:sp>
      <p:sp>
        <p:nvSpPr>
          <p:cNvPr id="5" name="laneA-icon"/>
          <p:cNvSpPr/>
          <p:nvPr>
            <p:extLst>
              <p:ext uri="{F5677B7D-0D2A-4D9B-9A5C-6D8D7D0E5A5D}">
                <pptd:icon encoding="base64url">eyJpY29uTmFtZSI6ImZhczp0cmFjdG9yIn0</pptd:icon>
              </p:ext>
            </p:extLst>
          </p:nvPr>
        </p:nvSpPr>
        <p:spPr>
          <a:xfrm>
            <a:off x="1422400" y="134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96" y="223"/>
                </a:moveTo>
                <a:lnTo>
                  <a:pt x="96" y="64"/>
                </a:lnTo>
                <a:cubicBezTo>
                  <a:pt x="96" y="46"/>
                  <a:pt x="110" y="32"/>
                  <a:pt x="128" y="32"/>
                </a:cubicBezTo>
                <a:lnTo>
                  <a:pt x="236" y="32"/>
                </a:lnTo>
                <a:cubicBezTo>
                  <a:pt x="258" y="32"/>
                  <a:pt x="279" y="44"/>
                  <a:pt x="291" y="63"/>
                </a:cubicBezTo>
                <a:lnTo>
                  <a:pt x="368" y="192"/>
                </a:lnTo>
                <a:lnTo>
                  <a:pt x="432" y="192"/>
                </a:lnTo>
                <a:lnTo>
                  <a:pt x="432" y="120"/>
                </a:lnTo>
                <a:cubicBezTo>
                  <a:pt x="432" y="107"/>
                  <a:pt x="443" y="96"/>
                  <a:pt x="456" y="96"/>
                </a:cubicBezTo>
                <a:cubicBezTo>
                  <a:pt x="469" y="96"/>
                  <a:pt x="480" y="107"/>
                  <a:pt x="480" y="120"/>
                </a:cubicBezTo>
                <a:lnTo>
                  <a:pt x="480" y="192"/>
                </a:lnTo>
                <a:lnTo>
                  <a:pt x="528" y="192"/>
                </a:lnTo>
                <a:cubicBezTo>
                  <a:pt x="555" y="192"/>
                  <a:pt x="576" y="214"/>
                  <a:pt x="576" y="240"/>
                </a:cubicBezTo>
                <a:lnTo>
                  <a:pt x="576" y="282"/>
                </a:lnTo>
                <a:cubicBezTo>
                  <a:pt x="576" y="296"/>
                  <a:pt x="570" y="309"/>
                  <a:pt x="559" y="318"/>
                </a:cubicBezTo>
                <a:lnTo>
                  <a:pt x="524" y="348"/>
                </a:lnTo>
                <a:cubicBezTo>
                  <a:pt x="550" y="363"/>
                  <a:pt x="568" y="391"/>
                  <a:pt x="568" y="424"/>
                </a:cubicBezTo>
                <a:cubicBezTo>
                  <a:pt x="568" y="473"/>
                  <a:pt x="529" y="512"/>
                  <a:pt x="480" y="512"/>
                </a:cubicBezTo>
                <a:cubicBezTo>
                  <a:pt x="432" y="512"/>
                  <a:pt x="392" y="473"/>
                  <a:pt x="392" y="424"/>
                </a:cubicBezTo>
                <a:cubicBezTo>
                  <a:pt x="392" y="410"/>
                  <a:pt x="396" y="396"/>
                  <a:pt x="402" y="384"/>
                </a:cubicBezTo>
                <a:lnTo>
                  <a:pt x="301" y="384"/>
                </a:lnTo>
                <a:cubicBezTo>
                  <a:pt x="298" y="397"/>
                  <a:pt x="293" y="410"/>
                  <a:pt x="286" y="422"/>
                </a:cubicBezTo>
                <a:cubicBezTo>
                  <a:pt x="294" y="431"/>
                  <a:pt x="293" y="445"/>
                  <a:pt x="285" y="454"/>
                </a:cubicBezTo>
                <a:lnTo>
                  <a:pt x="262" y="477"/>
                </a:lnTo>
                <a:cubicBezTo>
                  <a:pt x="253" y="485"/>
                  <a:pt x="239" y="486"/>
                  <a:pt x="230" y="478"/>
                </a:cubicBezTo>
                <a:cubicBezTo>
                  <a:pt x="220" y="483"/>
                  <a:pt x="210" y="487"/>
                  <a:pt x="200" y="490"/>
                </a:cubicBezTo>
                <a:cubicBezTo>
                  <a:pt x="199" y="503"/>
                  <a:pt x="189" y="512"/>
                  <a:pt x="176" y="512"/>
                </a:cubicBezTo>
                <a:lnTo>
                  <a:pt x="144" y="512"/>
                </a:lnTo>
                <a:cubicBezTo>
                  <a:pt x="132" y="512"/>
                  <a:pt x="121" y="503"/>
                  <a:pt x="120" y="490"/>
                </a:cubicBezTo>
                <a:cubicBezTo>
                  <a:pt x="110" y="487"/>
                  <a:pt x="100" y="483"/>
                  <a:pt x="90" y="478"/>
                </a:cubicBezTo>
                <a:cubicBezTo>
                  <a:pt x="81" y="486"/>
                  <a:pt x="67" y="485"/>
                  <a:pt x="58" y="476"/>
                </a:cubicBezTo>
                <a:lnTo>
                  <a:pt x="36" y="454"/>
                </a:lnTo>
                <a:cubicBezTo>
                  <a:pt x="27" y="445"/>
                  <a:pt x="26" y="431"/>
                  <a:pt x="34" y="422"/>
                </a:cubicBezTo>
                <a:cubicBezTo>
                  <a:pt x="29" y="412"/>
                  <a:pt x="25" y="402"/>
                  <a:pt x="22" y="392"/>
                </a:cubicBezTo>
                <a:cubicBezTo>
                  <a:pt x="9" y="391"/>
                  <a:pt x="0" y="380"/>
                  <a:pt x="0" y="368"/>
                </a:cubicBezTo>
                <a:lnTo>
                  <a:pt x="0" y="336"/>
                </a:lnTo>
                <a:cubicBezTo>
                  <a:pt x="0" y="324"/>
                  <a:pt x="9" y="313"/>
                  <a:pt x="22" y="312"/>
                </a:cubicBezTo>
                <a:cubicBezTo>
                  <a:pt x="25" y="302"/>
                  <a:pt x="29" y="292"/>
                  <a:pt x="34" y="282"/>
                </a:cubicBezTo>
                <a:cubicBezTo>
                  <a:pt x="26" y="273"/>
                  <a:pt x="27" y="259"/>
                  <a:pt x="36" y="250"/>
                </a:cubicBezTo>
                <a:lnTo>
                  <a:pt x="58" y="227"/>
                </a:lnTo>
                <a:cubicBezTo>
                  <a:pt x="67" y="219"/>
                  <a:pt x="81" y="218"/>
                  <a:pt x="90" y="226"/>
                </a:cubicBezTo>
                <a:cubicBezTo>
                  <a:pt x="92" y="225"/>
                  <a:pt x="94" y="224"/>
                  <a:pt x="96" y="223"/>
                </a:cubicBezTo>
                <a:close/>
                <a:moveTo>
                  <a:pt x="160" y="96"/>
                </a:moveTo>
                <a:lnTo>
                  <a:pt x="160" y="192"/>
                </a:lnTo>
                <a:lnTo>
                  <a:pt x="293" y="192"/>
                </a:lnTo>
                <a:lnTo>
                  <a:pt x="236" y="96"/>
                </a:lnTo>
                <a:lnTo>
                  <a:pt x="160" y="96"/>
                </a:lnTo>
                <a:close/>
                <a:moveTo>
                  <a:pt x="160" y="288"/>
                </a:moveTo>
                <a:cubicBezTo>
                  <a:pt x="125" y="288"/>
                  <a:pt x="96" y="317"/>
                  <a:pt x="96" y="352"/>
                </a:cubicBezTo>
                <a:cubicBezTo>
                  <a:pt x="96" y="387"/>
                  <a:pt x="125" y="416"/>
                  <a:pt x="160" y="416"/>
                </a:cubicBezTo>
                <a:cubicBezTo>
                  <a:pt x="195" y="416"/>
                  <a:pt x="224" y="387"/>
                  <a:pt x="224" y="352"/>
                </a:cubicBezTo>
                <a:cubicBezTo>
                  <a:pt x="224" y="317"/>
                  <a:pt x="195" y="288"/>
                  <a:pt x="160" y="288"/>
                </a:cubicBezTo>
                <a:close/>
                <a:moveTo>
                  <a:pt x="440" y="424"/>
                </a:moveTo>
                <a:cubicBezTo>
                  <a:pt x="440" y="446"/>
                  <a:pt x="458" y="464"/>
                  <a:pt x="480" y="464"/>
                </a:cubicBezTo>
                <a:cubicBezTo>
                  <a:pt x="502" y="464"/>
                  <a:pt x="520" y="446"/>
                  <a:pt x="520" y="424"/>
                </a:cubicBezTo>
                <a:cubicBezTo>
                  <a:pt x="520" y="402"/>
                  <a:pt x="502" y="384"/>
                  <a:pt x="480" y="384"/>
                </a:cubicBezTo>
                <a:cubicBezTo>
                  <a:pt x="458" y="384"/>
                  <a:pt x="440" y="402"/>
                  <a:pt x="440" y="424"/>
                </a:cubicBezTo>
                <a:close/>
              </a:path>
            </a:pathLst>
          </a:custGeom>
          <a:solidFill>
            <a:srgbClr val="66725F"/>
          </a:solidFill>
          <a:ln>
            <a:noFill/>
          </a:ln>
        </p:spPr>
      </p:sp>
      <p:sp>
        <p:nvSpPr>
          <p:cNvPr id="6" name="a1"/>
          <p:cNvSpPr/>
          <p:nvPr/>
        </p:nvSpPr>
        <p:spPr>
          <a:xfrm>
            <a:off x="609600" y="1727200"/>
            <a:ext cx="3048000" cy="660400"/>
          </a:xfrm>
          <a:prstGeom prst="roundRect">
            <a:avLst>
              <a:gd name="adj" fmla="val 12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7" name="a1-icon"/>
          <p:cNvSpPr/>
          <p:nvPr>
            <p:extLst>
              <p:ext uri="{F5677B7D-0D2A-4D9B-9A5C-6D8D7D0E5A5D}">
                <pptd:icon encoding="base64url">eyJpY29uTmFtZSI6ImZhczpzZWVkbGluZyJ9</pptd:icon>
              </p:ext>
            </p:extLst>
          </p:nvPr>
        </p:nvSpPr>
        <p:spPr>
          <a:xfrm>
            <a:off x="838200" y="195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8" name="a1-text"/>
          <p:cNvSpPr txBox="1"/>
          <p:nvPr/>
        </p:nvSpPr>
        <p:spPr>
          <a:xfrm>
            <a:off x="1193800" y="17272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Soil data</a:t>
            </a:r>
            <a:endParaRPr lang="en-US" sz="1200" noProof="1"/>
          </a:p>
        </p:txBody>
      </p:sp>
      <p:sp>
        <p:nvSpPr>
          <p:cNvPr id="9" name="a2"/>
          <p:cNvSpPr/>
          <p:nvPr/>
        </p:nvSpPr>
        <p:spPr>
          <a:xfrm>
            <a:off x="609600" y="2514600"/>
            <a:ext cx="3048000" cy="660400"/>
          </a:xfrm>
          <a:prstGeom prst="roundRect">
            <a:avLst>
              <a:gd name="adj" fmla="val 12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10" name="a2-icon"/>
          <p:cNvSpPr/>
          <p:nvPr>
            <p:extLst>
              <p:ext uri="{F5677B7D-0D2A-4D9B-9A5C-6D8D7D0E5A5D}">
                <pptd:icon encoding="base64url">eyJpY29uTmFtZSI6ImZhczpjbG91ZC1zdW4ifQ</pptd:icon>
              </p:ext>
            </p:extLst>
          </p:nvPr>
        </p:nvSpPr>
        <p:spPr>
          <a:xfrm>
            <a:off x="838200" y="2743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08" y="192"/>
                </a:moveTo>
                <a:cubicBezTo>
                  <a:pt x="251" y="192"/>
                  <a:pt x="289" y="216"/>
                  <a:pt x="308" y="252"/>
                </a:cubicBezTo>
                <a:cubicBezTo>
                  <a:pt x="322" y="235"/>
                  <a:pt x="344" y="224"/>
                  <a:pt x="368" y="224"/>
                </a:cubicBezTo>
                <a:cubicBezTo>
                  <a:pt x="413" y="224"/>
                  <a:pt x="448" y="260"/>
                  <a:pt x="448" y="304"/>
                </a:cubicBezTo>
                <a:cubicBezTo>
                  <a:pt x="448" y="310"/>
                  <a:pt x="448" y="315"/>
                  <a:pt x="447" y="320"/>
                </a:cubicBezTo>
                <a:cubicBezTo>
                  <a:pt x="447" y="320"/>
                  <a:pt x="448" y="320"/>
                  <a:pt x="448" y="320"/>
                </a:cubicBezTo>
                <a:cubicBezTo>
                  <a:pt x="501" y="320"/>
                  <a:pt x="544" y="363"/>
                  <a:pt x="544" y="416"/>
                </a:cubicBezTo>
                <a:cubicBezTo>
                  <a:pt x="544" y="469"/>
                  <a:pt x="501" y="512"/>
                  <a:pt x="448" y="512"/>
                </a:cubicBezTo>
                <a:lnTo>
                  <a:pt x="128" y="512"/>
                </a:lnTo>
                <a:cubicBezTo>
                  <a:pt x="75" y="512"/>
                  <a:pt x="32" y="469"/>
                  <a:pt x="32" y="416"/>
                </a:cubicBezTo>
                <a:cubicBezTo>
                  <a:pt x="32" y="374"/>
                  <a:pt x="60" y="338"/>
                  <a:pt x="98" y="325"/>
                </a:cubicBezTo>
                <a:cubicBezTo>
                  <a:pt x="97" y="318"/>
                  <a:pt x="96" y="311"/>
                  <a:pt x="96" y="304"/>
                </a:cubicBezTo>
                <a:cubicBezTo>
                  <a:pt x="96" y="242"/>
                  <a:pt x="146" y="192"/>
                  <a:pt x="208" y="192"/>
                </a:cubicBezTo>
                <a:close/>
              </a:path>
              <a:path w="640" h="512">
                <a:moveTo>
                  <a:pt x="400" y="-32"/>
                </a:moveTo>
                <a:cubicBezTo>
                  <a:pt x="406" y="-32"/>
                  <a:pt x="411" y="-29"/>
                  <a:pt x="414" y="-25"/>
                </a:cubicBezTo>
                <a:lnTo>
                  <a:pt x="461" y="46"/>
                </a:lnTo>
                <a:lnTo>
                  <a:pt x="544" y="29"/>
                </a:lnTo>
                <a:cubicBezTo>
                  <a:pt x="549" y="28"/>
                  <a:pt x="555" y="30"/>
                  <a:pt x="559" y="34"/>
                </a:cubicBezTo>
                <a:cubicBezTo>
                  <a:pt x="562" y="38"/>
                  <a:pt x="564" y="43"/>
                  <a:pt x="563" y="48"/>
                </a:cubicBezTo>
                <a:lnTo>
                  <a:pt x="547" y="132"/>
                </a:lnTo>
                <a:lnTo>
                  <a:pt x="617" y="179"/>
                </a:lnTo>
                <a:cubicBezTo>
                  <a:pt x="621" y="182"/>
                  <a:pt x="624" y="187"/>
                  <a:pt x="624" y="192"/>
                </a:cubicBezTo>
                <a:cubicBezTo>
                  <a:pt x="624" y="197"/>
                  <a:pt x="622" y="202"/>
                  <a:pt x="617" y="205"/>
                </a:cubicBezTo>
                <a:lnTo>
                  <a:pt x="547" y="253"/>
                </a:lnTo>
                <a:lnTo>
                  <a:pt x="561" y="327"/>
                </a:lnTo>
                <a:cubicBezTo>
                  <a:pt x="544" y="305"/>
                  <a:pt x="521" y="288"/>
                  <a:pt x="494" y="280"/>
                </a:cubicBezTo>
                <a:cubicBezTo>
                  <a:pt x="492" y="267"/>
                  <a:pt x="487" y="255"/>
                  <a:pt x="481" y="244"/>
                </a:cubicBezTo>
                <a:cubicBezTo>
                  <a:pt x="491" y="229"/>
                  <a:pt x="496" y="211"/>
                  <a:pt x="496" y="192"/>
                </a:cubicBezTo>
                <a:cubicBezTo>
                  <a:pt x="496" y="139"/>
                  <a:pt x="453" y="96"/>
                  <a:pt x="400" y="96"/>
                </a:cubicBezTo>
                <a:cubicBezTo>
                  <a:pt x="353" y="96"/>
                  <a:pt x="313" y="131"/>
                  <a:pt x="306" y="177"/>
                </a:cubicBezTo>
                <a:cubicBezTo>
                  <a:pt x="285" y="161"/>
                  <a:pt x="260" y="150"/>
                  <a:pt x="233" y="146"/>
                </a:cubicBezTo>
                <a:lnTo>
                  <a:pt x="254" y="131"/>
                </a:lnTo>
                <a:lnTo>
                  <a:pt x="238" y="48"/>
                </a:lnTo>
                <a:lnTo>
                  <a:pt x="237" y="46"/>
                </a:lnTo>
                <a:cubicBezTo>
                  <a:pt x="237" y="42"/>
                  <a:pt x="239" y="37"/>
                  <a:pt x="242" y="34"/>
                </a:cubicBezTo>
                <a:cubicBezTo>
                  <a:pt x="246" y="30"/>
                  <a:pt x="251" y="28"/>
                  <a:pt x="256" y="29"/>
                </a:cubicBezTo>
                <a:lnTo>
                  <a:pt x="340" y="46"/>
                </a:lnTo>
                <a:lnTo>
                  <a:pt x="387" y="-25"/>
                </a:lnTo>
                <a:lnTo>
                  <a:pt x="388" y="-26"/>
                </a:lnTo>
                <a:cubicBezTo>
                  <a:pt x="391" y="-30"/>
                  <a:pt x="396" y="-32"/>
                  <a:pt x="400" y="-32"/>
                </a:cubicBezTo>
                <a:close/>
              </a:path>
              <a:path w="640" h="512">
                <a:moveTo>
                  <a:pt x="400" y="144"/>
                </a:moveTo>
                <a:cubicBezTo>
                  <a:pt x="427" y="144"/>
                  <a:pt x="448" y="166"/>
                  <a:pt x="448" y="192"/>
                </a:cubicBezTo>
                <a:cubicBezTo>
                  <a:pt x="448" y="196"/>
                  <a:pt x="448" y="200"/>
                  <a:pt x="447" y="203"/>
                </a:cubicBezTo>
                <a:cubicBezTo>
                  <a:pt x="425" y="186"/>
                  <a:pt x="398" y="176"/>
                  <a:pt x="368" y="176"/>
                </a:cubicBezTo>
                <a:cubicBezTo>
                  <a:pt x="364" y="176"/>
                  <a:pt x="359" y="176"/>
                  <a:pt x="355" y="177"/>
                </a:cubicBezTo>
                <a:cubicBezTo>
                  <a:pt x="361" y="158"/>
                  <a:pt x="379" y="144"/>
                  <a:pt x="400" y="144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1" name="a2-text"/>
          <p:cNvSpPr txBox="1"/>
          <p:nvPr/>
        </p:nvSpPr>
        <p:spPr>
          <a:xfrm>
            <a:off x="1193800" y="25146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Weather data</a:t>
            </a:r>
            <a:endParaRPr lang="en-US" sz="1200" noProof="1"/>
          </a:p>
        </p:txBody>
      </p:sp>
      <p:sp>
        <p:nvSpPr>
          <p:cNvPr id="12" name="a3"/>
          <p:cNvSpPr/>
          <p:nvPr/>
        </p:nvSpPr>
        <p:spPr>
          <a:xfrm>
            <a:off x="609600" y="3302000"/>
            <a:ext cx="3048000" cy="660400"/>
          </a:xfrm>
          <a:prstGeom prst="roundRect">
            <a:avLst>
              <a:gd name="adj" fmla="val 12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13" name="a3-icon"/>
          <p:cNvSpPr/>
          <p:nvPr>
            <p:extLst>
              <p:ext uri="{F5677B7D-0D2A-4D9B-9A5C-6D8D7D0E5A5D}">
                <pptd:icon encoding="base64url">eyJpY29uTmFtZSI6ImZhczpkcm9wbGV0In0</pptd:icon>
              </p:ext>
            </p:extLst>
          </p:nvPr>
        </p:nvSpPr>
        <p:spPr>
          <a:xfrm>
            <a:off x="838200" y="3530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92" y="512"/>
                </a:moveTo>
                <a:cubicBezTo>
                  <a:pt x="86" y="512"/>
                  <a:pt x="0" y="426"/>
                  <a:pt x="0" y="320"/>
                </a:cubicBezTo>
                <a:cubicBezTo>
                  <a:pt x="0" y="229"/>
                  <a:pt x="130" y="46"/>
                  <a:pt x="167" y="-3"/>
                </a:cubicBezTo>
                <a:cubicBezTo>
                  <a:pt x="173" y="-11"/>
                  <a:pt x="182" y="-16"/>
                  <a:pt x="192" y="-16"/>
                </a:cubicBezTo>
                <a:lnTo>
                  <a:pt x="192" y="-16"/>
                </a:lnTo>
                <a:cubicBezTo>
                  <a:pt x="202" y="-16"/>
                  <a:pt x="212" y="-11"/>
                  <a:pt x="217" y="-3"/>
                </a:cubicBezTo>
                <a:cubicBezTo>
                  <a:pt x="254" y="46"/>
                  <a:pt x="384" y="229"/>
                  <a:pt x="384" y="320"/>
                </a:cubicBezTo>
                <a:cubicBezTo>
                  <a:pt x="384" y="426"/>
                  <a:pt x="298" y="512"/>
                  <a:pt x="192" y="512"/>
                </a:cubicBezTo>
                <a:close/>
                <a:moveTo>
                  <a:pt x="112" y="312"/>
                </a:moveTo>
                <a:cubicBezTo>
                  <a:pt x="112" y="299"/>
                  <a:pt x="101" y="288"/>
                  <a:pt x="88" y="288"/>
                </a:cubicBezTo>
                <a:cubicBezTo>
                  <a:pt x="75" y="288"/>
                  <a:pt x="64" y="299"/>
                  <a:pt x="64" y="312"/>
                </a:cubicBezTo>
                <a:cubicBezTo>
                  <a:pt x="64" y="387"/>
                  <a:pt x="125" y="448"/>
                  <a:pt x="200" y="448"/>
                </a:cubicBezTo>
                <a:cubicBezTo>
                  <a:pt x="213" y="448"/>
                  <a:pt x="224" y="437"/>
                  <a:pt x="224" y="424"/>
                </a:cubicBezTo>
                <a:cubicBezTo>
                  <a:pt x="224" y="411"/>
                  <a:pt x="213" y="400"/>
                  <a:pt x="200" y="400"/>
                </a:cubicBezTo>
                <a:cubicBezTo>
                  <a:pt x="151" y="400"/>
                  <a:pt x="112" y="361"/>
                  <a:pt x="112" y="312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4" name="a3-text"/>
          <p:cNvSpPr txBox="1"/>
          <p:nvPr/>
        </p:nvSpPr>
        <p:spPr>
          <a:xfrm>
            <a:off x="1193800" y="33020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Water availability</a:t>
            </a:r>
            <a:endParaRPr lang="en-US" sz="1200" noProof="1"/>
          </a:p>
        </p:txBody>
      </p:sp>
      <p:sp>
        <p:nvSpPr>
          <p:cNvPr id="15" name="a4"/>
          <p:cNvSpPr/>
          <p:nvPr/>
        </p:nvSpPr>
        <p:spPr>
          <a:xfrm>
            <a:off x="609600" y="4089400"/>
            <a:ext cx="3048000" cy="660400"/>
          </a:xfrm>
          <a:prstGeom prst="roundRect">
            <a:avLst>
              <a:gd name="adj" fmla="val 12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16" name="a4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838200" y="4318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7" name="a4-text"/>
          <p:cNvSpPr txBox="1"/>
          <p:nvPr/>
        </p:nvSpPr>
        <p:spPr>
          <a:xfrm>
            <a:off x="1193800" y="40894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Crop database</a:t>
            </a:r>
            <a:endParaRPr lang="en-US" sz="1200" noProof="1"/>
          </a:p>
        </p:txBody>
      </p:sp>
      <p:sp>
        <p:nvSpPr>
          <p:cNvPr id="18" name="a5"/>
          <p:cNvSpPr/>
          <p:nvPr/>
        </p:nvSpPr>
        <p:spPr>
          <a:xfrm>
            <a:off x="609600" y="4876800"/>
            <a:ext cx="3048000" cy="660400"/>
          </a:xfrm>
          <a:prstGeom prst="roundRect">
            <a:avLst>
              <a:gd name="adj" fmla="val 12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19" name="a5-icon"/>
          <p:cNvSpPr/>
          <p:nvPr>
            <p:extLst>
              <p:ext uri="{F5677B7D-0D2A-4D9B-9A5C-6D8D7D0E5A5D}">
                <pptd:icon encoding="base64url">eyJpY29uTmFtZSI6ImZhczpjaGFydC1saW5lIn0</pptd:icon>
              </p:ext>
            </p:extLst>
          </p:nvPr>
        </p:nvSpPr>
        <p:spPr>
          <a:xfrm>
            <a:off x="838200" y="5105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0" name="a5-text"/>
          <p:cNvSpPr txBox="1"/>
          <p:nvPr/>
        </p:nvSpPr>
        <p:spPr>
          <a:xfrm>
            <a:off x="1193800" y="48768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Market &amp; cost data</a:t>
            </a:r>
            <a:endParaRPr lang="en-US" sz="1200" noProof="1"/>
          </a:p>
        </p:txBody>
      </p:sp>
      <p:sp>
        <p:nvSpPr>
          <p:cNvPr id="21" name="arr-a"/>
          <p:cNvSpPr/>
          <p:nvPr/>
        </p:nvSpPr>
        <p:spPr>
          <a:xfrm>
            <a:off x="3810000" y="3505200"/>
            <a:ext cx="406400" cy="254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3E7A4E"/>
          </a:solidFill>
          <a:ln>
            <a:noFill/>
          </a:ln>
        </p:spPr>
      </p:sp>
      <p:sp>
        <p:nvSpPr>
          <p:cNvPr id="22" name="core-panel"/>
          <p:cNvSpPr/>
          <p:nvPr/>
        </p:nvSpPr>
        <p:spPr>
          <a:xfrm>
            <a:off x="4368800" y="1371600"/>
            <a:ext cx="3454400" cy="4165600"/>
          </a:xfrm>
          <a:prstGeom prst="roundRect">
            <a:avLst>
              <a:gd name="adj" fmla="val 5000"/>
            </a:avLst>
          </a:prstGeom>
          <a:solidFill>
            <a:srgbClr val="173B27"/>
          </a:solidFill>
          <a:ln>
            <a:noFill/>
          </a:ln>
        </p:spPr>
      </p:sp>
      <p:sp>
        <p:nvSpPr>
          <p:cNvPr id="23" name="core-label"/>
          <p:cNvSpPr txBox="1"/>
          <p:nvPr/>
        </p:nvSpPr>
        <p:spPr>
          <a:xfrm>
            <a:off x="4368800" y="1600200"/>
            <a:ext cx="3454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 spc="200" kern="0">
                <a:solidFill>
                  <a:srgbClr val="8FBF7F"/>
                </a:solidFill>
                <a:latin typeface="MiSans"/>
                <a:ea typeface="MiSans"/>
              </a:rPr>
              <a:t>DECISION CORE</a:t>
            </a:r>
            <a:endParaRPr lang="en-US" sz="900" noProof="1"/>
          </a:p>
        </p:txBody>
      </p:sp>
      <p:sp>
        <p:nvSpPr>
          <p:cNvPr id="24" name="b1"/>
          <p:cNvSpPr/>
          <p:nvPr/>
        </p:nvSpPr>
        <p:spPr>
          <a:xfrm>
            <a:off x="4673600" y="1930400"/>
            <a:ext cx="2844800" cy="609600"/>
          </a:xfrm>
          <a:prstGeom prst="roundRect">
            <a:avLst>
              <a:gd name="adj" fmla="val 14000"/>
            </a:avLst>
          </a:prstGeom>
          <a:solidFill>
            <a:srgbClr val="FFFFFF">
              <a:alpha val="7843"/>
            </a:srgbClr>
          </a:solidFill>
          <a:ln w="12700">
            <a:solidFill>
              <a:srgbClr val="FFFFFF">
                <a:alpha val="25098"/>
              </a:srgbClr>
            </a:solidFill>
          </a:ln>
        </p:spPr>
      </p:sp>
      <p:sp>
        <p:nvSpPr>
          <p:cNvPr id="25" name="b1-text"/>
          <p:cNvSpPr txBox="1"/>
          <p:nvPr/>
        </p:nvSpPr>
        <p:spPr>
          <a:xfrm>
            <a:off x="4673600" y="1930400"/>
            <a:ext cx="2844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Recommendation engine</a:t>
            </a:r>
            <a:endParaRPr lang="en-US" sz="1200" noProof="1"/>
          </a:p>
        </p:txBody>
      </p:sp>
      <p:sp>
        <p:nvSpPr>
          <p:cNvPr id="26" name="b-arr1"/>
          <p:cNvSpPr/>
          <p:nvPr>
            <p:extLst>
              <p:ext uri="{F5677B7D-0D2A-4D9B-9A5C-6D8D7D0E5A5D}">
                <pptd:line encoding="base64url">eyJ2aWV3Qm94IjpbMTAsMjJdLCJwb2ludHMiOiI1LDAgNSwyMiJ9</pptd:line>
              </p:ext>
            </p:extLst>
          </p:nvPr>
        </p:nvSpPr>
        <p:spPr>
          <a:xfrm>
            <a:off x="6032500" y="2540000"/>
            <a:ext cx="127000" cy="279400"/>
          </a:xfrm>
          <a:custGeom>
            <a:avLst/>
            <a:gdLst/>
            <a:ahLst/>
            <a:cxnLst/>
            <a:rect l="l" t="t" r="r" b="b"/>
            <a:pathLst>
              <a:path w="10" h="22">
                <a:moveTo>
                  <a:pt x="5" y="0"/>
                </a:moveTo>
                <a:lnTo>
                  <a:pt x="5" y="22"/>
                </a:lnTo>
              </a:path>
            </a:pathLst>
          </a:custGeom>
          <a:noFill/>
          <a:ln w="19050" cap="rnd">
            <a:solidFill>
              <a:srgbClr val="8FBF7F"/>
            </a:solidFill>
            <a:round/>
            <a:tailEnd type="arrow"/>
          </a:ln>
        </p:spPr>
      </p:sp>
      <p:sp>
        <p:nvSpPr>
          <p:cNvPr id="27" name="b2"/>
          <p:cNvSpPr/>
          <p:nvPr/>
        </p:nvSpPr>
        <p:spPr>
          <a:xfrm>
            <a:off x="4673600" y="2819400"/>
            <a:ext cx="2844800" cy="609600"/>
          </a:xfrm>
          <a:prstGeom prst="roundRect">
            <a:avLst>
              <a:gd name="adj" fmla="val 14000"/>
            </a:avLst>
          </a:prstGeom>
          <a:solidFill>
            <a:srgbClr val="FFFFFF">
              <a:alpha val="7843"/>
            </a:srgbClr>
          </a:solidFill>
          <a:ln w="12700">
            <a:solidFill>
              <a:srgbClr val="FFFFFF">
                <a:alpha val="25098"/>
              </a:srgbClr>
            </a:solidFill>
          </a:ln>
        </p:spPr>
      </p:sp>
      <p:sp>
        <p:nvSpPr>
          <p:cNvPr id="28" name="b2-text"/>
          <p:cNvSpPr txBox="1"/>
          <p:nvPr/>
        </p:nvSpPr>
        <p:spPr>
          <a:xfrm>
            <a:off x="4673600" y="2819400"/>
            <a:ext cx="2844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Estimation</a:t>
            </a:r>
            <a:endParaRPr lang="en-US" sz="1200" noProof="1"/>
          </a:p>
          <a:p>
            <a:pPr algn="ctr">
              <a:lnSpc>
                <a:spcPct val="125000"/>
              </a:lnSpc>
            </a:pPr>
            <a:r>
              <a:rPr lang="en-US" sz="900" noProof="1" b="1">
                <a:solidFill>
                  <a:srgbClr val="A8CBA0"/>
                </a:solidFill>
                <a:latin typeface="MiSans"/>
                <a:ea typeface="MiSans"/>
              </a:rPr>
              <a:t>yield · revenue · profit</a:t>
            </a:r>
            <a:endParaRPr lang="en-US" sz="1200" noProof="1"/>
          </a:p>
        </p:txBody>
      </p:sp>
      <p:sp>
        <p:nvSpPr>
          <p:cNvPr id="29" name="b-arr2"/>
          <p:cNvSpPr/>
          <p:nvPr>
            <p:extLst>
              <p:ext uri="{F5677B7D-0D2A-4D9B-9A5C-6D8D7D0E5A5D}">
                <pptd:line encoding="base64url">eyJ2aWV3Qm94IjpbMTAsMjJdLCJwb2ludHMiOiI1LDAgNSwyMiJ9</pptd:line>
              </p:ext>
            </p:extLst>
          </p:nvPr>
        </p:nvSpPr>
        <p:spPr>
          <a:xfrm>
            <a:off x="6032500" y="3429000"/>
            <a:ext cx="127000" cy="279400"/>
          </a:xfrm>
          <a:custGeom>
            <a:avLst/>
            <a:gdLst/>
            <a:ahLst/>
            <a:cxnLst/>
            <a:rect l="l" t="t" r="r" b="b"/>
            <a:pathLst>
              <a:path w="10" h="22">
                <a:moveTo>
                  <a:pt x="5" y="0"/>
                </a:moveTo>
                <a:lnTo>
                  <a:pt x="5" y="22"/>
                </a:lnTo>
              </a:path>
            </a:pathLst>
          </a:custGeom>
          <a:noFill/>
          <a:ln w="19050" cap="rnd">
            <a:solidFill>
              <a:srgbClr val="8FBF7F"/>
            </a:solidFill>
            <a:round/>
            <a:tailEnd type="arrow"/>
          </a:ln>
        </p:spPr>
      </p:sp>
      <p:sp>
        <p:nvSpPr>
          <p:cNvPr id="30" name="b3"/>
          <p:cNvSpPr/>
          <p:nvPr/>
        </p:nvSpPr>
        <p:spPr>
          <a:xfrm>
            <a:off x="4673600" y="3708400"/>
            <a:ext cx="2844800" cy="609600"/>
          </a:xfrm>
          <a:prstGeom prst="roundRect">
            <a:avLst>
              <a:gd name="adj" fmla="val 14000"/>
            </a:avLst>
          </a:prstGeom>
          <a:solidFill>
            <a:srgbClr val="FFFFFF">
              <a:alpha val="7843"/>
            </a:srgbClr>
          </a:solidFill>
          <a:ln w="12700">
            <a:solidFill>
              <a:srgbClr val="FFFFFF">
                <a:alpha val="25098"/>
              </a:srgbClr>
            </a:solidFill>
          </a:ln>
        </p:spPr>
      </p:sp>
      <p:sp>
        <p:nvSpPr>
          <p:cNvPr id="31" name="b3-text"/>
          <p:cNvSpPr txBox="1"/>
          <p:nvPr/>
        </p:nvSpPr>
        <p:spPr>
          <a:xfrm>
            <a:off x="4673600" y="3708400"/>
            <a:ext cx="2844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Risk analysis</a:t>
            </a:r>
            <a:endParaRPr lang="en-US" sz="1200" noProof="1"/>
          </a:p>
        </p:txBody>
      </p:sp>
      <p:sp>
        <p:nvSpPr>
          <p:cNvPr id="32" name="b-arr3"/>
          <p:cNvSpPr/>
          <p:nvPr>
            <p:extLst>
              <p:ext uri="{F5677B7D-0D2A-4D9B-9A5C-6D8D7D0E5A5D}">
                <pptd:line encoding="base64url">eyJ2aWV3Qm94IjpbMTAsMjJdLCJwb2ludHMiOiI1LDAgNSwyMiJ9</pptd:line>
              </p:ext>
            </p:extLst>
          </p:nvPr>
        </p:nvSpPr>
        <p:spPr>
          <a:xfrm>
            <a:off x="6032500" y="4318000"/>
            <a:ext cx="127000" cy="279400"/>
          </a:xfrm>
          <a:custGeom>
            <a:avLst/>
            <a:gdLst/>
            <a:ahLst/>
            <a:cxnLst/>
            <a:rect l="l" t="t" r="r" b="b"/>
            <a:pathLst>
              <a:path w="10" h="22">
                <a:moveTo>
                  <a:pt x="5" y="0"/>
                </a:moveTo>
                <a:lnTo>
                  <a:pt x="5" y="22"/>
                </a:lnTo>
              </a:path>
            </a:pathLst>
          </a:custGeom>
          <a:noFill/>
          <a:ln w="19050" cap="rnd">
            <a:solidFill>
              <a:srgbClr val="8FBF7F"/>
            </a:solidFill>
            <a:round/>
            <a:tailEnd type="arrow"/>
          </a:ln>
        </p:spPr>
      </p:sp>
      <p:sp>
        <p:nvSpPr>
          <p:cNvPr id="33" name="b4"/>
          <p:cNvSpPr/>
          <p:nvPr/>
        </p:nvSpPr>
        <p:spPr>
          <a:xfrm>
            <a:off x="4673600" y="4597400"/>
            <a:ext cx="2844800" cy="609600"/>
          </a:xfrm>
          <a:prstGeom prst="roundRect">
            <a:avLst>
              <a:gd name="adj" fmla="val 14000"/>
            </a:avLst>
          </a:prstGeom>
          <a:solidFill>
            <a:srgbClr val="FFFFFF">
              <a:alpha val="7843"/>
            </a:srgbClr>
          </a:solidFill>
          <a:ln w="12700">
            <a:solidFill>
              <a:srgbClr val="FFFFFF">
                <a:alpha val="25098"/>
              </a:srgbClr>
            </a:solidFill>
          </a:ln>
        </p:spPr>
      </p:sp>
      <p:sp>
        <p:nvSpPr>
          <p:cNvPr id="34" name="b4-text"/>
          <p:cNvSpPr txBox="1"/>
          <p:nvPr/>
        </p:nvSpPr>
        <p:spPr>
          <a:xfrm>
            <a:off x="4673600" y="4597400"/>
            <a:ext cx="2844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What-if simulation</a:t>
            </a:r>
            <a:endParaRPr lang="en-US" sz="1200" noProof="1"/>
          </a:p>
        </p:txBody>
      </p:sp>
      <p:sp>
        <p:nvSpPr>
          <p:cNvPr id="35" name="arr-b"/>
          <p:cNvSpPr/>
          <p:nvPr/>
        </p:nvSpPr>
        <p:spPr>
          <a:xfrm>
            <a:off x="7975600" y="3505200"/>
            <a:ext cx="406400" cy="254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3E7A4E"/>
          </a:solidFill>
          <a:ln>
            <a:noFill/>
          </a:ln>
        </p:spPr>
      </p:sp>
      <p:sp>
        <p:nvSpPr>
          <p:cNvPr id="36" name="laneC-label"/>
          <p:cNvSpPr txBox="1"/>
          <p:nvPr/>
        </p:nvSpPr>
        <p:spPr>
          <a:xfrm>
            <a:off x="8534400" y="1371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66725F"/>
                </a:solidFill>
                <a:latin typeface="MiSans"/>
                <a:ea typeface="MiSans"/>
              </a:rPr>
              <a:t>OUTPUT</a:t>
            </a:r>
            <a:endParaRPr lang="en-US" sz="900" noProof="1"/>
          </a:p>
        </p:txBody>
      </p:sp>
      <p:sp>
        <p:nvSpPr>
          <p:cNvPr id="37" name="out-panel"/>
          <p:cNvSpPr/>
          <p:nvPr/>
        </p:nvSpPr>
        <p:spPr>
          <a:xfrm>
            <a:off x="8534400" y="2540000"/>
            <a:ext cx="3048000" cy="2184400"/>
          </a:xfrm>
          <a:prstGeom prst="roundRect">
            <a:avLst>
              <a:gd name="adj" fmla="val 7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38" name="out-icon"/>
          <p:cNvSpPr/>
          <p:nvPr>
            <p:extLst>
              <p:ext uri="{F5677B7D-0D2A-4D9B-9A5C-6D8D7D0E5A5D}">
                <pptd:icon encoding="base64url">eyJpY29uTmFtZSI6ImZhczpmaWxlLWxpbmVzIn0</pptd:icon>
              </p:ext>
            </p:extLst>
          </p:nvPr>
        </p:nvSpPr>
        <p:spPr>
          <a:xfrm>
            <a:off x="9855200" y="2819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120" y="256"/>
                </a:moveTo>
                <a:cubicBezTo>
                  <a:pt x="107" y="256"/>
                  <a:pt x="96" y="267"/>
                  <a:pt x="96" y="280"/>
                </a:cubicBezTo>
                <a:cubicBezTo>
                  <a:pt x="96" y="293"/>
                  <a:pt x="107" y="304"/>
                  <a:pt x="120" y="304"/>
                </a:cubicBezTo>
                <a:lnTo>
                  <a:pt x="264" y="304"/>
                </a:lnTo>
                <a:cubicBezTo>
                  <a:pt x="277" y="304"/>
                  <a:pt x="288" y="293"/>
                  <a:pt x="288" y="280"/>
                </a:cubicBezTo>
                <a:cubicBezTo>
                  <a:pt x="288" y="267"/>
                  <a:pt x="277" y="256"/>
                  <a:pt x="264" y="256"/>
                </a:cubicBezTo>
                <a:lnTo>
                  <a:pt x="120" y="256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64" y="400"/>
                </a:lnTo>
                <a:cubicBezTo>
                  <a:pt x="277" y="400"/>
                  <a:pt x="288" y="389"/>
                  <a:pt x="288" y="376"/>
                </a:cubicBezTo>
                <a:cubicBezTo>
                  <a:pt x="288" y="363"/>
                  <a:pt x="277" y="352"/>
                  <a:pt x="264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173B27"/>
          </a:solidFill>
          <a:ln>
            <a:noFill/>
          </a:ln>
        </p:spPr>
      </p:sp>
      <p:sp>
        <p:nvSpPr>
          <p:cNvPr id="39" name="out-title"/>
          <p:cNvSpPr txBox="1"/>
          <p:nvPr/>
        </p:nvSpPr>
        <p:spPr>
          <a:xfrm>
            <a:off x="8788400" y="332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173B27"/>
                </a:solidFill>
                <a:latin typeface="MiSans"/>
                <a:ea typeface="MiSans"/>
              </a:rPr>
              <a:t>Farmer Decision Report</a:t>
            </a:r>
            <a:endParaRPr lang="en-US" sz="1500" noProof="1"/>
          </a:p>
        </p:txBody>
      </p:sp>
      <p:sp>
        <p:nvSpPr>
          <p:cNvPr id="40" name="out-sub"/>
          <p:cNvSpPr txBox="1"/>
          <p:nvPr/>
        </p:nvSpPr>
        <p:spPr>
          <a:xfrm>
            <a:off x="8788400" y="3708400"/>
            <a:ext cx="254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000" noProof="1">
                <a:solidFill>
                  <a:srgbClr val="3E7A4E"/>
                </a:solidFill>
                <a:latin typeface="MiSans"/>
                <a:ea typeface="MiSans"/>
              </a:rPr>
              <a:t>ranked recommendations</a:t>
            </a:r>
            <a:endParaRPr lang="en-US" sz="1000" noProof="1"/>
          </a:p>
          <a:p>
            <a:pPr algn="ctr">
              <a:lnSpc>
                <a:spcPct val="150000"/>
              </a:lnSpc>
            </a:pPr>
            <a:r>
              <a:rPr lang="en-US" sz="1000" noProof="1">
                <a:solidFill>
                  <a:srgbClr val="3E7A4E"/>
                </a:solidFill>
                <a:latin typeface="MiSans"/>
                <a:ea typeface="MiSans"/>
              </a:rPr>
              <a:t>economics · risk</a:t>
            </a:r>
            <a:endParaRPr lang="en-US" sz="1000" noProof="1"/>
          </a:p>
          <a:p>
            <a:pPr algn="ctr">
              <a:lnSpc>
                <a:spcPct val="150000"/>
              </a:lnSpc>
            </a:pPr>
            <a:r>
              <a:rPr lang="en-US" sz="1000" noProof="1">
                <a:solidFill>
                  <a:srgbClr val="3E7A4E"/>
                </a:solidFill>
                <a:latin typeface="MiSans"/>
                <a:ea typeface="MiSans"/>
              </a:rPr>
              <a:t>scenario comparison</a:t>
            </a:r>
            <a:endParaRPr lang="en-US" sz="1000" noProof="1"/>
          </a:p>
        </p:txBody>
      </p:sp>
      <p:sp>
        <p:nvSpPr>
          <p:cNvPr id="41" name="footnote"/>
          <p:cNvSpPr txBox="1"/>
          <p:nvPr/>
        </p:nvSpPr>
        <p:spPr>
          <a:xfrm>
            <a:off x="609600" y="60706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Every stage runs on-device in the current prototype; data sources are demo datasets.</a:t>
            </a:r>
            <a:endParaRPr lang="en-US" sz="1000" noProof="1"/>
          </a:p>
        </p:txBody>
      </p:sp>
      <p:sp>
        <p:nvSpPr>
          <p:cNvPr id="42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05 / 14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3E7A4E"/>
                </a:solidFill>
                <a:latin typeface="MiSans"/>
                <a:ea typeface="MiSans"/>
              </a:rPr>
              <a:t>APP WORKFLOW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812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2A20"/>
                </a:solidFill>
                <a:latin typeface="MiSans"/>
                <a:ea typeface="MiSans"/>
              </a:rPr>
              <a:t>Inside the AgriSense App</a:t>
            </a:r>
            <a:endParaRPr lang="en-US" sz="2600" noProof="1"/>
          </a:p>
        </p:txBody>
      </p:sp>
      <p:sp>
        <p:nvSpPr>
          <p:cNvPr id="4" name="lead"/>
          <p:cNvSpPr txBox="1"/>
          <p:nvPr/>
        </p:nvSpPr>
        <p:spPr>
          <a:xfrm>
            <a:off x="609600" y="12192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6725F"/>
                </a:solidFill>
                <a:latin typeface="MiSans"/>
                <a:ea typeface="MiSans"/>
              </a:rPr>
              <a:t>Twelve screens, one continuous decision journey — from farm setup to a shareable report.</a:t>
            </a:r>
            <a:endParaRPr lang="en-US" sz="1200" noProof="1"/>
          </a:p>
        </p:txBody>
      </p:sp>
      <p:sp>
        <p:nvSpPr>
          <p:cNvPr id="5" name="rail1"/>
          <p:cNvSpPr/>
          <p:nvPr/>
        </p:nvSpPr>
        <p:spPr>
          <a:xfrm>
            <a:off x="1524000" y="2146300"/>
            <a:ext cx="9144000" cy="25400"/>
          </a:xfrm>
          <a:prstGeom prst="rect">
            <a:avLst/>
          </a:prstGeom>
          <a:solidFill>
            <a:srgbClr val="D8D2BE"/>
          </a:solidFill>
          <a:ln>
            <a:noFill/>
          </a:ln>
        </p:spPr>
      </p:sp>
      <p:sp>
        <p:nvSpPr>
          <p:cNvPr id="6" name="rail-down"/>
          <p:cNvSpPr/>
          <p:nvPr/>
        </p:nvSpPr>
        <p:spPr>
          <a:xfrm>
            <a:off x="10655300" y="2159000"/>
            <a:ext cx="25400" cy="2286000"/>
          </a:xfrm>
          <a:prstGeom prst="rect">
            <a:avLst/>
          </a:prstGeom>
          <a:solidFill>
            <a:srgbClr val="D8D2BE"/>
          </a:solidFill>
          <a:ln>
            <a:noFill/>
          </a:ln>
        </p:spPr>
      </p:sp>
      <p:sp>
        <p:nvSpPr>
          <p:cNvPr id="7" name="rail2"/>
          <p:cNvSpPr/>
          <p:nvPr/>
        </p:nvSpPr>
        <p:spPr>
          <a:xfrm>
            <a:off x="1524000" y="4432300"/>
            <a:ext cx="9144000" cy="25400"/>
          </a:xfrm>
          <a:prstGeom prst="rect">
            <a:avLst/>
          </a:prstGeom>
          <a:solidFill>
            <a:srgbClr val="D8D2BE"/>
          </a:solidFill>
          <a:ln>
            <a:noFill/>
          </a:ln>
        </p:spPr>
      </p:sp>
      <p:sp>
        <p:nvSpPr>
          <p:cNvPr id="8" name="n1-c"/>
          <p:cNvSpPr/>
          <p:nvPr/>
        </p:nvSpPr>
        <p:spPr>
          <a:xfrm>
            <a:off x="1270000" y="1905000"/>
            <a:ext cx="508000" cy="508000"/>
          </a:xfrm>
          <a:prstGeom prst="ellipse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9" name="n1-t"/>
          <p:cNvSpPr txBox="1"/>
          <p:nvPr/>
        </p:nvSpPr>
        <p:spPr>
          <a:xfrm>
            <a:off x="1270000" y="1905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1400" noProof="1"/>
          </a:p>
        </p:txBody>
      </p:sp>
      <p:sp>
        <p:nvSpPr>
          <p:cNvPr id="10" name="n1-l"/>
          <p:cNvSpPr txBox="1"/>
          <p:nvPr/>
        </p:nvSpPr>
        <p:spPr>
          <a:xfrm>
            <a:off x="698500" y="2540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F2A20"/>
                </a:solidFill>
                <a:latin typeface="MiSans"/>
                <a:ea typeface="MiSans"/>
              </a:rPr>
              <a:t>Onboarding</a:t>
            </a:r>
            <a:endParaRPr lang="en-US" sz="1100" noProof="1"/>
          </a:p>
        </p:txBody>
      </p:sp>
      <p:sp>
        <p:nvSpPr>
          <p:cNvPr id="11" name="n2-c"/>
          <p:cNvSpPr/>
          <p:nvPr/>
        </p:nvSpPr>
        <p:spPr>
          <a:xfrm>
            <a:off x="3098800" y="1905000"/>
            <a:ext cx="508000" cy="5080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12" name="n2-t"/>
          <p:cNvSpPr txBox="1"/>
          <p:nvPr/>
        </p:nvSpPr>
        <p:spPr>
          <a:xfrm>
            <a:off x="3098800" y="1905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3E7A4E"/>
                </a:solidFill>
                <a:latin typeface="MiSans"/>
                <a:ea typeface="MiSans"/>
              </a:rPr>
              <a:t>2</a:t>
            </a:r>
            <a:endParaRPr lang="en-US" sz="1400" noProof="1"/>
          </a:p>
        </p:txBody>
      </p:sp>
      <p:sp>
        <p:nvSpPr>
          <p:cNvPr id="13" name="n2-l"/>
          <p:cNvSpPr txBox="1"/>
          <p:nvPr/>
        </p:nvSpPr>
        <p:spPr>
          <a:xfrm>
            <a:off x="2527300" y="2540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F2A20"/>
                </a:solidFill>
                <a:latin typeface="MiSans"/>
                <a:ea typeface="MiSans"/>
              </a:rPr>
              <a:t>Farm Setup</a:t>
            </a:r>
            <a:endParaRPr lang="en-US" sz="1100" noProof="1"/>
          </a:p>
        </p:txBody>
      </p:sp>
      <p:sp>
        <p:nvSpPr>
          <p:cNvPr id="14" name="n3-c"/>
          <p:cNvSpPr/>
          <p:nvPr/>
        </p:nvSpPr>
        <p:spPr>
          <a:xfrm>
            <a:off x="4927600" y="1905000"/>
            <a:ext cx="508000" cy="5080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15" name="n3-t"/>
          <p:cNvSpPr txBox="1"/>
          <p:nvPr/>
        </p:nvSpPr>
        <p:spPr>
          <a:xfrm>
            <a:off x="4927600" y="1905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3E7A4E"/>
                </a:solidFill>
                <a:latin typeface="MiSans"/>
                <a:ea typeface="MiSans"/>
              </a:rPr>
              <a:t>3</a:t>
            </a:r>
            <a:endParaRPr lang="en-US" sz="1400" noProof="1"/>
          </a:p>
        </p:txBody>
      </p:sp>
      <p:sp>
        <p:nvSpPr>
          <p:cNvPr id="16" name="n3-l"/>
          <p:cNvSpPr txBox="1"/>
          <p:nvPr/>
        </p:nvSpPr>
        <p:spPr>
          <a:xfrm>
            <a:off x="4356100" y="2540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F2A20"/>
                </a:solidFill>
                <a:latin typeface="MiSans"/>
                <a:ea typeface="MiSans"/>
              </a:rPr>
              <a:t>Farm Dashboard</a:t>
            </a:r>
            <a:endParaRPr lang="en-US" sz="1100" noProof="1"/>
          </a:p>
        </p:txBody>
      </p:sp>
      <p:sp>
        <p:nvSpPr>
          <p:cNvPr id="17" name="n4-c"/>
          <p:cNvSpPr/>
          <p:nvPr/>
        </p:nvSpPr>
        <p:spPr>
          <a:xfrm>
            <a:off x="6756400" y="1905000"/>
            <a:ext cx="508000" cy="5080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18" name="n4-t"/>
          <p:cNvSpPr txBox="1"/>
          <p:nvPr/>
        </p:nvSpPr>
        <p:spPr>
          <a:xfrm>
            <a:off x="6756400" y="1905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3E7A4E"/>
                </a:solidFill>
                <a:latin typeface="MiSans"/>
                <a:ea typeface="MiSans"/>
              </a:rPr>
              <a:t>4</a:t>
            </a:r>
            <a:endParaRPr lang="en-US" sz="1400" noProof="1"/>
          </a:p>
        </p:txBody>
      </p:sp>
      <p:sp>
        <p:nvSpPr>
          <p:cNvPr id="19" name="n4-l"/>
          <p:cNvSpPr txBox="1"/>
          <p:nvPr/>
        </p:nvSpPr>
        <p:spPr>
          <a:xfrm>
            <a:off x="6184900" y="2540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F2A20"/>
                </a:solidFill>
                <a:latin typeface="MiSans"/>
                <a:ea typeface="MiSans"/>
              </a:rPr>
              <a:t>Soil Analysis</a:t>
            </a:r>
            <a:endParaRPr lang="en-US" sz="1100" noProof="1"/>
          </a:p>
        </p:txBody>
      </p:sp>
      <p:sp>
        <p:nvSpPr>
          <p:cNvPr id="20" name="n5-c"/>
          <p:cNvSpPr/>
          <p:nvPr/>
        </p:nvSpPr>
        <p:spPr>
          <a:xfrm>
            <a:off x="8585200" y="1905000"/>
            <a:ext cx="508000" cy="5080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21" name="n5-t"/>
          <p:cNvSpPr txBox="1"/>
          <p:nvPr/>
        </p:nvSpPr>
        <p:spPr>
          <a:xfrm>
            <a:off x="8585200" y="1905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3E7A4E"/>
                </a:solidFill>
                <a:latin typeface="MiSans"/>
                <a:ea typeface="MiSans"/>
              </a:rPr>
              <a:t>5</a:t>
            </a:r>
            <a:endParaRPr lang="en-US" sz="1400" noProof="1"/>
          </a:p>
        </p:txBody>
      </p:sp>
      <p:sp>
        <p:nvSpPr>
          <p:cNvPr id="22" name="n5-l"/>
          <p:cNvSpPr txBox="1"/>
          <p:nvPr/>
        </p:nvSpPr>
        <p:spPr>
          <a:xfrm>
            <a:off x="8013700" y="2540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F2A20"/>
                </a:solidFill>
                <a:latin typeface="MiSans"/>
                <a:ea typeface="MiSans"/>
              </a:rPr>
              <a:t>Weather</a:t>
            </a:r>
            <a:endParaRPr lang="en-US" sz="1100" noProof="1"/>
          </a:p>
        </p:txBody>
      </p:sp>
      <p:sp>
        <p:nvSpPr>
          <p:cNvPr id="23" name="n6-c"/>
          <p:cNvSpPr/>
          <p:nvPr/>
        </p:nvSpPr>
        <p:spPr>
          <a:xfrm>
            <a:off x="10414000" y="1905000"/>
            <a:ext cx="508000" cy="5080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24" name="n6-t"/>
          <p:cNvSpPr txBox="1"/>
          <p:nvPr/>
        </p:nvSpPr>
        <p:spPr>
          <a:xfrm>
            <a:off x="10414000" y="1905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3E7A4E"/>
                </a:solidFill>
                <a:latin typeface="MiSans"/>
                <a:ea typeface="MiSans"/>
              </a:rPr>
              <a:t>6</a:t>
            </a:r>
            <a:endParaRPr lang="en-US" sz="1400" noProof="1"/>
          </a:p>
        </p:txBody>
      </p:sp>
      <p:sp>
        <p:nvSpPr>
          <p:cNvPr id="25" name="n6-l"/>
          <p:cNvSpPr txBox="1"/>
          <p:nvPr/>
        </p:nvSpPr>
        <p:spPr>
          <a:xfrm>
            <a:off x="9842500" y="2540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F2A20"/>
                </a:solidFill>
                <a:latin typeface="MiSans"/>
                <a:ea typeface="MiSans"/>
              </a:rPr>
              <a:t>Crop Recommendations</a:t>
            </a:r>
            <a:endParaRPr lang="en-US" sz="1100" noProof="1"/>
          </a:p>
        </p:txBody>
      </p:sp>
      <p:sp>
        <p:nvSpPr>
          <p:cNvPr id="26" name="n7-c"/>
          <p:cNvSpPr/>
          <p:nvPr/>
        </p:nvSpPr>
        <p:spPr>
          <a:xfrm>
            <a:off x="10414000" y="4191000"/>
            <a:ext cx="508000" cy="5080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27" name="n7-t"/>
          <p:cNvSpPr txBox="1"/>
          <p:nvPr/>
        </p:nvSpPr>
        <p:spPr>
          <a:xfrm>
            <a:off x="10414000" y="4191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3E7A4E"/>
                </a:solidFill>
                <a:latin typeface="MiSans"/>
                <a:ea typeface="MiSans"/>
              </a:rPr>
              <a:t>7</a:t>
            </a:r>
            <a:endParaRPr lang="en-US" sz="1400" noProof="1"/>
          </a:p>
        </p:txBody>
      </p:sp>
      <p:sp>
        <p:nvSpPr>
          <p:cNvPr id="28" name="n7-l"/>
          <p:cNvSpPr txBox="1"/>
          <p:nvPr/>
        </p:nvSpPr>
        <p:spPr>
          <a:xfrm>
            <a:off x="9842500" y="4826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F2A20"/>
                </a:solidFill>
                <a:latin typeface="MiSans"/>
                <a:ea typeface="MiSans"/>
              </a:rPr>
              <a:t>Crop Details</a:t>
            </a:r>
            <a:endParaRPr lang="en-US" sz="1100" noProof="1"/>
          </a:p>
        </p:txBody>
      </p:sp>
      <p:sp>
        <p:nvSpPr>
          <p:cNvPr id="29" name="n8-c"/>
          <p:cNvSpPr/>
          <p:nvPr/>
        </p:nvSpPr>
        <p:spPr>
          <a:xfrm>
            <a:off x="8585200" y="4191000"/>
            <a:ext cx="508000" cy="5080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30" name="n8-t"/>
          <p:cNvSpPr txBox="1"/>
          <p:nvPr/>
        </p:nvSpPr>
        <p:spPr>
          <a:xfrm>
            <a:off x="8585200" y="4191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3E7A4E"/>
                </a:solidFill>
                <a:latin typeface="MiSans"/>
                <a:ea typeface="MiSans"/>
              </a:rPr>
              <a:t>8</a:t>
            </a:r>
            <a:endParaRPr lang="en-US" sz="1400" noProof="1"/>
          </a:p>
        </p:txBody>
      </p:sp>
      <p:sp>
        <p:nvSpPr>
          <p:cNvPr id="31" name="n8-l"/>
          <p:cNvSpPr txBox="1"/>
          <p:nvPr/>
        </p:nvSpPr>
        <p:spPr>
          <a:xfrm>
            <a:off x="8013700" y="4826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F2A20"/>
                </a:solidFill>
                <a:latin typeface="MiSans"/>
                <a:ea typeface="MiSans"/>
              </a:rPr>
              <a:t>Crop Comparison</a:t>
            </a:r>
            <a:endParaRPr lang="en-US" sz="1100" noProof="1"/>
          </a:p>
        </p:txBody>
      </p:sp>
      <p:sp>
        <p:nvSpPr>
          <p:cNvPr id="32" name="n9-c"/>
          <p:cNvSpPr/>
          <p:nvPr/>
        </p:nvSpPr>
        <p:spPr>
          <a:xfrm>
            <a:off x="6756400" y="4191000"/>
            <a:ext cx="508000" cy="508000"/>
          </a:xfrm>
          <a:prstGeom prst="ellipse">
            <a:avLst/>
          </a:prstGeom>
          <a:solidFill>
            <a:srgbClr val="3E7A4E"/>
          </a:solidFill>
          <a:ln>
            <a:noFill/>
          </a:ln>
        </p:spPr>
      </p:sp>
      <p:sp>
        <p:nvSpPr>
          <p:cNvPr id="33" name="n9-t"/>
          <p:cNvSpPr txBox="1"/>
          <p:nvPr/>
        </p:nvSpPr>
        <p:spPr>
          <a:xfrm>
            <a:off x="6756400" y="4191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9</a:t>
            </a:r>
            <a:endParaRPr lang="en-US" sz="1400" noProof="1"/>
          </a:p>
        </p:txBody>
      </p:sp>
      <p:sp>
        <p:nvSpPr>
          <p:cNvPr id="34" name="n9-l"/>
          <p:cNvSpPr txBox="1"/>
          <p:nvPr/>
        </p:nvSpPr>
        <p:spPr>
          <a:xfrm>
            <a:off x="6184900" y="4826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73B27"/>
                </a:solidFill>
                <a:latin typeface="MiSans"/>
                <a:ea typeface="MiSans"/>
              </a:rPr>
              <a:t>What-If</a:t>
            </a:r>
            <a:endParaRPr lang="en-US" sz="1100" noProof="1"/>
          </a:p>
        </p:txBody>
      </p:sp>
      <p:sp>
        <p:nvSpPr>
          <p:cNvPr id="35" name="n10-c"/>
          <p:cNvSpPr/>
          <p:nvPr/>
        </p:nvSpPr>
        <p:spPr>
          <a:xfrm>
            <a:off x="4927600" y="4191000"/>
            <a:ext cx="508000" cy="5080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36" name="n10-t"/>
          <p:cNvSpPr txBox="1"/>
          <p:nvPr/>
        </p:nvSpPr>
        <p:spPr>
          <a:xfrm>
            <a:off x="4927600" y="4191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3E7A4E"/>
                </a:solidFill>
                <a:latin typeface="MiSans"/>
                <a:ea typeface="MiSans"/>
              </a:rPr>
              <a:t>10</a:t>
            </a:r>
            <a:endParaRPr lang="en-US" sz="1400" noProof="1"/>
          </a:p>
        </p:txBody>
      </p:sp>
      <p:sp>
        <p:nvSpPr>
          <p:cNvPr id="37" name="n10-l"/>
          <p:cNvSpPr txBox="1"/>
          <p:nvPr/>
        </p:nvSpPr>
        <p:spPr>
          <a:xfrm>
            <a:off x="4356100" y="4826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F2A20"/>
                </a:solidFill>
                <a:latin typeface="MiSans"/>
                <a:ea typeface="MiSans"/>
              </a:rPr>
              <a:t>Scenario Analysis</a:t>
            </a:r>
            <a:endParaRPr lang="en-US" sz="1100" noProof="1"/>
          </a:p>
        </p:txBody>
      </p:sp>
      <p:sp>
        <p:nvSpPr>
          <p:cNvPr id="38" name="n11-c"/>
          <p:cNvSpPr/>
          <p:nvPr/>
        </p:nvSpPr>
        <p:spPr>
          <a:xfrm>
            <a:off x="3098800" y="4191000"/>
            <a:ext cx="508000" cy="5080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39" name="n11-t"/>
          <p:cNvSpPr txBox="1"/>
          <p:nvPr/>
        </p:nvSpPr>
        <p:spPr>
          <a:xfrm>
            <a:off x="3098800" y="4191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3E7A4E"/>
                </a:solidFill>
                <a:latin typeface="MiSans"/>
                <a:ea typeface="MiSans"/>
              </a:rPr>
              <a:t>11</a:t>
            </a:r>
            <a:endParaRPr lang="en-US" sz="1400" noProof="1"/>
          </a:p>
        </p:txBody>
      </p:sp>
      <p:sp>
        <p:nvSpPr>
          <p:cNvPr id="40" name="n11-l"/>
          <p:cNvSpPr txBox="1"/>
          <p:nvPr/>
        </p:nvSpPr>
        <p:spPr>
          <a:xfrm>
            <a:off x="2527300" y="4826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F2A20"/>
                </a:solidFill>
                <a:latin typeface="MiSans"/>
                <a:ea typeface="MiSans"/>
              </a:rPr>
              <a:t>Long-Term Plan</a:t>
            </a:r>
            <a:endParaRPr lang="en-US" sz="1100" noProof="1"/>
          </a:p>
        </p:txBody>
      </p:sp>
      <p:sp>
        <p:nvSpPr>
          <p:cNvPr id="41" name="n12-c"/>
          <p:cNvSpPr/>
          <p:nvPr/>
        </p:nvSpPr>
        <p:spPr>
          <a:xfrm>
            <a:off x="1270000" y="4191000"/>
            <a:ext cx="508000" cy="508000"/>
          </a:xfrm>
          <a:prstGeom prst="ellipse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42" name="n12-t"/>
          <p:cNvSpPr txBox="1"/>
          <p:nvPr/>
        </p:nvSpPr>
        <p:spPr>
          <a:xfrm>
            <a:off x="1270000" y="4191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12</a:t>
            </a:r>
            <a:endParaRPr lang="en-US" sz="1400" noProof="1"/>
          </a:p>
        </p:txBody>
      </p:sp>
      <p:sp>
        <p:nvSpPr>
          <p:cNvPr id="43" name="n12-l"/>
          <p:cNvSpPr txBox="1"/>
          <p:nvPr/>
        </p:nvSpPr>
        <p:spPr>
          <a:xfrm>
            <a:off x="698500" y="4826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F2A20"/>
                </a:solidFill>
                <a:latin typeface="MiSans"/>
                <a:ea typeface="MiSans"/>
              </a:rPr>
              <a:t>Farm Report</a:t>
            </a:r>
            <a:endParaRPr lang="en-US" sz="1100" noProof="1"/>
          </a:p>
        </p:txBody>
      </p:sp>
      <p:sp>
        <p:nvSpPr>
          <p:cNvPr id="44" name="note"/>
          <p:cNvSpPr txBox="1"/>
          <p:nvPr/>
        </p:nvSpPr>
        <p:spPr>
          <a:xfrm>
            <a:off x="609600" y="59690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Each screen answers one question in the decision flow — no dead ends, no orphaned features.</a:t>
            </a:r>
            <a:endParaRPr lang="en-US" sz="1000" noProof="1"/>
          </a:p>
        </p:txBody>
      </p:sp>
      <p:sp>
        <p:nvSpPr>
          <p:cNvPr id="45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06 / 14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3E7A4E"/>
                </a:solidFill>
                <a:latin typeface="MiSans"/>
                <a:ea typeface="MiSans"/>
              </a:rPr>
              <a:t>UI SHOWCASE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58800"/>
            <a:ext cx="812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2A20"/>
                </a:solidFill>
                <a:latin typeface="MiSans"/>
                <a:ea typeface="MiSans"/>
              </a:rPr>
              <a:t>AgriSense — Mobile Experience</a:t>
            </a:r>
            <a:endParaRPr lang="en-US" sz="2600" noProof="1"/>
          </a:p>
        </p:txBody>
      </p:sp>
      <p:sp>
        <p:nvSpPr>
          <p:cNvPr id="4" name="p1-bezel"/>
          <p:cNvSpPr/>
          <p:nvPr/>
        </p:nvSpPr>
        <p:spPr>
          <a:xfrm>
            <a:off x="1409700" y="1219200"/>
            <a:ext cx="1905000" cy="4013200"/>
          </a:xfrm>
          <a:prstGeom prst="roundRect">
            <a:avLst>
              <a:gd name="adj" fmla="val 9000"/>
            </a:avLst>
          </a:prstGeom>
          <a:solidFill>
            <a:srgbClr val="101812"/>
          </a:solidFill>
          <a:ln>
            <a:noFill/>
          </a:ln>
        </p:spPr>
      </p:sp>
      <p:sp>
        <p:nvSpPr>
          <p:cNvPr id="5" name="p1-screen"/>
          <p:cNvSpPr/>
          <p:nvPr/>
        </p:nvSpPr>
        <p:spPr>
          <a:xfrm>
            <a:off x="1498600" y="1308100"/>
            <a:ext cx="1727200" cy="3835400"/>
          </a:xfrm>
          <a:prstGeom prst="roundRect">
            <a:avLst>
              <a:gd name="adj" fmla="val 7000"/>
            </a:avLst>
          </a:prstGeom>
          <a:solidFill>
            <a:srgbClr val="FDFBF4"/>
          </a:solidFill>
          <a:ln>
            <a:noFill/>
          </a:ln>
        </p:spPr>
      </p:sp>
      <p:sp>
        <p:nvSpPr>
          <p:cNvPr id="6" name="p1-header"/>
          <p:cNvSpPr/>
          <p:nvPr/>
        </p:nvSpPr>
        <p:spPr>
          <a:xfrm>
            <a:off x="1498600" y="1308100"/>
            <a:ext cx="1727200" cy="660400"/>
          </a:xfrm>
          <a:prstGeom prst="roundRect">
            <a:avLst>
              <a:gd name="adj" fmla="val 7000"/>
            </a:avLst>
          </a:prstGeom>
          <a:solidFill>
            <a:srgbClr val="173B27"/>
          </a:solidFill>
          <a:ln>
            <a:noFill/>
          </a:ln>
        </p:spPr>
      </p:sp>
      <p:sp>
        <p:nvSpPr>
          <p:cNvPr id="7" name="p1-header-fix"/>
          <p:cNvSpPr/>
          <p:nvPr/>
        </p:nvSpPr>
        <p:spPr>
          <a:xfrm>
            <a:off x="1498600" y="1638300"/>
            <a:ext cx="1727200" cy="330200"/>
          </a:xfrm>
          <a:prstGeom prst="rect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8" name="p1-header-text"/>
          <p:cNvSpPr txBox="1"/>
          <p:nvPr/>
        </p:nvSpPr>
        <p:spPr>
          <a:xfrm>
            <a:off x="1651000" y="1524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>
                <a:solidFill>
                  <a:srgbClr val="FFFFFF"/>
                </a:solidFill>
                <a:latin typeface="MiSans"/>
                <a:ea typeface="MiSans"/>
              </a:rPr>
              <a:t>AgriSense</a:t>
            </a:r>
            <a:endParaRPr lang="en-US" sz="1000" noProof="1"/>
          </a:p>
        </p:txBody>
      </p:sp>
      <p:sp>
        <p:nvSpPr>
          <p:cNvPr id="9" name="p1-header-icon"/>
          <p:cNvSpPr/>
          <p:nvPr>
            <p:extLst>
              <p:ext uri="{F5677B7D-0D2A-4D9B-9A5C-6D8D7D0E5A5D}">
                <pptd:icon encoding="base64url">eyJpY29uTmFtZSI6ImZhczpzZWVkbGluZyJ9</pptd:icon>
              </p:ext>
            </p:extLst>
          </p:nvPr>
        </p:nvSpPr>
        <p:spPr>
          <a:xfrm>
            <a:off x="2921000" y="1536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8FBF7F"/>
          </a:solidFill>
          <a:ln>
            <a:noFill/>
          </a:ln>
        </p:spPr>
      </p:sp>
      <p:sp>
        <p:nvSpPr>
          <p:cNvPr id="10" name="p1-block"/>
          <p:cNvSpPr/>
          <p:nvPr/>
        </p:nvSpPr>
        <p:spPr>
          <a:xfrm>
            <a:off x="1638300" y="2184400"/>
            <a:ext cx="1447800" cy="939800"/>
          </a:xfrm>
          <a:prstGeom prst="roundRect">
            <a:avLst>
              <a:gd name="adj" fmla="val 10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11" name="p1-block-icon"/>
          <p:cNvSpPr/>
          <p:nvPr>
            <p:extLst>
              <p:ext uri="{F5677B7D-0D2A-4D9B-9A5C-6D8D7D0E5A5D}">
                <pptd:icon encoding="base64url">eyJpY29uTmFtZSI6ImZhczpjaGFydC1jb2x1bW4ifQ</pptd:icon>
              </p:ext>
            </p:extLst>
          </p:nvPr>
        </p:nvSpPr>
        <p:spPr>
          <a:xfrm>
            <a:off x="2235200" y="2501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32"/>
                </a:moveTo>
                <a:cubicBezTo>
                  <a:pt x="50" y="32"/>
                  <a:pt x="64" y="46"/>
                  <a:pt x="64" y="64"/>
                </a:cubicBezTo>
                <a:lnTo>
                  <a:pt x="64" y="400"/>
                </a:lnTo>
                <a:cubicBezTo>
                  <a:pt x="64" y="409"/>
                  <a:pt x="71" y="416"/>
                  <a:pt x="80" y="416"/>
                </a:cubicBezTo>
                <a:lnTo>
                  <a:pt x="480" y="416"/>
                </a:lnTo>
                <a:cubicBezTo>
                  <a:pt x="498" y="416"/>
                  <a:pt x="512" y="430"/>
                  <a:pt x="512" y="448"/>
                </a:cubicBezTo>
                <a:cubicBezTo>
                  <a:pt x="512" y="466"/>
                  <a:pt x="498" y="480"/>
                  <a:pt x="480" y="480"/>
                </a:cubicBezTo>
                <a:lnTo>
                  <a:pt x="80" y="480"/>
                </a:lnTo>
                <a:cubicBezTo>
                  <a:pt x="36" y="480"/>
                  <a:pt x="0" y="444"/>
                  <a:pt x="0" y="400"/>
                </a:cubicBezTo>
                <a:lnTo>
                  <a:pt x="0" y="64"/>
                </a:lnTo>
                <a:cubicBezTo>
                  <a:pt x="0" y="46"/>
                  <a:pt x="14" y="32"/>
                  <a:pt x="32" y="32"/>
                </a:cubicBezTo>
                <a:close/>
              </a:path>
              <a:path w="512" h="512">
                <a:moveTo>
                  <a:pt x="144" y="224"/>
                </a:moveTo>
                <a:cubicBezTo>
                  <a:pt x="162" y="224"/>
                  <a:pt x="176" y="238"/>
                  <a:pt x="176" y="256"/>
                </a:cubicBezTo>
                <a:lnTo>
                  <a:pt x="176" y="320"/>
                </a:lnTo>
                <a:cubicBezTo>
                  <a:pt x="176" y="338"/>
                  <a:pt x="162" y="352"/>
                  <a:pt x="144" y="352"/>
                </a:cubicBezTo>
                <a:cubicBezTo>
                  <a:pt x="126" y="352"/>
                  <a:pt x="112" y="338"/>
                  <a:pt x="112" y="320"/>
                </a:cubicBezTo>
                <a:lnTo>
                  <a:pt x="112" y="256"/>
                </a:lnTo>
                <a:cubicBezTo>
                  <a:pt x="112" y="238"/>
                  <a:pt x="126" y="224"/>
                  <a:pt x="144" y="224"/>
                </a:cubicBezTo>
                <a:close/>
              </a:path>
              <a:path w="512" h="512">
                <a:moveTo>
                  <a:pt x="288" y="160"/>
                </a:moveTo>
                <a:lnTo>
                  <a:pt x="288" y="320"/>
                </a:lnTo>
                <a:cubicBezTo>
                  <a:pt x="288" y="338"/>
                  <a:pt x="274" y="352"/>
                  <a:pt x="256" y="352"/>
                </a:cubicBezTo>
                <a:cubicBezTo>
                  <a:pt x="238" y="352"/>
                  <a:pt x="224" y="338"/>
                  <a:pt x="224" y="320"/>
                </a:cubicBezTo>
                <a:lnTo>
                  <a:pt x="224" y="160"/>
                </a:ln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lose/>
              </a:path>
              <a:path w="512" h="512">
                <a:moveTo>
                  <a:pt x="368" y="192"/>
                </a:moveTo>
                <a:cubicBezTo>
                  <a:pt x="386" y="192"/>
                  <a:pt x="400" y="206"/>
                  <a:pt x="400" y="224"/>
                </a:cubicBezTo>
                <a:lnTo>
                  <a:pt x="400" y="320"/>
                </a:lnTo>
                <a:cubicBezTo>
                  <a:pt x="400" y="338"/>
                  <a:pt x="386" y="352"/>
                  <a:pt x="368" y="352"/>
                </a:cubicBezTo>
                <a:cubicBezTo>
                  <a:pt x="350" y="352"/>
                  <a:pt x="336" y="338"/>
                  <a:pt x="336" y="320"/>
                </a:cubicBezTo>
                <a:lnTo>
                  <a:pt x="336" y="224"/>
                </a:lnTo>
                <a:cubicBezTo>
                  <a:pt x="336" y="206"/>
                  <a:pt x="350" y="192"/>
                  <a:pt x="368" y="192"/>
                </a:cubicBezTo>
                <a:close/>
              </a:path>
              <a:path w="512" h="512">
                <a:moveTo>
                  <a:pt x="512" y="96"/>
                </a:moveTo>
                <a:lnTo>
                  <a:pt x="512" y="320"/>
                </a:lnTo>
                <a:cubicBezTo>
                  <a:pt x="512" y="338"/>
                  <a:pt x="498" y="352"/>
                  <a:pt x="480" y="352"/>
                </a:cubicBezTo>
                <a:cubicBezTo>
                  <a:pt x="462" y="352"/>
                  <a:pt x="448" y="338"/>
                  <a:pt x="448" y="320"/>
                </a:cubicBezTo>
                <a:lnTo>
                  <a:pt x="448" y="96"/>
                </a:lnTo>
                <a:cubicBezTo>
                  <a:pt x="448" y="78"/>
                  <a:pt x="462" y="64"/>
                  <a:pt x="480" y="64"/>
                </a:cubicBezTo>
                <a:cubicBezTo>
                  <a:pt x="498" y="64"/>
                  <a:pt x="512" y="78"/>
                  <a:pt x="512" y="96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2" name="p1-line1"/>
          <p:cNvSpPr/>
          <p:nvPr/>
        </p:nvSpPr>
        <p:spPr>
          <a:xfrm>
            <a:off x="1638300" y="3302000"/>
            <a:ext cx="1447800" cy="101600"/>
          </a:xfrm>
          <a:prstGeom prst="rect">
            <a:avLst/>
          </a:prstGeom>
          <a:solidFill>
            <a:srgbClr val="E9E2CE"/>
          </a:solidFill>
          <a:ln>
            <a:noFill/>
          </a:ln>
        </p:spPr>
      </p:sp>
      <p:sp>
        <p:nvSpPr>
          <p:cNvPr id="13" name="p1-line2"/>
          <p:cNvSpPr/>
          <p:nvPr/>
        </p:nvSpPr>
        <p:spPr>
          <a:xfrm>
            <a:off x="1638300" y="3479800"/>
            <a:ext cx="1041400" cy="101600"/>
          </a:xfrm>
          <a:prstGeom prst="rect">
            <a:avLst/>
          </a:prstGeom>
          <a:solidFill>
            <a:srgbClr val="E9E2CE"/>
          </a:solidFill>
          <a:ln>
            <a:noFill/>
          </a:ln>
        </p:spPr>
      </p:sp>
      <p:sp>
        <p:nvSpPr>
          <p:cNvPr id="14" name="p1-chip"/>
          <p:cNvSpPr/>
          <p:nvPr/>
        </p:nvSpPr>
        <p:spPr>
          <a:xfrm>
            <a:off x="1638300" y="3759200"/>
            <a:ext cx="1447800" cy="330200"/>
          </a:xfrm>
          <a:prstGeom prst="roundRect">
            <a:avLst>
              <a:gd name="adj" fmla="val 50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15" name="p1-line3"/>
          <p:cNvSpPr/>
          <p:nvPr/>
        </p:nvSpPr>
        <p:spPr>
          <a:xfrm>
            <a:off x="1638300" y="4267200"/>
            <a:ext cx="1270000" cy="101600"/>
          </a:xfrm>
          <a:prstGeom prst="rect">
            <a:avLst/>
          </a:prstGeom>
          <a:solidFill>
            <a:srgbClr val="E9E2CE"/>
          </a:solidFill>
          <a:ln>
            <a:noFill/>
          </a:ln>
        </p:spPr>
      </p:sp>
      <p:sp>
        <p:nvSpPr>
          <p:cNvPr id="16" name="p1-label"/>
          <p:cNvSpPr txBox="1"/>
          <p:nvPr/>
        </p:nvSpPr>
        <p:spPr>
          <a:xfrm>
            <a:off x="1409700" y="53848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73B27"/>
                </a:solidFill>
                <a:latin typeface="MiSans"/>
                <a:ea typeface="MiSans"/>
              </a:rPr>
              <a:t>Dashboard</a:t>
            </a:r>
            <a:endParaRPr lang="en-US" sz="1200" noProof="1"/>
          </a:p>
        </p:txBody>
      </p:sp>
      <p:sp>
        <p:nvSpPr>
          <p:cNvPr id="17" name="p2-bezel"/>
          <p:cNvSpPr/>
          <p:nvPr/>
        </p:nvSpPr>
        <p:spPr>
          <a:xfrm>
            <a:off x="3898900" y="1219200"/>
            <a:ext cx="1905000" cy="4013200"/>
          </a:xfrm>
          <a:prstGeom prst="roundRect">
            <a:avLst>
              <a:gd name="adj" fmla="val 9000"/>
            </a:avLst>
          </a:prstGeom>
          <a:solidFill>
            <a:srgbClr val="101812"/>
          </a:solidFill>
          <a:ln>
            <a:noFill/>
          </a:ln>
        </p:spPr>
      </p:sp>
      <p:sp>
        <p:nvSpPr>
          <p:cNvPr id="18" name="p2-screen"/>
          <p:cNvSpPr/>
          <p:nvPr/>
        </p:nvSpPr>
        <p:spPr>
          <a:xfrm>
            <a:off x="3987800" y="1308100"/>
            <a:ext cx="1727200" cy="3835400"/>
          </a:xfrm>
          <a:prstGeom prst="roundRect">
            <a:avLst>
              <a:gd name="adj" fmla="val 7000"/>
            </a:avLst>
          </a:prstGeom>
          <a:solidFill>
            <a:srgbClr val="FDFBF4"/>
          </a:solidFill>
          <a:ln>
            <a:noFill/>
          </a:ln>
        </p:spPr>
      </p:sp>
      <p:sp>
        <p:nvSpPr>
          <p:cNvPr id="19" name="p2-header"/>
          <p:cNvSpPr/>
          <p:nvPr/>
        </p:nvSpPr>
        <p:spPr>
          <a:xfrm>
            <a:off x="3987800" y="1308100"/>
            <a:ext cx="1727200" cy="660400"/>
          </a:xfrm>
          <a:prstGeom prst="roundRect">
            <a:avLst>
              <a:gd name="adj" fmla="val 7000"/>
            </a:avLst>
          </a:prstGeom>
          <a:solidFill>
            <a:srgbClr val="173B27"/>
          </a:solidFill>
          <a:ln>
            <a:noFill/>
          </a:ln>
        </p:spPr>
      </p:sp>
      <p:sp>
        <p:nvSpPr>
          <p:cNvPr id="20" name="p2-header-fix"/>
          <p:cNvSpPr/>
          <p:nvPr/>
        </p:nvSpPr>
        <p:spPr>
          <a:xfrm>
            <a:off x="3987800" y="1638300"/>
            <a:ext cx="1727200" cy="330200"/>
          </a:xfrm>
          <a:prstGeom prst="rect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21" name="p2-header-text"/>
          <p:cNvSpPr txBox="1"/>
          <p:nvPr/>
        </p:nvSpPr>
        <p:spPr>
          <a:xfrm>
            <a:off x="4140200" y="1524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>
                <a:solidFill>
                  <a:srgbClr val="FFFFFF"/>
                </a:solidFill>
                <a:latin typeface="MiSans"/>
                <a:ea typeface="MiSans"/>
              </a:rPr>
              <a:t>AgriSense</a:t>
            </a:r>
            <a:endParaRPr lang="en-US" sz="1000" noProof="1"/>
          </a:p>
        </p:txBody>
      </p:sp>
      <p:sp>
        <p:nvSpPr>
          <p:cNvPr id="22" name="p2-header-icon"/>
          <p:cNvSpPr/>
          <p:nvPr>
            <p:extLst>
              <p:ext uri="{F5677B7D-0D2A-4D9B-9A5C-6D8D7D0E5A5D}">
                <pptd:icon encoding="base64url">eyJpY29uTmFtZSI6ImZhczpzZWVkbGluZyJ9</pptd:icon>
              </p:ext>
            </p:extLst>
          </p:nvPr>
        </p:nvSpPr>
        <p:spPr>
          <a:xfrm>
            <a:off x="5410200" y="1536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8FBF7F"/>
          </a:solidFill>
          <a:ln>
            <a:noFill/>
          </a:ln>
        </p:spPr>
      </p:sp>
      <p:sp>
        <p:nvSpPr>
          <p:cNvPr id="23" name="p2-block"/>
          <p:cNvSpPr/>
          <p:nvPr/>
        </p:nvSpPr>
        <p:spPr>
          <a:xfrm>
            <a:off x="4127500" y="2184400"/>
            <a:ext cx="1447800" cy="939800"/>
          </a:xfrm>
          <a:prstGeom prst="roundRect">
            <a:avLst>
              <a:gd name="adj" fmla="val 10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24" name="p2-block-icon"/>
          <p:cNvSpPr/>
          <p:nvPr>
            <p:extLst>
              <p:ext uri="{F5677B7D-0D2A-4D9B-9A5C-6D8D7D0E5A5D}">
                <pptd:icon encoding="base64url">eyJpY29uTmFtZSI6ImZhczpmbGFzayJ9</pptd:icon>
              </p:ext>
            </p:extLst>
          </p:nvPr>
        </p:nvSpPr>
        <p:spPr>
          <a:xfrm>
            <a:off x="4724400" y="2501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5" name="p2-line1"/>
          <p:cNvSpPr/>
          <p:nvPr/>
        </p:nvSpPr>
        <p:spPr>
          <a:xfrm>
            <a:off x="4127500" y="3302000"/>
            <a:ext cx="1447800" cy="101600"/>
          </a:xfrm>
          <a:prstGeom prst="rect">
            <a:avLst/>
          </a:prstGeom>
          <a:solidFill>
            <a:srgbClr val="E9E2CE"/>
          </a:solidFill>
          <a:ln>
            <a:noFill/>
          </a:ln>
        </p:spPr>
      </p:sp>
      <p:sp>
        <p:nvSpPr>
          <p:cNvPr id="26" name="p2-line2"/>
          <p:cNvSpPr/>
          <p:nvPr/>
        </p:nvSpPr>
        <p:spPr>
          <a:xfrm>
            <a:off x="4127500" y="3479800"/>
            <a:ext cx="1041400" cy="101600"/>
          </a:xfrm>
          <a:prstGeom prst="rect">
            <a:avLst/>
          </a:prstGeom>
          <a:solidFill>
            <a:srgbClr val="E9E2CE"/>
          </a:solidFill>
          <a:ln>
            <a:noFill/>
          </a:ln>
        </p:spPr>
      </p:sp>
      <p:sp>
        <p:nvSpPr>
          <p:cNvPr id="27" name="p2-chip"/>
          <p:cNvSpPr/>
          <p:nvPr/>
        </p:nvSpPr>
        <p:spPr>
          <a:xfrm>
            <a:off x="4127500" y="3759200"/>
            <a:ext cx="1447800" cy="330200"/>
          </a:xfrm>
          <a:prstGeom prst="roundRect">
            <a:avLst>
              <a:gd name="adj" fmla="val 50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28" name="p2-line3"/>
          <p:cNvSpPr/>
          <p:nvPr/>
        </p:nvSpPr>
        <p:spPr>
          <a:xfrm>
            <a:off x="4127500" y="4267200"/>
            <a:ext cx="1270000" cy="101600"/>
          </a:xfrm>
          <a:prstGeom prst="rect">
            <a:avLst/>
          </a:prstGeom>
          <a:solidFill>
            <a:srgbClr val="E9E2CE"/>
          </a:solidFill>
          <a:ln>
            <a:noFill/>
          </a:ln>
        </p:spPr>
      </p:sp>
      <p:sp>
        <p:nvSpPr>
          <p:cNvPr id="29" name="p2-label"/>
          <p:cNvSpPr txBox="1"/>
          <p:nvPr/>
        </p:nvSpPr>
        <p:spPr>
          <a:xfrm>
            <a:off x="3898900" y="53848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73B27"/>
                </a:solidFill>
                <a:latin typeface="MiSans"/>
                <a:ea typeface="MiSans"/>
              </a:rPr>
              <a:t>Soil Analysis</a:t>
            </a:r>
            <a:endParaRPr lang="en-US" sz="1200" noProof="1"/>
          </a:p>
        </p:txBody>
      </p:sp>
      <p:sp>
        <p:nvSpPr>
          <p:cNvPr id="30" name="p3-bezel"/>
          <p:cNvSpPr/>
          <p:nvPr/>
        </p:nvSpPr>
        <p:spPr>
          <a:xfrm>
            <a:off x="6388100" y="1219200"/>
            <a:ext cx="1905000" cy="4013200"/>
          </a:xfrm>
          <a:prstGeom prst="roundRect">
            <a:avLst>
              <a:gd name="adj" fmla="val 9000"/>
            </a:avLst>
          </a:prstGeom>
          <a:solidFill>
            <a:srgbClr val="101812"/>
          </a:solidFill>
          <a:ln>
            <a:noFill/>
          </a:ln>
        </p:spPr>
      </p:sp>
      <p:sp>
        <p:nvSpPr>
          <p:cNvPr id="31" name="p3-screen"/>
          <p:cNvSpPr/>
          <p:nvPr/>
        </p:nvSpPr>
        <p:spPr>
          <a:xfrm>
            <a:off x="6477000" y="1308100"/>
            <a:ext cx="1727200" cy="3835400"/>
          </a:xfrm>
          <a:prstGeom prst="roundRect">
            <a:avLst>
              <a:gd name="adj" fmla="val 7000"/>
            </a:avLst>
          </a:prstGeom>
          <a:solidFill>
            <a:srgbClr val="FDFBF4"/>
          </a:solidFill>
          <a:ln>
            <a:noFill/>
          </a:ln>
        </p:spPr>
      </p:sp>
      <p:sp>
        <p:nvSpPr>
          <p:cNvPr id="32" name="p3-header"/>
          <p:cNvSpPr/>
          <p:nvPr/>
        </p:nvSpPr>
        <p:spPr>
          <a:xfrm>
            <a:off x="6477000" y="1308100"/>
            <a:ext cx="1727200" cy="660400"/>
          </a:xfrm>
          <a:prstGeom prst="roundRect">
            <a:avLst>
              <a:gd name="adj" fmla="val 7000"/>
            </a:avLst>
          </a:prstGeom>
          <a:solidFill>
            <a:srgbClr val="173B27"/>
          </a:solidFill>
          <a:ln>
            <a:noFill/>
          </a:ln>
        </p:spPr>
      </p:sp>
      <p:sp>
        <p:nvSpPr>
          <p:cNvPr id="33" name="p3-header-fix"/>
          <p:cNvSpPr/>
          <p:nvPr/>
        </p:nvSpPr>
        <p:spPr>
          <a:xfrm>
            <a:off x="6477000" y="1638300"/>
            <a:ext cx="1727200" cy="330200"/>
          </a:xfrm>
          <a:prstGeom prst="rect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34" name="p3-header-text"/>
          <p:cNvSpPr txBox="1"/>
          <p:nvPr/>
        </p:nvSpPr>
        <p:spPr>
          <a:xfrm>
            <a:off x="6629400" y="1524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>
                <a:solidFill>
                  <a:srgbClr val="FFFFFF"/>
                </a:solidFill>
                <a:latin typeface="MiSans"/>
                <a:ea typeface="MiSans"/>
              </a:rPr>
              <a:t>AgriSense</a:t>
            </a:r>
            <a:endParaRPr lang="en-US" sz="1000" noProof="1"/>
          </a:p>
        </p:txBody>
      </p:sp>
      <p:sp>
        <p:nvSpPr>
          <p:cNvPr id="35" name="p3-header-icon"/>
          <p:cNvSpPr/>
          <p:nvPr>
            <p:extLst>
              <p:ext uri="{F5677B7D-0D2A-4D9B-9A5C-6D8D7D0E5A5D}">
                <pptd:icon encoding="base64url">eyJpY29uTmFtZSI6ImZhczpzZWVkbGluZyJ9</pptd:icon>
              </p:ext>
            </p:extLst>
          </p:nvPr>
        </p:nvSpPr>
        <p:spPr>
          <a:xfrm>
            <a:off x="7899400" y="1536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8FBF7F"/>
          </a:solidFill>
          <a:ln>
            <a:noFill/>
          </a:ln>
        </p:spPr>
      </p:sp>
      <p:sp>
        <p:nvSpPr>
          <p:cNvPr id="36" name="p3-block"/>
          <p:cNvSpPr/>
          <p:nvPr/>
        </p:nvSpPr>
        <p:spPr>
          <a:xfrm>
            <a:off x="6616700" y="2184400"/>
            <a:ext cx="1447800" cy="939800"/>
          </a:xfrm>
          <a:prstGeom prst="roundRect">
            <a:avLst>
              <a:gd name="adj" fmla="val 10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37" name="p3-block-icon"/>
          <p:cNvSpPr/>
          <p:nvPr>
            <p:extLst>
              <p:ext uri="{F5677B7D-0D2A-4D9B-9A5C-6D8D7D0E5A5D}">
                <pptd:icon encoding="base64url">eyJpY29uTmFtZSI6ImZhczpsaXN0LWNoZWNrIn0</pptd:icon>
              </p:ext>
            </p:extLst>
          </p:nvPr>
        </p:nvSpPr>
        <p:spPr>
          <a:xfrm>
            <a:off x="7213600" y="2501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34" y="36"/>
                </a:moveTo>
                <a:cubicBezTo>
                  <a:pt x="145" y="44"/>
                  <a:pt x="147" y="59"/>
                  <a:pt x="140" y="70"/>
                </a:cubicBezTo>
                <a:lnTo>
                  <a:pt x="84" y="150"/>
                </a:lnTo>
                <a:cubicBezTo>
                  <a:pt x="80" y="156"/>
                  <a:pt x="73" y="159"/>
                  <a:pt x="66" y="160"/>
                </a:cubicBezTo>
                <a:cubicBezTo>
                  <a:pt x="59" y="160"/>
                  <a:pt x="52" y="158"/>
                  <a:pt x="47" y="153"/>
                </a:cubicBezTo>
                <a:lnTo>
                  <a:pt x="7" y="113"/>
                </a:lnTo>
                <a:cubicBezTo>
                  <a:pt x="-2" y="104"/>
                  <a:pt x="-2" y="88"/>
                  <a:pt x="7" y="79"/>
                </a:cubicBezTo>
                <a:cubicBezTo>
                  <a:pt x="16" y="70"/>
                  <a:pt x="32" y="70"/>
                  <a:pt x="41" y="79"/>
                </a:cubicBezTo>
                <a:lnTo>
                  <a:pt x="61" y="99"/>
                </a:lnTo>
                <a:lnTo>
                  <a:pt x="100" y="42"/>
                </a:lnTo>
                <a:cubicBezTo>
                  <a:pt x="108" y="31"/>
                  <a:pt x="123" y="29"/>
                  <a:pt x="134" y="36"/>
                </a:cubicBezTo>
                <a:close/>
              </a:path>
              <a:path w="512" h="512">
                <a:moveTo>
                  <a:pt x="134" y="196"/>
                </a:moveTo>
                <a:cubicBezTo>
                  <a:pt x="145" y="204"/>
                  <a:pt x="147" y="219"/>
                  <a:pt x="140" y="230"/>
                </a:cubicBezTo>
                <a:lnTo>
                  <a:pt x="84" y="310"/>
                </a:lnTo>
                <a:cubicBezTo>
                  <a:pt x="80" y="316"/>
                  <a:pt x="73" y="319"/>
                  <a:pt x="66" y="320"/>
                </a:cubicBezTo>
                <a:cubicBezTo>
                  <a:pt x="59" y="320"/>
                  <a:pt x="52" y="318"/>
                  <a:pt x="47" y="313"/>
                </a:cubicBezTo>
                <a:lnTo>
                  <a:pt x="7" y="273"/>
                </a:lnTo>
                <a:cubicBezTo>
                  <a:pt x="-2" y="264"/>
                  <a:pt x="-2" y="248"/>
                  <a:pt x="7" y="239"/>
                </a:cubicBezTo>
                <a:cubicBezTo>
                  <a:pt x="16" y="230"/>
                  <a:pt x="32" y="230"/>
                  <a:pt x="41" y="239"/>
                </a:cubicBezTo>
                <a:lnTo>
                  <a:pt x="61" y="259"/>
                </a:lnTo>
                <a:lnTo>
                  <a:pt x="100" y="202"/>
                </a:lnTo>
                <a:cubicBezTo>
                  <a:pt x="108" y="191"/>
                  <a:pt x="123" y="189"/>
                  <a:pt x="134" y="196"/>
                </a:cubicBezTo>
                <a:close/>
              </a:path>
              <a:path w="512" h="512">
                <a:moveTo>
                  <a:pt x="224" y="96"/>
                </a:moveTo>
                <a:cubicBezTo>
                  <a:pt x="224" y="78"/>
                  <a:pt x="238" y="64"/>
                  <a:pt x="256" y="64"/>
                </a:cubicBezTo>
                <a:lnTo>
                  <a:pt x="480" y="64"/>
                </a:lnTo>
                <a:cubicBezTo>
                  <a:pt x="498" y="64"/>
                  <a:pt x="512" y="78"/>
                  <a:pt x="512" y="96"/>
                </a:cubicBezTo>
                <a:cubicBezTo>
                  <a:pt x="512" y="114"/>
                  <a:pt x="498" y="128"/>
                  <a:pt x="480" y="128"/>
                </a:cubicBezTo>
                <a:lnTo>
                  <a:pt x="256" y="128"/>
                </a:lnTo>
                <a:cubicBezTo>
                  <a:pt x="238" y="128"/>
                  <a:pt x="224" y="114"/>
                  <a:pt x="224" y="9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256" y="288"/>
                </a:lnTo>
                <a:cubicBezTo>
                  <a:pt x="238" y="288"/>
                  <a:pt x="224" y="274"/>
                  <a:pt x="224" y="256"/>
                </a:cubicBezTo>
                <a:close/>
              </a:path>
              <a:path w="512" h="512">
                <a:moveTo>
                  <a:pt x="160" y="416"/>
                </a:moveTo>
                <a:cubicBezTo>
                  <a:pt x="160" y="398"/>
                  <a:pt x="174" y="384"/>
                  <a:pt x="192" y="384"/>
                </a:cubicBezTo>
                <a:lnTo>
                  <a:pt x="480" y="384"/>
                </a:lnTo>
                <a:cubicBezTo>
                  <a:pt x="498" y="384"/>
                  <a:pt x="512" y="398"/>
                  <a:pt x="512" y="416"/>
                </a:cubicBezTo>
                <a:cubicBezTo>
                  <a:pt x="512" y="434"/>
                  <a:pt x="498" y="448"/>
                  <a:pt x="480" y="448"/>
                </a:cubicBezTo>
                <a:lnTo>
                  <a:pt x="192" y="448"/>
                </a:lnTo>
                <a:cubicBezTo>
                  <a:pt x="174" y="448"/>
                  <a:pt x="160" y="434"/>
                  <a:pt x="160" y="416"/>
                </a:cubicBezTo>
                <a:close/>
              </a:path>
              <a:path w="512" h="512">
                <a:moveTo>
                  <a:pt x="64" y="376"/>
                </a:moveTo>
                <a:cubicBezTo>
                  <a:pt x="86" y="376"/>
                  <a:pt x="104" y="394"/>
                  <a:pt x="104" y="416"/>
                </a:cubicBezTo>
                <a:cubicBezTo>
                  <a:pt x="104" y="438"/>
                  <a:pt x="86" y="456"/>
                  <a:pt x="64" y="456"/>
                </a:cubicBezTo>
                <a:cubicBezTo>
                  <a:pt x="42" y="456"/>
                  <a:pt x="24" y="438"/>
                  <a:pt x="24" y="416"/>
                </a:cubicBezTo>
                <a:cubicBezTo>
                  <a:pt x="24" y="394"/>
                  <a:pt x="42" y="376"/>
                  <a:pt x="64" y="376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38" name="p3-line1"/>
          <p:cNvSpPr/>
          <p:nvPr/>
        </p:nvSpPr>
        <p:spPr>
          <a:xfrm>
            <a:off x="6616700" y="3302000"/>
            <a:ext cx="1447800" cy="101600"/>
          </a:xfrm>
          <a:prstGeom prst="rect">
            <a:avLst/>
          </a:prstGeom>
          <a:solidFill>
            <a:srgbClr val="E9E2CE"/>
          </a:solidFill>
          <a:ln>
            <a:noFill/>
          </a:ln>
        </p:spPr>
      </p:sp>
      <p:sp>
        <p:nvSpPr>
          <p:cNvPr id="39" name="p3-line2"/>
          <p:cNvSpPr/>
          <p:nvPr/>
        </p:nvSpPr>
        <p:spPr>
          <a:xfrm>
            <a:off x="6616700" y="3479800"/>
            <a:ext cx="1041400" cy="101600"/>
          </a:xfrm>
          <a:prstGeom prst="rect">
            <a:avLst/>
          </a:prstGeom>
          <a:solidFill>
            <a:srgbClr val="E9E2CE"/>
          </a:solidFill>
          <a:ln>
            <a:noFill/>
          </a:ln>
        </p:spPr>
      </p:sp>
      <p:sp>
        <p:nvSpPr>
          <p:cNvPr id="40" name="p3-chip"/>
          <p:cNvSpPr/>
          <p:nvPr/>
        </p:nvSpPr>
        <p:spPr>
          <a:xfrm>
            <a:off x="6616700" y="3759200"/>
            <a:ext cx="1447800" cy="330200"/>
          </a:xfrm>
          <a:prstGeom prst="roundRect">
            <a:avLst>
              <a:gd name="adj" fmla="val 50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41" name="p3-line3"/>
          <p:cNvSpPr/>
          <p:nvPr/>
        </p:nvSpPr>
        <p:spPr>
          <a:xfrm>
            <a:off x="6616700" y="4267200"/>
            <a:ext cx="1270000" cy="101600"/>
          </a:xfrm>
          <a:prstGeom prst="rect">
            <a:avLst/>
          </a:prstGeom>
          <a:solidFill>
            <a:srgbClr val="E9E2CE"/>
          </a:solidFill>
          <a:ln>
            <a:noFill/>
          </a:ln>
        </p:spPr>
      </p:sp>
      <p:sp>
        <p:nvSpPr>
          <p:cNvPr id="42" name="p3-label"/>
          <p:cNvSpPr txBox="1"/>
          <p:nvPr/>
        </p:nvSpPr>
        <p:spPr>
          <a:xfrm>
            <a:off x="6388100" y="53848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73B27"/>
                </a:solidFill>
                <a:latin typeface="MiSans"/>
                <a:ea typeface="MiSans"/>
              </a:rPr>
              <a:t>Crop Recommendations</a:t>
            </a:r>
            <a:endParaRPr lang="en-US" sz="1200" noProof="1"/>
          </a:p>
        </p:txBody>
      </p:sp>
      <p:sp>
        <p:nvSpPr>
          <p:cNvPr id="43" name="p4-bezel"/>
          <p:cNvSpPr/>
          <p:nvPr/>
        </p:nvSpPr>
        <p:spPr>
          <a:xfrm>
            <a:off x="8877300" y="1219200"/>
            <a:ext cx="1905000" cy="4013200"/>
          </a:xfrm>
          <a:prstGeom prst="roundRect">
            <a:avLst>
              <a:gd name="adj" fmla="val 9000"/>
            </a:avLst>
          </a:prstGeom>
          <a:solidFill>
            <a:srgbClr val="101812"/>
          </a:solidFill>
          <a:ln>
            <a:noFill/>
          </a:ln>
        </p:spPr>
      </p:sp>
      <p:sp>
        <p:nvSpPr>
          <p:cNvPr id="44" name="p4-screen"/>
          <p:cNvSpPr/>
          <p:nvPr/>
        </p:nvSpPr>
        <p:spPr>
          <a:xfrm>
            <a:off x="8966200" y="1308100"/>
            <a:ext cx="1727200" cy="3835400"/>
          </a:xfrm>
          <a:prstGeom prst="roundRect">
            <a:avLst>
              <a:gd name="adj" fmla="val 7000"/>
            </a:avLst>
          </a:prstGeom>
          <a:solidFill>
            <a:srgbClr val="FDFBF4"/>
          </a:solidFill>
          <a:ln>
            <a:noFill/>
          </a:ln>
        </p:spPr>
      </p:sp>
      <p:sp>
        <p:nvSpPr>
          <p:cNvPr id="45" name="p4-header"/>
          <p:cNvSpPr/>
          <p:nvPr/>
        </p:nvSpPr>
        <p:spPr>
          <a:xfrm>
            <a:off x="8966200" y="1308100"/>
            <a:ext cx="1727200" cy="660400"/>
          </a:xfrm>
          <a:prstGeom prst="roundRect">
            <a:avLst>
              <a:gd name="adj" fmla="val 7000"/>
            </a:avLst>
          </a:prstGeom>
          <a:solidFill>
            <a:srgbClr val="173B27"/>
          </a:solidFill>
          <a:ln>
            <a:noFill/>
          </a:ln>
        </p:spPr>
      </p:sp>
      <p:sp>
        <p:nvSpPr>
          <p:cNvPr id="46" name="p4-header-fix"/>
          <p:cNvSpPr/>
          <p:nvPr/>
        </p:nvSpPr>
        <p:spPr>
          <a:xfrm>
            <a:off x="8966200" y="1638300"/>
            <a:ext cx="1727200" cy="330200"/>
          </a:xfrm>
          <a:prstGeom prst="rect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47" name="p4-header-text"/>
          <p:cNvSpPr txBox="1"/>
          <p:nvPr/>
        </p:nvSpPr>
        <p:spPr>
          <a:xfrm>
            <a:off x="9118600" y="1524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>
                <a:solidFill>
                  <a:srgbClr val="FFFFFF"/>
                </a:solidFill>
                <a:latin typeface="MiSans"/>
                <a:ea typeface="MiSans"/>
              </a:rPr>
              <a:t>AgriSense</a:t>
            </a:r>
            <a:endParaRPr lang="en-US" sz="1000" noProof="1"/>
          </a:p>
        </p:txBody>
      </p:sp>
      <p:sp>
        <p:nvSpPr>
          <p:cNvPr id="48" name="p4-header-icon"/>
          <p:cNvSpPr/>
          <p:nvPr>
            <p:extLst>
              <p:ext uri="{F5677B7D-0D2A-4D9B-9A5C-6D8D7D0E5A5D}">
                <pptd:icon encoding="base64url">eyJpY29uTmFtZSI6ImZhczpzZWVkbGluZyJ9</pptd:icon>
              </p:ext>
            </p:extLst>
          </p:nvPr>
        </p:nvSpPr>
        <p:spPr>
          <a:xfrm>
            <a:off x="10388600" y="1536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8FBF7F"/>
          </a:solidFill>
          <a:ln>
            <a:noFill/>
          </a:ln>
        </p:spPr>
      </p:sp>
      <p:sp>
        <p:nvSpPr>
          <p:cNvPr id="49" name="p4-block"/>
          <p:cNvSpPr/>
          <p:nvPr/>
        </p:nvSpPr>
        <p:spPr>
          <a:xfrm>
            <a:off x="9105900" y="2184400"/>
            <a:ext cx="1447800" cy="939800"/>
          </a:xfrm>
          <a:prstGeom prst="roundRect">
            <a:avLst>
              <a:gd name="adj" fmla="val 10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50" name="p4-block-icon"/>
          <p:cNvSpPr/>
          <p:nvPr>
            <p:extLst>
              <p:ext uri="{F5677B7D-0D2A-4D9B-9A5C-6D8D7D0E5A5D}">
                <pptd:icon encoding="base64url">eyJpY29uTmFtZSI6ImZhczpzbGlkZXJzIn0</pptd:icon>
              </p:ext>
            </p:extLst>
          </p:nvPr>
        </p:nvSpPr>
        <p:spPr>
          <a:xfrm>
            <a:off x="9702800" y="2501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64"/>
                </a:moveTo>
                <a:cubicBezTo>
                  <a:pt x="14" y="64"/>
                  <a:pt x="0" y="78"/>
                  <a:pt x="0" y="96"/>
                </a:cubicBezTo>
                <a:cubicBezTo>
                  <a:pt x="0" y="114"/>
                  <a:pt x="14" y="128"/>
                  <a:pt x="32" y="128"/>
                </a:cubicBezTo>
                <a:lnTo>
                  <a:pt x="119" y="128"/>
                </a:lnTo>
                <a:cubicBezTo>
                  <a:pt x="131" y="156"/>
                  <a:pt x="159" y="176"/>
                  <a:pt x="192" y="176"/>
                </a:cubicBezTo>
                <a:cubicBezTo>
                  <a:pt x="225" y="176"/>
                  <a:pt x="253" y="156"/>
                  <a:pt x="265" y="128"/>
                </a:cubicBezTo>
                <a:lnTo>
                  <a:pt x="480" y="128"/>
                </a:lnTo>
                <a:cubicBezTo>
                  <a:pt x="498" y="128"/>
                  <a:pt x="512" y="114"/>
                  <a:pt x="512" y="96"/>
                </a:cubicBezTo>
                <a:cubicBezTo>
                  <a:pt x="512" y="78"/>
                  <a:pt x="498" y="64"/>
                  <a:pt x="480" y="64"/>
                </a:cubicBezTo>
                <a:lnTo>
                  <a:pt x="265" y="64"/>
                </a:lnTo>
                <a:cubicBezTo>
                  <a:pt x="253" y="36"/>
                  <a:pt x="225" y="16"/>
                  <a:pt x="192" y="16"/>
                </a:cubicBezTo>
                <a:cubicBezTo>
                  <a:pt x="159" y="16"/>
                  <a:pt x="131" y="36"/>
                  <a:pt x="119" y="64"/>
                </a:cubicBezTo>
                <a:lnTo>
                  <a:pt x="32" y="64"/>
                </a:lnTo>
                <a:close/>
              </a:path>
              <a:path w="512" h="512">
                <a:moveTo>
                  <a:pt x="32" y="224"/>
                </a:move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279" y="288"/>
                </a:lnTo>
                <a:cubicBezTo>
                  <a:pt x="291" y="316"/>
                  <a:pt x="319" y="336"/>
                  <a:pt x="352" y="336"/>
                </a:cubicBezTo>
                <a:cubicBezTo>
                  <a:pt x="385" y="336"/>
                  <a:pt x="413" y="316"/>
                  <a:pt x="425" y="288"/>
                </a:cubicBezTo>
                <a:lnTo>
                  <a:pt x="480" y="288"/>
                </a:lnTo>
                <a:cubicBezTo>
                  <a:pt x="498" y="288"/>
                  <a:pt x="512" y="274"/>
                  <a:pt x="512" y="256"/>
                </a:cubicBezTo>
                <a:cubicBezTo>
                  <a:pt x="512" y="238"/>
                  <a:pt x="498" y="224"/>
                  <a:pt x="480" y="224"/>
                </a:cubicBezTo>
                <a:lnTo>
                  <a:pt x="425" y="224"/>
                </a:lnTo>
                <a:cubicBezTo>
                  <a:pt x="413" y="196"/>
                  <a:pt x="385" y="176"/>
                  <a:pt x="352" y="176"/>
                </a:cubicBezTo>
                <a:cubicBezTo>
                  <a:pt x="319" y="176"/>
                  <a:pt x="291" y="196"/>
                  <a:pt x="279" y="224"/>
                </a:cubicBezTo>
                <a:lnTo>
                  <a:pt x="32" y="224"/>
                </a:lnTo>
                <a:close/>
              </a:path>
              <a:path w="512" h="512">
                <a:moveTo>
                  <a:pt x="32" y="384"/>
                </a:moveTo>
                <a:cubicBezTo>
                  <a:pt x="14" y="384"/>
                  <a:pt x="0" y="398"/>
                  <a:pt x="0" y="416"/>
                </a:cubicBezTo>
                <a:cubicBezTo>
                  <a:pt x="0" y="434"/>
                  <a:pt x="14" y="448"/>
                  <a:pt x="32" y="448"/>
                </a:cubicBezTo>
                <a:lnTo>
                  <a:pt x="87" y="448"/>
                </a:lnTo>
                <a:cubicBezTo>
                  <a:pt x="99" y="476"/>
                  <a:pt x="127" y="496"/>
                  <a:pt x="160" y="496"/>
                </a:cubicBezTo>
                <a:cubicBezTo>
                  <a:pt x="193" y="496"/>
                  <a:pt x="221" y="476"/>
                  <a:pt x="233" y="448"/>
                </a:cubicBezTo>
                <a:lnTo>
                  <a:pt x="480" y="448"/>
                </a:lnTo>
                <a:cubicBezTo>
                  <a:pt x="498" y="448"/>
                  <a:pt x="512" y="434"/>
                  <a:pt x="512" y="416"/>
                </a:cubicBezTo>
                <a:cubicBezTo>
                  <a:pt x="512" y="398"/>
                  <a:pt x="498" y="384"/>
                  <a:pt x="480" y="384"/>
                </a:cubicBezTo>
                <a:lnTo>
                  <a:pt x="233" y="384"/>
                </a:lnTo>
                <a:cubicBezTo>
                  <a:pt x="221" y="356"/>
                  <a:pt x="193" y="336"/>
                  <a:pt x="160" y="336"/>
                </a:cubicBezTo>
                <a:cubicBezTo>
                  <a:pt x="127" y="336"/>
                  <a:pt x="99" y="356"/>
                  <a:pt x="87" y="384"/>
                </a:cubicBezTo>
                <a:lnTo>
                  <a:pt x="32" y="384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51" name="p4-line1"/>
          <p:cNvSpPr/>
          <p:nvPr/>
        </p:nvSpPr>
        <p:spPr>
          <a:xfrm>
            <a:off x="9105900" y="3302000"/>
            <a:ext cx="1447800" cy="101600"/>
          </a:xfrm>
          <a:prstGeom prst="rect">
            <a:avLst/>
          </a:prstGeom>
          <a:solidFill>
            <a:srgbClr val="E9E2CE"/>
          </a:solidFill>
          <a:ln>
            <a:noFill/>
          </a:ln>
        </p:spPr>
      </p:sp>
      <p:sp>
        <p:nvSpPr>
          <p:cNvPr id="52" name="p4-line2"/>
          <p:cNvSpPr/>
          <p:nvPr/>
        </p:nvSpPr>
        <p:spPr>
          <a:xfrm>
            <a:off x="9105900" y="3479800"/>
            <a:ext cx="1041400" cy="101600"/>
          </a:xfrm>
          <a:prstGeom prst="rect">
            <a:avLst/>
          </a:prstGeom>
          <a:solidFill>
            <a:srgbClr val="E9E2CE"/>
          </a:solidFill>
          <a:ln>
            <a:noFill/>
          </a:ln>
        </p:spPr>
      </p:sp>
      <p:sp>
        <p:nvSpPr>
          <p:cNvPr id="53" name="p4-chip"/>
          <p:cNvSpPr/>
          <p:nvPr/>
        </p:nvSpPr>
        <p:spPr>
          <a:xfrm>
            <a:off x="9105900" y="3759200"/>
            <a:ext cx="1447800" cy="330200"/>
          </a:xfrm>
          <a:prstGeom prst="roundRect">
            <a:avLst>
              <a:gd name="adj" fmla="val 50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54" name="p4-line3"/>
          <p:cNvSpPr/>
          <p:nvPr/>
        </p:nvSpPr>
        <p:spPr>
          <a:xfrm>
            <a:off x="9105900" y="4267200"/>
            <a:ext cx="1270000" cy="101600"/>
          </a:xfrm>
          <a:prstGeom prst="rect">
            <a:avLst/>
          </a:prstGeom>
          <a:solidFill>
            <a:srgbClr val="E9E2CE"/>
          </a:solidFill>
          <a:ln>
            <a:noFill/>
          </a:ln>
        </p:spPr>
      </p:sp>
      <p:sp>
        <p:nvSpPr>
          <p:cNvPr id="55" name="p4-label"/>
          <p:cNvSpPr txBox="1"/>
          <p:nvPr/>
        </p:nvSpPr>
        <p:spPr>
          <a:xfrm>
            <a:off x="8877300" y="53848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73B27"/>
                </a:solidFill>
                <a:latin typeface="MiSans"/>
                <a:ea typeface="MiSans"/>
              </a:rPr>
              <a:t>What-If Simulator</a:t>
            </a:r>
            <a:endParaRPr lang="en-US" sz="1200" noProof="1"/>
          </a:p>
        </p:txBody>
      </p:sp>
      <p:sp>
        <p:nvSpPr>
          <p:cNvPr id="56" name="caption"/>
          <p:cNvSpPr txBox="1"/>
          <p:nvPr/>
        </p:nvSpPr>
        <p:spPr>
          <a:xfrm>
            <a:off x="609600" y="61468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Placeholder frames — app screenshots drop in at the same size, undistorted.</a:t>
            </a:r>
            <a:endParaRPr lang="en-US" sz="1000" noProof="1"/>
          </a:p>
        </p:txBody>
      </p:sp>
      <p:sp>
        <p:nvSpPr>
          <p:cNvPr id="57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07 / 14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3E7A4E"/>
                </a:solidFill>
                <a:latin typeface="MiSans"/>
                <a:ea typeface="MiSans"/>
              </a:rPr>
              <a:t>CROP RECOMMENDATION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2A20"/>
                </a:solidFill>
                <a:latin typeface="MiSans"/>
                <a:ea typeface="MiSans"/>
              </a:rPr>
              <a:t>More Than a Single Recommendation</a:t>
            </a:r>
            <a:endParaRPr lang="en-US" sz="2600" noProof="1"/>
          </a:p>
        </p:txBody>
      </p:sp>
      <p:sp>
        <p:nvSpPr>
          <p:cNvPr id="4" name="badge"/>
          <p:cNvSpPr/>
          <p:nvPr/>
        </p:nvSpPr>
        <p:spPr>
          <a:xfrm>
            <a:off x="8839200" y="660400"/>
            <a:ext cx="2743200" cy="279400"/>
          </a:xfrm>
          <a:prstGeom prst="roundRect">
            <a:avLst>
              <a:gd name="adj" fmla="val 50000"/>
            </a:avLst>
          </a:prstGeom>
          <a:solidFill>
            <a:srgbClr val="F4E3C2"/>
          </a:solidFill>
          <a:ln>
            <a:noFill/>
          </a:ln>
        </p:spPr>
      </p:sp>
      <p:sp>
        <p:nvSpPr>
          <p:cNvPr id="5" name="badge-text"/>
          <p:cNvSpPr txBox="1"/>
          <p:nvPr/>
        </p:nvSpPr>
        <p:spPr>
          <a:xfrm>
            <a:off x="8839200" y="6604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 spc="100" kern="0">
                <a:solidFill>
                  <a:srgbClr val="7A5410"/>
                </a:solidFill>
                <a:latin typeface="MiSans"/>
                <a:ea typeface="MiSans"/>
              </a:rPr>
              <a:t>PROTOTYPE · DEMO ESTIMATES</a:t>
            </a:r>
            <a:endParaRPr lang="en-US" sz="900" noProof="1"/>
          </a:p>
        </p:txBody>
      </p:sp>
      <p:sp>
        <p:nvSpPr>
          <p:cNvPr id="6" name="ch-crop"/>
          <p:cNvSpPr txBox="1"/>
          <p:nvPr/>
        </p:nvSpPr>
        <p:spPr>
          <a:xfrm>
            <a:off x="609600" y="1371600"/>
            <a:ext cx="152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66725F"/>
                </a:solidFill>
                <a:latin typeface="MiSans"/>
                <a:ea typeface="MiSans"/>
              </a:rPr>
              <a:t>CROP</a:t>
            </a:r>
            <a:endParaRPr lang="en-US" sz="900" noProof="1"/>
          </a:p>
        </p:txBody>
      </p:sp>
      <p:sp>
        <p:nvSpPr>
          <p:cNvPr id="7" name="ch-suit"/>
          <p:cNvSpPr txBox="1"/>
          <p:nvPr/>
        </p:nvSpPr>
        <p:spPr>
          <a:xfrm>
            <a:off x="2286000" y="13716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66725F"/>
                </a:solidFill>
                <a:latin typeface="MiSans"/>
                <a:ea typeface="MiSans"/>
              </a:rPr>
              <a:t>SUITABILITY / 100</a:t>
            </a:r>
            <a:endParaRPr lang="en-US" sz="900" noProof="1"/>
          </a:p>
        </p:txBody>
      </p:sp>
      <p:sp>
        <p:nvSpPr>
          <p:cNvPr id="8" name="ch-profit"/>
          <p:cNvSpPr txBox="1"/>
          <p:nvPr/>
        </p:nvSpPr>
        <p:spPr>
          <a:xfrm>
            <a:off x="5715000" y="1371600"/>
            <a:ext cx="3429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66725F"/>
                </a:solidFill>
                <a:latin typeface="MiSans"/>
                <a:ea typeface="MiSans"/>
              </a:rPr>
              <a:t>EXPECTED PROFIT (₹ / SEASON)</a:t>
            </a:r>
            <a:endParaRPr lang="en-US" sz="900" noProof="1"/>
          </a:p>
        </p:txBody>
      </p:sp>
      <p:sp>
        <p:nvSpPr>
          <p:cNvPr id="9" name="ch-risk"/>
          <p:cNvSpPr txBox="1"/>
          <p:nvPr/>
        </p:nvSpPr>
        <p:spPr>
          <a:xfrm>
            <a:off x="9398000" y="1371600"/>
            <a:ext cx="10668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66725F"/>
                </a:solidFill>
                <a:latin typeface="MiSans"/>
                <a:ea typeface="MiSans"/>
              </a:rPr>
              <a:t>RISK</a:t>
            </a:r>
            <a:endParaRPr lang="en-US" sz="900" noProof="1"/>
          </a:p>
        </p:txBody>
      </p:sp>
      <p:sp>
        <p:nvSpPr>
          <p:cNvPr id="10" name="ch-conf"/>
          <p:cNvSpPr txBox="1"/>
          <p:nvPr/>
        </p:nvSpPr>
        <p:spPr>
          <a:xfrm>
            <a:off x="10642600" y="1371600"/>
            <a:ext cx="9398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66725F"/>
                </a:solidFill>
                <a:latin typeface="MiSans"/>
                <a:ea typeface="MiSans"/>
              </a:rPr>
              <a:t>CONFIDENCE</a:t>
            </a:r>
            <a:endParaRPr lang="en-US" sz="900" noProof="1"/>
          </a:p>
        </p:txBody>
      </p:sp>
      <p:sp>
        <p:nvSpPr>
          <p:cNvPr id="11" name="r1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609600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2" name="r1-name"/>
          <p:cNvSpPr txBox="1"/>
          <p:nvPr/>
        </p:nvSpPr>
        <p:spPr>
          <a:xfrm>
            <a:off x="609600" y="2032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2A20"/>
                </a:solidFill>
                <a:latin typeface="MiSans"/>
                <a:ea typeface="MiSans"/>
              </a:rPr>
              <a:t>Maize</a:t>
            </a:r>
            <a:endParaRPr lang="en-US" sz="1400" noProof="1"/>
          </a:p>
        </p:txBody>
      </p:sp>
      <p:sp>
        <p:nvSpPr>
          <p:cNvPr id="13" name="r1-meta"/>
          <p:cNvSpPr txBox="1"/>
          <p:nvPr/>
        </p:nvSpPr>
        <p:spPr>
          <a:xfrm>
            <a:off x="609600" y="23114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95–110 days
Water: medium</a:t>
            </a:r>
            <a:endParaRPr lang="en-US" sz="900" noProof="1"/>
          </a:p>
        </p:txBody>
      </p:sp>
      <p:sp>
        <p:nvSpPr>
          <p:cNvPr id="14" name="r1-track"/>
          <p:cNvSpPr/>
          <p:nvPr/>
        </p:nvSpPr>
        <p:spPr>
          <a:xfrm>
            <a:off x="2286000" y="2032000"/>
            <a:ext cx="2667000" cy="1270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15" name="r1-fill"/>
          <p:cNvSpPr/>
          <p:nvPr/>
        </p:nvSpPr>
        <p:spPr>
          <a:xfrm>
            <a:off x="2286000" y="2032000"/>
            <a:ext cx="2324100" cy="127000"/>
          </a:xfrm>
          <a:prstGeom prst="roundRect">
            <a:avLst>
              <a:gd name="adj" fmla="val 50000"/>
            </a:avLst>
          </a:prstGeom>
          <a:solidFill>
            <a:srgbClr val="3E7A4E"/>
          </a:solidFill>
          <a:ln>
            <a:noFill/>
          </a:ln>
        </p:spPr>
      </p:sp>
      <p:sp>
        <p:nvSpPr>
          <p:cNvPr id="16" name="r1-score"/>
          <p:cNvSpPr txBox="1"/>
          <p:nvPr/>
        </p:nvSpPr>
        <p:spPr>
          <a:xfrm>
            <a:off x="5029200" y="19304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173B27"/>
                </a:solidFill>
                <a:latin typeface="MiSans"/>
                <a:ea typeface="MiSans"/>
              </a:rPr>
              <a:t>87</a:t>
            </a:r>
            <a:endParaRPr lang="en-US" sz="1500" noProof="1"/>
          </a:p>
        </p:txBody>
      </p:sp>
      <p:sp>
        <p:nvSpPr>
          <p:cNvPr id="17" name="r1-ptrack"/>
          <p:cNvSpPr/>
          <p:nvPr/>
        </p:nvSpPr>
        <p:spPr>
          <a:xfrm>
            <a:off x="5715000" y="2057400"/>
            <a:ext cx="3429000" cy="508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18" name="r1-pfill"/>
          <p:cNvSpPr/>
          <p:nvPr/>
        </p:nvSpPr>
        <p:spPr>
          <a:xfrm>
            <a:off x="7823200" y="2006600"/>
            <a:ext cx="1219200" cy="152400"/>
          </a:xfrm>
          <a:prstGeom prst="roundRect">
            <a:avLst>
              <a:gd name="adj" fmla="val 50000"/>
            </a:avLst>
          </a:prstGeom>
          <a:solidFill>
            <a:srgbClr val="8A6B45"/>
          </a:solidFill>
          <a:ln>
            <a:noFill/>
          </a:ln>
        </p:spPr>
      </p:sp>
      <p:sp>
        <p:nvSpPr>
          <p:cNvPr id="19" name="r1-prange"/>
          <p:cNvSpPr txBox="1"/>
          <p:nvPr/>
        </p:nvSpPr>
        <p:spPr>
          <a:xfrm>
            <a:off x="5715000" y="2286000"/>
            <a:ext cx="3429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 spc="100" kern="0">
                <a:solidFill>
                  <a:srgbClr val="66725F"/>
                </a:solidFill>
                <a:latin typeface="MiSans"/>
                <a:ea typeface="MiSans"/>
              </a:rPr>
              <a:t>₹43K – ₹68K</a:t>
            </a:r>
            <a:endParaRPr lang="en-US" sz="900" noProof="1"/>
          </a:p>
        </p:txBody>
      </p:sp>
      <p:sp>
        <p:nvSpPr>
          <p:cNvPr id="20" name="r1-risk"/>
          <p:cNvSpPr/>
          <p:nvPr/>
        </p:nvSpPr>
        <p:spPr>
          <a:xfrm>
            <a:off x="9398000" y="1955800"/>
            <a:ext cx="1066800" cy="279400"/>
          </a:xfrm>
          <a:prstGeom prst="roundRect">
            <a:avLst>
              <a:gd name="adj" fmla="val 50000"/>
            </a:avLst>
          </a:prstGeom>
          <a:solidFill>
            <a:srgbClr val="F4E3C2"/>
          </a:solidFill>
          <a:ln>
            <a:noFill/>
          </a:ln>
        </p:spPr>
      </p:sp>
      <p:sp>
        <p:nvSpPr>
          <p:cNvPr id="21" name="r1-risk-t"/>
          <p:cNvSpPr txBox="1"/>
          <p:nvPr/>
        </p:nvSpPr>
        <p:spPr>
          <a:xfrm>
            <a:off x="9398000" y="1955800"/>
            <a:ext cx="106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8A5E14"/>
                </a:solidFill>
                <a:latin typeface="MiSans"/>
                <a:ea typeface="MiSans"/>
              </a:rPr>
              <a:t>Medium</a:t>
            </a:r>
            <a:endParaRPr lang="en-US" sz="1000" noProof="1"/>
          </a:p>
        </p:txBody>
      </p:sp>
      <p:sp>
        <p:nvSpPr>
          <p:cNvPr id="22" name="r1-conf"/>
          <p:cNvSpPr txBox="1"/>
          <p:nvPr/>
        </p:nvSpPr>
        <p:spPr>
          <a:xfrm>
            <a:off x="10642600" y="1930400"/>
            <a:ext cx="939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173B27"/>
                </a:solidFill>
                <a:latin typeface="MiSans"/>
                <a:ea typeface="MiSans"/>
              </a:rPr>
              <a:t>76%</a:t>
            </a:r>
            <a:endParaRPr lang="en-US" sz="1700" noProof="1"/>
          </a:p>
        </p:txBody>
      </p:sp>
      <p:sp>
        <p:nvSpPr>
          <p:cNvPr id="23" name="sep1"/>
          <p:cNvSpPr/>
          <p:nvPr/>
        </p:nvSpPr>
        <p:spPr>
          <a:xfrm>
            <a:off x="609600" y="2743200"/>
            <a:ext cx="10972800" cy="12700"/>
          </a:xfrm>
          <a:prstGeom prst="rect">
            <a:avLst/>
          </a:prstGeom>
          <a:solidFill>
            <a:srgbClr val="D8D2BE"/>
          </a:solidFill>
          <a:ln>
            <a:noFill/>
          </a:ln>
        </p:spPr>
      </p:sp>
      <p:sp>
        <p:nvSpPr>
          <p:cNvPr id="24" name="r2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609600" y="294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5" name="r2-name"/>
          <p:cNvSpPr txBox="1"/>
          <p:nvPr/>
        </p:nvSpPr>
        <p:spPr>
          <a:xfrm>
            <a:off x="609600" y="32258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2A20"/>
                </a:solidFill>
                <a:latin typeface="MiSans"/>
                <a:ea typeface="MiSans"/>
              </a:rPr>
              <a:t>Mustard</a:t>
            </a:r>
            <a:endParaRPr lang="en-US" sz="1400" noProof="1"/>
          </a:p>
        </p:txBody>
      </p:sp>
      <p:sp>
        <p:nvSpPr>
          <p:cNvPr id="26" name="r2-meta"/>
          <p:cNvSpPr txBox="1"/>
          <p:nvPr/>
        </p:nvSpPr>
        <p:spPr>
          <a:xfrm>
            <a:off x="609600" y="35052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110–140 days
Water: low</a:t>
            </a:r>
            <a:endParaRPr lang="en-US" sz="900" noProof="1"/>
          </a:p>
        </p:txBody>
      </p:sp>
      <p:sp>
        <p:nvSpPr>
          <p:cNvPr id="27" name="r2-track"/>
          <p:cNvSpPr/>
          <p:nvPr/>
        </p:nvSpPr>
        <p:spPr>
          <a:xfrm>
            <a:off x="2286000" y="3225800"/>
            <a:ext cx="2667000" cy="1270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28" name="r2-fill"/>
          <p:cNvSpPr/>
          <p:nvPr/>
        </p:nvSpPr>
        <p:spPr>
          <a:xfrm>
            <a:off x="2286000" y="3225800"/>
            <a:ext cx="2184400" cy="127000"/>
          </a:xfrm>
          <a:prstGeom prst="roundRect">
            <a:avLst>
              <a:gd name="adj" fmla="val 50000"/>
            </a:avLst>
          </a:prstGeom>
          <a:solidFill>
            <a:srgbClr val="3E7A4E"/>
          </a:solidFill>
          <a:ln>
            <a:noFill/>
          </a:ln>
        </p:spPr>
      </p:sp>
      <p:sp>
        <p:nvSpPr>
          <p:cNvPr id="29" name="r2-score"/>
          <p:cNvSpPr txBox="1"/>
          <p:nvPr/>
        </p:nvSpPr>
        <p:spPr>
          <a:xfrm>
            <a:off x="5029200" y="3124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173B27"/>
                </a:solidFill>
                <a:latin typeface="MiSans"/>
                <a:ea typeface="MiSans"/>
              </a:rPr>
              <a:t>82</a:t>
            </a:r>
            <a:endParaRPr lang="en-US" sz="1500" noProof="1"/>
          </a:p>
        </p:txBody>
      </p:sp>
      <p:sp>
        <p:nvSpPr>
          <p:cNvPr id="30" name="r2-ptrack"/>
          <p:cNvSpPr/>
          <p:nvPr/>
        </p:nvSpPr>
        <p:spPr>
          <a:xfrm>
            <a:off x="5715000" y="3251200"/>
            <a:ext cx="3429000" cy="508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31" name="r2-pfill"/>
          <p:cNvSpPr/>
          <p:nvPr/>
        </p:nvSpPr>
        <p:spPr>
          <a:xfrm>
            <a:off x="7581900" y="3200400"/>
            <a:ext cx="1130300" cy="152400"/>
          </a:xfrm>
          <a:prstGeom prst="roundRect">
            <a:avLst>
              <a:gd name="adj" fmla="val 50000"/>
            </a:avLst>
          </a:prstGeom>
          <a:solidFill>
            <a:srgbClr val="8A6B45"/>
          </a:solidFill>
          <a:ln>
            <a:noFill/>
          </a:ln>
        </p:spPr>
      </p:sp>
      <p:sp>
        <p:nvSpPr>
          <p:cNvPr id="32" name="r2-prange"/>
          <p:cNvSpPr txBox="1"/>
          <p:nvPr/>
        </p:nvSpPr>
        <p:spPr>
          <a:xfrm>
            <a:off x="5715000" y="3479800"/>
            <a:ext cx="3429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 spc="100" kern="0">
                <a:solidFill>
                  <a:srgbClr val="66725F"/>
                </a:solidFill>
                <a:latin typeface="MiSans"/>
                <a:ea typeface="MiSans"/>
              </a:rPr>
              <a:t>₹38K – ₹61K</a:t>
            </a:r>
            <a:endParaRPr lang="en-US" sz="900" noProof="1"/>
          </a:p>
        </p:txBody>
      </p:sp>
      <p:sp>
        <p:nvSpPr>
          <p:cNvPr id="33" name="r2-risk"/>
          <p:cNvSpPr/>
          <p:nvPr/>
        </p:nvSpPr>
        <p:spPr>
          <a:xfrm>
            <a:off x="9398000" y="3149600"/>
            <a:ext cx="1066800" cy="279400"/>
          </a:xfrm>
          <a:prstGeom prst="roundRect">
            <a:avLst>
              <a:gd name="adj" fmla="val 50000"/>
            </a:avLst>
          </a:prstGeom>
          <a:solidFill>
            <a:srgbClr val="F4E3C2"/>
          </a:solidFill>
          <a:ln>
            <a:noFill/>
          </a:ln>
        </p:spPr>
      </p:sp>
      <p:sp>
        <p:nvSpPr>
          <p:cNvPr id="34" name="r2-risk-t"/>
          <p:cNvSpPr txBox="1"/>
          <p:nvPr/>
        </p:nvSpPr>
        <p:spPr>
          <a:xfrm>
            <a:off x="9398000" y="3149600"/>
            <a:ext cx="106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8A5E14"/>
                </a:solidFill>
                <a:latin typeface="MiSans"/>
                <a:ea typeface="MiSans"/>
              </a:rPr>
              <a:t>Low–Med</a:t>
            </a:r>
            <a:endParaRPr lang="en-US" sz="1000" noProof="1"/>
          </a:p>
        </p:txBody>
      </p:sp>
      <p:sp>
        <p:nvSpPr>
          <p:cNvPr id="35" name="r2-conf"/>
          <p:cNvSpPr txBox="1"/>
          <p:nvPr/>
        </p:nvSpPr>
        <p:spPr>
          <a:xfrm>
            <a:off x="10642600" y="3124200"/>
            <a:ext cx="939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173B27"/>
                </a:solidFill>
                <a:latin typeface="MiSans"/>
                <a:ea typeface="MiSans"/>
              </a:rPr>
              <a:t>81%</a:t>
            </a:r>
            <a:endParaRPr lang="en-US" sz="1700" noProof="1"/>
          </a:p>
        </p:txBody>
      </p:sp>
      <p:sp>
        <p:nvSpPr>
          <p:cNvPr id="36" name="sep2"/>
          <p:cNvSpPr/>
          <p:nvPr/>
        </p:nvSpPr>
        <p:spPr>
          <a:xfrm>
            <a:off x="609600" y="3937000"/>
            <a:ext cx="10972800" cy="12700"/>
          </a:xfrm>
          <a:prstGeom prst="rect">
            <a:avLst/>
          </a:prstGeom>
          <a:solidFill>
            <a:srgbClr val="D8D2BE"/>
          </a:solidFill>
          <a:ln>
            <a:noFill/>
          </a:ln>
        </p:spPr>
      </p:sp>
      <p:sp>
        <p:nvSpPr>
          <p:cNvPr id="37" name="r3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609600" y="414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38" name="r3-name"/>
          <p:cNvSpPr txBox="1"/>
          <p:nvPr/>
        </p:nvSpPr>
        <p:spPr>
          <a:xfrm>
            <a:off x="609600" y="44196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2A20"/>
                </a:solidFill>
                <a:latin typeface="MiSans"/>
                <a:ea typeface="MiSans"/>
              </a:rPr>
              <a:t>Chickpea</a:t>
            </a:r>
            <a:endParaRPr lang="en-US" sz="1400" noProof="1"/>
          </a:p>
        </p:txBody>
      </p:sp>
      <p:sp>
        <p:nvSpPr>
          <p:cNvPr id="39" name="r3-meta"/>
          <p:cNvSpPr txBox="1"/>
          <p:nvPr/>
        </p:nvSpPr>
        <p:spPr>
          <a:xfrm>
            <a:off x="609600" y="46990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100–120 days
Water: low</a:t>
            </a:r>
            <a:endParaRPr lang="en-US" sz="900" noProof="1"/>
          </a:p>
        </p:txBody>
      </p:sp>
      <p:sp>
        <p:nvSpPr>
          <p:cNvPr id="40" name="r3-track"/>
          <p:cNvSpPr/>
          <p:nvPr/>
        </p:nvSpPr>
        <p:spPr>
          <a:xfrm>
            <a:off x="2286000" y="4419600"/>
            <a:ext cx="2667000" cy="1270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41" name="r3-fill"/>
          <p:cNvSpPr/>
          <p:nvPr/>
        </p:nvSpPr>
        <p:spPr>
          <a:xfrm>
            <a:off x="2286000" y="4419600"/>
            <a:ext cx="2082800" cy="127000"/>
          </a:xfrm>
          <a:prstGeom prst="roundRect">
            <a:avLst>
              <a:gd name="adj" fmla="val 50000"/>
            </a:avLst>
          </a:prstGeom>
          <a:solidFill>
            <a:srgbClr val="3E7A4E"/>
          </a:solidFill>
          <a:ln>
            <a:noFill/>
          </a:ln>
        </p:spPr>
      </p:sp>
      <p:sp>
        <p:nvSpPr>
          <p:cNvPr id="42" name="r3-score"/>
          <p:cNvSpPr txBox="1"/>
          <p:nvPr/>
        </p:nvSpPr>
        <p:spPr>
          <a:xfrm>
            <a:off x="5029200" y="4318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173B27"/>
                </a:solidFill>
                <a:latin typeface="MiSans"/>
                <a:ea typeface="MiSans"/>
              </a:rPr>
              <a:t>78</a:t>
            </a:r>
            <a:endParaRPr lang="en-US" sz="1500" noProof="1"/>
          </a:p>
        </p:txBody>
      </p:sp>
      <p:sp>
        <p:nvSpPr>
          <p:cNvPr id="43" name="r3-ptrack"/>
          <p:cNvSpPr/>
          <p:nvPr/>
        </p:nvSpPr>
        <p:spPr>
          <a:xfrm>
            <a:off x="5715000" y="4445000"/>
            <a:ext cx="3429000" cy="508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44" name="r3-pfill"/>
          <p:cNvSpPr/>
          <p:nvPr/>
        </p:nvSpPr>
        <p:spPr>
          <a:xfrm>
            <a:off x="7378700" y="4394200"/>
            <a:ext cx="1130300" cy="152400"/>
          </a:xfrm>
          <a:prstGeom prst="roundRect">
            <a:avLst>
              <a:gd name="adj" fmla="val 50000"/>
            </a:avLst>
          </a:prstGeom>
          <a:solidFill>
            <a:srgbClr val="8A6B45"/>
          </a:solidFill>
          <a:ln>
            <a:noFill/>
          </a:ln>
        </p:spPr>
      </p:sp>
      <p:sp>
        <p:nvSpPr>
          <p:cNvPr id="45" name="r3-prange"/>
          <p:cNvSpPr txBox="1"/>
          <p:nvPr/>
        </p:nvSpPr>
        <p:spPr>
          <a:xfrm>
            <a:off x="5715000" y="4673600"/>
            <a:ext cx="3429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 spc="100" kern="0">
                <a:solidFill>
                  <a:srgbClr val="66725F"/>
                </a:solidFill>
                <a:latin typeface="MiSans"/>
                <a:ea typeface="MiSans"/>
              </a:rPr>
              <a:t>₹34K – ₹57K</a:t>
            </a:r>
            <a:endParaRPr lang="en-US" sz="900" noProof="1"/>
          </a:p>
        </p:txBody>
      </p:sp>
      <p:sp>
        <p:nvSpPr>
          <p:cNvPr id="46" name="r3-risk"/>
          <p:cNvSpPr/>
          <p:nvPr/>
        </p:nvSpPr>
        <p:spPr>
          <a:xfrm>
            <a:off x="9398000" y="4343400"/>
            <a:ext cx="1066800" cy="279400"/>
          </a:xfrm>
          <a:prstGeom prst="roundRect">
            <a:avLst>
              <a:gd name="adj" fmla="val 50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47" name="r3-risk-t"/>
          <p:cNvSpPr txBox="1"/>
          <p:nvPr/>
        </p:nvSpPr>
        <p:spPr>
          <a:xfrm>
            <a:off x="9398000" y="4343400"/>
            <a:ext cx="106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173B27"/>
                </a:solidFill>
                <a:latin typeface="MiSans"/>
                <a:ea typeface="MiSans"/>
              </a:rPr>
              <a:t>Low</a:t>
            </a:r>
            <a:endParaRPr lang="en-US" sz="1000" noProof="1"/>
          </a:p>
        </p:txBody>
      </p:sp>
      <p:sp>
        <p:nvSpPr>
          <p:cNvPr id="48" name="r3-conf"/>
          <p:cNvSpPr txBox="1"/>
          <p:nvPr/>
        </p:nvSpPr>
        <p:spPr>
          <a:xfrm>
            <a:off x="10642600" y="4318000"/>
            <a:ext cx="939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173B27"/>
                </a:solidFill>
                <a:latin typeface="MiSans"/>
                <a:ea typeface="MiSans"/>
              </a:rPr>
              <a:t>72%</a:t>
            </a:r>
            <a:endParaRPr lang="en-US" sz="1700" noProof="1"/>
          </a:p>
        </p:txBody>
      </p:sp>
      <p:sp>
        <p:nvSpPr>
          <p:cNvPr id="49" name="sep3"/>
          <p:cNvSpPr/>
          <p:nvPr/>
        </p:nvSpPr>
        <p:spPr>
          <a:xfrm>
            <a:off x="609600" y="5130800"/>
            <a:ext cx="10972800" cy="12700"/>
          </a:xfrm>
          <a:prstGeom prst="rect">
            <a:avLst/>
          </a:prstGeom>
          <a:solidFill>
            <a:srgbClr val="D8D2BE"/>
          </a:solidFill>
          <a:ln>
            <a:noFill/>
          </a:ln>
        </p:spPr>
      </p:sp>
      <p:sp>
        <p:nvSpPr>
          <p:cNvPr id="50" name="r4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609600" y="533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51" name="r4-name"/>
          <p:cNvSpPr txBox="1"/>
          <p:nvPr/>
        </p:nvSpPr>
        <p:spPr>
          <a:xfrm>
            <a:off x="609600" y="56134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2A20"/>
                </a:solidFill>
                <a:latin typeface="MiSans"/>
                <a:ea typeface="MiSans"/>
              </a:rPr>
              <a:t>Rice</a:t>
            </a:r>
            <a:endParaRPr lang="en-US" sz="1400" noProof="1"/>
          </a:p>
        </p:txBody>
      </p:sp>
      <p:sp>
        <p:nvSpPr>
          <p:cNvPr id="52" name="r4-meta"/>
          <p:cNvSpPr txBox="1"/>
          <p:nvPr/>
        </p:nvSpPr>
        <p:spPr>
          <a:xfrm>
            <a:off x="609600" y="58928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130–150 days
Water: high</a:t>
            </a:r>
            <a:endParaRPr lang="en-US" sz="900" noProof="1"/>
          </a:p>
        </p:txBody>
      </p:sp>
      <p:sp>
        <p:nvSpPr>
          <p:cNvPr id="53" name="r4-track"/>
          <p:cNvSpPr/>
          <p:nvPr/>
        </p:nvSpPr>
        <p:spPr>
          <a:xfrm>
            <a:off x="2286000" y="5613400"/>
            <a:ext cx="2667000" cy="1270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54" name="r4-fill"/>
          <p:cNvSpPr/>
          <p:nvPr/>
        </p:nvSpPr>
        <p:spPr>
          <a:xfrm>
            <a:off x="2286000" y="5613400"/>
            <a:ext cx="1625600" cy="127000"/>
          </a:xfrm>
          <a:prstGeom prst="roundRect">
            <a:avLst>
              <a:gd name="adj" fmla="val 50000"/>
            </a:avLst>
          </a:prstGeom>
          <a:solidFill>
            <a:srgbClr val="8A6B45"/>
          </a:solidFill>
          <a:ln>
            <a:noFill/>
          </a:ln>
        </p:spPr>
      </p:sp>
      <p:sp>
        <p:nvSpPr>
          <p:cNvPr id="55" name="r4-score"/>
          <p:cNvSpPr txBox="1"/>
          <p:nvPr/>
        </p:nvSpPr>
        <p:spPr>
          <a:xfrm>
            <a:off x="5029200" y="55118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173B27"/>
                </a:solidFill>
                <a:latin typeface="MiSans"/>
                <a:ea typeface="MiSans"/>
              </a:rPr>
              <a:t>61</a:t>
            </a:r>
            <a:endParaRPr lang="en-US" sz="1500" noProof="1"/>
          </a:p>
        </p:txBody>
      </p:sp>
      <p:sp>
        <p:nvSpPr>
          <p:cNvPr id="56" name="r4-ptrack"/>
          <p:cNvSpPr/>
          <p:nvPr/>
        </p:nvSpPr>
        <p:spPr>
          <a:xfrm>
            <a:off x="5715000" y="5638800"/>
            <a:ext cx="3429000" cy="508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57" name="r4-pfill"/>
          <p:cNvSpPr/>
          <p:nvPr/>
        </p:nvSpPr>
        <p:spPr>
          <a:xfrm>
            <a:off x="7188200" y="5588000"/>
            <a:ext cx="1663700" cy="152400"/>
          </a:xfrm>
          <a:prstGeom prst="roundRect">
            <a:avLst>
              <a:gd name="adj" fmla="val 50000"/>
            </a:avLst>
          </a:prstGeom>
          <a:solidFill>
            <a:srgbClr val="8A6B45"/>
          </a:solidFill>
          <a:ln>
            <a:noFill/>
          </a:ln>
        </p:spPr>
      </p:sp>
      <p:sp>
        <p:nvSpPr>
          <p:cNvPr id="58" name="r4-prange"/>
          <p:cNvSpPr txBox="1"/>
          <p:nvPr/>
        </p:nvSpPr>
        <p:spPr>
          <a:xfrm>
            <a:off x="5715000" y="5867400"/>
            <a:ext cx="3429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 spc="100" kern="0">
                <a:solidFill>
                  <a:srgbClr val="66725F"/>
                </a:solidFill>
                <a:latin typeface="MiSans"/>
                <a:ea typeface="MiSans"/>
              </a:rPr>
              <a:t>₹30K – ₹64K</a:t>
            </a:r>
            <a:endParaRPr lang="en-US" sz="900" noProof="1"/>
          </a:p>
        </p:txBody>
      </p:sp>
      <p:sp>
        <p:nvSpPr>
          <p:cNvPr id="59" name="r4-risk"/>
          <p:cNvSpPr/>
          <p:nvPr/>
        </p:nvSpPr>
        <p:spPr>
          <a:xfrm>
            <a:off x="9398000" y="5537200"/>
            <a:ext cx="1066800" cy="279400"/>
          </a:xfrm>
          <a:prstGeom prst="roundRect">
            <a:avLst>
              <a:gd name="adj" fmla="val 50000"/>
            </a:avLst>
          </a:prstGeom>
          <a:solidFill>
            <a:srgbClr val="F2D7CE"/>
          </a:solidFill>
          <a:ln>
            <a:noFill/>
          </a:ln>
        </p:spPr>
      </p:sp>
      <p:sp>
        <p:nvSpPr>
          <p:cNvPr id="60" name="r4-risk-t"/>
          <p:cNvSpPr txBox="1"/>
          <p:nvPr/>
        </p:nvSpPr>
        <p:spPr>
          <a:xfrm>
            <a:off x="9398000" y="5537200"/>
            <a:ext cx="106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B44A32"/>
                </a:solidFill>
                <a:latin typeface="MiSans"/>
                <a:ea typeface="MiSans"/>
              </a:rPr>
              <a:t>High</a:t>
            </a:r>
            <a:endParaRPr lang="en-US" sz="1000" noProof="1"/>
          </a:p>
        </p:txBody>
      </p:sp>
      <p:sp>
        <p:nvSpPr>
          <p:cNvPr id="61" name="r4-conf"/>
          <p:cNvSpPr txBox="1"/>
          <p:nvPr/>
        </p:nvSpPr>
        <p:spPr>
          <a:xfrm>
            <a:off x="10642600" y="5511800"/>
            <a:ext cx="939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173B27"/>
                </a:solidFill>
                <a:latin typeface="MiSans"/>
                <a:ea typeface="MiSans"/>
              </a:rPr>
              <a:t>65%</a:t>
            </a:r>
            <a:endParaRPr lang="en-US" sz="1700" noProof="1"/>
          </a:p>
        </p:txBody>
      </p:sp>
      <p:sp>
        <p:nvSpPr>
          <p:cNvPr id="62" name="footnote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 spc="100" kern="0">
                <a:solidFill>
                  <a:srgbClr val="66725F"/>
                </a:solidFill>
                <a:latin typeface="MiSans"/>
                <a:ea typeface="MiSans"/>
              </a:rPr>
              <a:t>Modeled estimates from the prototype's demo dataset — illustrative comparison, not a live prediction.</a:t>
            </a:r>
            <a:endParaRPr lang="en-US" sz="900" noProof="1"/>
          </a:p>
        </p:txBody>
      </p:sp>
      <p:sp>
        <p:nvSpPr>
          <p:cNvPr id="63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08 / 14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3E7A4E"/>
                </a:solidFill>
                <a:latin typeface="MiSans"/>
                <a:ea typeface="MiSans"/>
              </a:rPr>
              <a:t>THE STAR FEATURE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381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1F2A20"/>
                </a:solidFill>
                <a:latin typeface="MiSans"/>
                <a:ea typeface="MiSans"/>
              </a:rPr>
              <a:t>What If?</a:t>
            </a:r>
            <a:endParaRPr lang="en-US" sz="3400" noProof="1"/>
          </a:p>
        </p:txBody>
      </p:sp>
      <p:sp>
        <p:nvSpPr>
          <p:cNvPr id="4" name="slider-panel"/>
          <p:cNvSpPr/>
          <p:nvPr/>
        </p:nvSpPr>
        <p:spPr>
          <a:xfrm>
            <a:off x="609600" y="1473200"/>
            <a:ext cx="4876800" cy="4114800"/>
          </a:xfrm>
          <a:prstGeom prst="roundRect">
            <a:avLst>
              <a:gd name="adj" fmla="val 5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5" name="slider-header"/>
          <p:cNvSpPr txBox="1"/>
          <p:nvPr/>
        </p:nvSpPr>
        <p:spPr>
          <a:xfrm>
            <a:off x="914400" y="17018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3E7A4E"/>
                </a:solidFill>
                <a:latin typeface="MiSans"/>
                <a:ea typeface="MiSans"/>
              </a:rPr>
              <a:t>ADJUST THE CONDITIONS</a:t>
            </a:r>
            <a:endParaRPr lang="en-US" sz="900" noProof="1"/>
          </a:p>
        </p:txBody>
      </p:sp>
      <p:sp>
        <p:nvSpPr>
          <p:cNvPr id="6" name="s1-label"/>
          <p:cNvSpPr txBox="1"/>
          <p:nvPr/>
        </p:nvSpPr>
        <p:spPr>
          <a:xfrm>
            <a:off x="914400" y="2057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F2A20"/>
                </a:solidFill>
                <a:latin typeface="MiSans"/>
                <a:ea typeface="MiSans"/>
              </a:rPr>
              <a:t>Rainfall</a:t>
            </a:r>
            <a:endParaRPr lang="en-US" sz="1200" noProof="1"/>
          </a:p>
        </p:txBody>
      </p:sp>
      <p:sp>
        <p:nvSpPr>
          <p:cNvPr id="7" name="s1-track"/>
          <p:cNvSpPr/>
          <p:nvPr/>
        </p:nvSpPr>
        <p:spPr>
          <a:xfrm>
            <a:off x="914400" y="2387600"/>
            <a:ext cx="4013200" cy="508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8" name="s1-knob"/>
          <p:cNvSpPr/>
          <p:nvPr/>
        </p:nvSpPr>
        <p:spPr>
          <a:xfrm>
            <a:off x="3302000" y="2311400"/>
            <a:ext cx="203200" cy="203200"/>
          </a:xfrm>
          <a:prstGeom prst="ellipse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9" name="s2-label"/>
          <p:cNvSpPr txBox="1"/>
          <p:nvPr/>
        </p:nvSpPr>
        <p:spPr>
          <a:xfrm>
            <a:off x="914400" y="2743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F2A20"/>
                </a:solidFill>
                <a:latin typeface="MiSans"/>
                <a:ea typeface="MiSans"/>
              </a:rPr>
              <a:t>Temperature</a:t>
            </a:r>
            <a:endParaRPr lang="en-US" sz="1200" noProof="1"/>
          </a:p>
        </p:txBody>
      </p:sp>
      <p:sp>
        <p:nvSpPr>
          <p:cNvPr id="10" name="s2-track"/>
          <p:cNvSpPr/>
          <p:nvPr/>
        </p:nvSpPr>
        <p:spPr>
          <a:xfrm>
            <a:off x="914400" y="3073400"/>
            <a:ext cx="4013200" cy="508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11" name="s2-knob"/>
          <p:cNvSpPr/>
          <p:nvPr/>
        </p:nvSpPr>
        <p:spPr>
          <a:xfrm>
            <a:off x="2616200" y="2997200"/>
            <a:ext cx="203200" cy="203200"/>
          </a:xfrm>
          <a:prstGeom prst="ellipse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12" name="s3-label"/>
          <p:cNvSpPr txBox="1"/>
          <p:nvPr/>
        </p:nvSpPr>
        <p:spPr>
          <a:xfrm>
            <a:off x="914400" y="3429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F2A20"/>
                </a:solidFill>
                <a:latin typeface="MiSans"/>
                <a:ea typeface="MiSans"/>
              </a:rPr>
              <a:t>Market price</a:t>
            </a:r>
            <a:endParaRPr lang="en-US" sz="1200" noProof="1"/>
          </a:p>
        </p:txBody>
      </p:sp>
      <p:sp>
        <p:nvSpPr>
          <p:cNvPr id="13" name="s3-track"/>
          <p:cNvSpPr/>
          <p:nvPr/>
        </p:nvSpPr>
        <p:spPr>
          <a:xfrm>
            <a:off x="914400" y="3759200"/>
            <a:ext cx="4013200" cy="508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14" name="s3-knob"/>
          <p:cNvSpPr/>
          <p:nvPr/>
        </p:nvSpPr>
        <p:spPr>
          <a:xfrm>
            <a:off x="3543300" y="3683000"/>
            <a:ext cx="203200" cy="203200"/>
          </a:xfrm>
          <a:prstGeom prst="ellipse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15" name="s4-label"/>
          <p:cNvSpPr txBox="1"/>
          <p:nvPr/>
        </p:nvSpPr>
        <p:spPr>
          <a:xfrm>
            <a:off x="914400" y="4114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F2A20"/>
                </a:solidFill>
                <a:latin typeface="MiSans"/>
                <a:ea typeface="MiSans"/>
              </a:rPr>
              <a:t>Fertilizer cost</a:t>
            </a:r>
            <a:endParaRPr lang="en-US" sz="1200" noProof="1"/>
          </a:p>
        </p:txBody>
      </p:sp>
      <p:sp>
        <p:nvSpPr>
          <p:cNvPr id="16" name="s4-track"/>
          <p:cNvSpPr/>
          <p:nvPr/>
        </p:nvSpPr>
        <p:spPr>
          <a:xfrm>
            <a:off x="914400" y="4445000"/>
            <a:ext cx="4013200" cy="508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17" name="s4-knob"/>
          <p:cNvSpPr/>
          <p:nvPr/>
        </p:nvSpPr>
        <p:spPr>
          <a:xfrm>
            <a:off x="2413000" y="4368800"/>
            <a:ext cx="203200" cy="203200"/>
          </a:xfrm>
          <a:prstGeom prst="ellipse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18" name="s5-label"/>
          <p:cNvSpPr txBox="1"/>
          <p:nvPr/>
        </p:nvSpPr>
        <p:spPr>
          <a:xfrm>
            <a:off x="914400" y="4800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F2A20"/>
                </a:solidFill>
                <a:latin typeface="MiSans"/>
                <a:ea typeface="MiSans"/>
              </a:rPr>
              <a:t>Water availability</a:t>
            </a:r>
            <a:endParaRPr lang="en-US" sz="1200" noProof="1"/>
          </a:p>
        </p:txBody>
      </p:sp>
      <p:sp>
        <p:nvSpPr>
          <p:cNvPr id="19" name="s5-track"/>
          <p:cNvSpPr/>
          <p:nvPr/>
        </p:nvSpPr>
        <p:spPr>
          <a:xfrm>
            <a:off x="914400" y="5130800"/>
            <a:ext cx="4013200" cy="508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20" name="s5-knob"/>
          <p:cNvSpPr/>
          <p:nvPr/>
        </p:nvSpPr>
        <p:spPr>
          <a:xfrm>
            <a:off x="2895600" y="5054600"/>
            <a:ext cx="203200" cy="203200"/>
          </a:xfrm>
          <a:prstGeom prst="ellipse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21" name="out-header"/>
          <p:cNvSpPr txBox="1"/>
          <p:nvPr/>
        </p:nvSpPr>
        <p:spPr>
          <a:xfrm>
            <a:off x="6096000" y="15748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66725F"/>
                </a:solidFill>
                <a:latin typeface="MiSans"/>
                <a:ea typeface="MiSans"/>
              </a:rPr>
              <a:t>MODELED SCENARIO OUTPUTS</a:t>
            </a:r>
            <a:endParaRPr lang="en-US" sz="900" noProof="1"/>
          </a:p>
        </p:txBody>
      </p:sp>
      <p:sp>
        <p:nvSpPr>
          <p:cNvPr id="22" name="sc1-name"/>
          <p:cNvSpPr txBox="1"/>
          <p:nvPr/>
        </p:nvSpPr>
        <p:spPr>
          <a:xfrm>
            <a:off x="6096000" y="19050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Normal conditions</a:t>
            </a:r>
            <a:endParaRPr lang="en-US" sz="1300" noProof="1"/>
          </a:p>
        </p:txBody>
      </p:sp>
      <p:sp>
        <p:nvSpPr>
          <p:cNvPr id="23" name="sc1-value"/>
          <p:cNvSpPr txBox="1"/>
          <p:nvPr/>
        </p:nvSpPr>
        <p:spPr>
          <a:xfrm>
            <a:off x="8890000" y="1879600"/>
            <a:ext cx="2692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500" noProof="1" b="1">
                <a:solidFill>
                  <a:srgbClr val="173B27"/>
                </a:solidFill>
                <a:latin typeface="MiSans"/>
                <a:ea typeface="MiSans"/>
              </a:rPr>
              <a:t>₹55K expected profit</a:t>
            </a:r>
            <a:endParaRPr lang="en-US" sz="1500" noProof="1"/>
          </a:p>
        </p:txBody>
      </p:sp>
      <p:sp>
        <p:nvSpPr>
          <p:cNvPr id="24" name="sc1-track"/>
          <p:cNvSpPr/>
          <p:nvPr/>
        </p:nvSpPr>
        <p:spPr>
          <a:xfrm>
            <a:off x="6096000" y="2235200"/>
            <a:ext cx="5486400" cy="1778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25" name="sc1-fill"/>
          <p:cNvSpPr/>
          <p:nvPr/>
        </p:nvSpPr>
        <p:spPr>
          <a:xfrm>
            <a:off x="6096000" y="2235200"/>
            <a:ext cx="4254500" cy="177800"/>
          </a:xfrm>
          <a:prstGeom prst="roundRect">
            <a:avLst>
              <a:gd name="adj" fmla="val 50000"/>
            </a:avLst>
          </a:prstGeom>
          <a:solidFill>
            <a:srgbClr val="3E7A4E"/>
          </a:solidFill>
          <a:ln>
            <a:noFill/>
          </a:ln>
        </p:spPr>
      </p:sp>
      <p:sp>
        <p:nvSpPr>
          <p:cNvPr id="26" name="sc1-risk"/>
          <p:cNvSpPr txBox="1"/>
          <p:nvPr/>
        </p:nvSpPr>
        <p:spPr>
          <a:xfrm>
            <a:off x="6096000" y="2489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>
                <a:solidFill>
                  <a:srgbClr val="8A5E14"/>
                </a:solidFill>
                <a:latin typeface="MiSans"/>
                <a:ea typeface="MiSans"/>
              </a:rPr>
              <a:t>Risk: medium</a:t>
            </a:r>
            <a:endParaRPr lang="en-US" sz="1000" noProof="1"/>
          </a:p>
        </p:txBody>
      </p:sp>
      <p:sp>
        <p:nvSpPr>
          <p:cNvPr id="27" name="sc2-name"/>
          <p:cNvSpPr txBox="1"/>
          <p:nvPr/>
        </p:nvSpPr>
        <p:spPr>
          <a:xfrm>
            <a:off x="6096000" y="30480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30% lower rainfall</a:t>
            </a:r>
            <a:endParaRPr lang="en-US" sz="1300" noProof="1"/>
          </a:p>
        </p:txBody>
      </p:sp>
      <p:sp>
        <p:nvSpPr>
          <p:cNvPr id="28" name="sc2-value"/>
          <p:cNvSpPr txBox="1"/>
          <p:nvPr/>
        </p:nvSpPr>
        <p:spPr>
          <a:xfrm>
            <a:off x="8890000" y="3022600"/>
            <a:ext cx="2692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500" noProof="1" b="1">
                <a:solidFill>
                  <a:srgbClr val="B44A32"/>
                </a:solidFill>
                <a:latin typeface="MiSans"/>
                <a:ea typeface="MiSans"/>
              </a:rPr>
              <a:t>₹28K expected profit</a:t>
            </a:r>
            <a:endParaRPr lang="en-US" sz="1500" noProof="1"/>
          </a:p>
        </p:txBody>
      </p:sp>
      <p:sp>
        <p:nvSpPr>
          <p:cNvPr id="29" name="sc2-track"/>
          <p:cNvSpPr/>
          <p:nvPr/>
        </p:nvSpPr>
        <p:spPr>
          <a:xfrm>
            <a:off x="6096000" y="3378200"/>
            <a:ext cx="5486400" cy="1778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30" name="sc2-fill"/>
          <p:cNvSpPr/>
          <p:nvPr/>
        </p:nvSpPr>
        <p:spPr>
          <a:xfrm>
            <a:off x="6096000" y="3378200"/>
            <a:ext cx="2159000" cy="177800"/>
          </a:xfrm>
          <a:prstGeom prst="roundRect">
            <a:avLst>
              <a:gd name="adj" fmla="val 50000"/>
            </a:avLst>
          </a:prstGeom>
          <a:solidFill>
            <a:srgbClr val="B44A32"/>
          </a:solidFill>
          <a:ln>
            <a:noFill/>
          </a:ln>
        </p:spPr>
      </p:sp>
      <p:sp>
        <p:nvSpPr>
          <p:cNvPr id="31" name="sc2-risk"/>
          <p:cNvSpPr txBox="1"/>
          <p:nvPr/>
        </p:nvSpPr>
        <p:spPr>
          <a:xfrm>
            <a:off x="6096000" y="3632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>
                <a:solidFill>
                  <a:srgbClr val="B44A32"/>
                </a:solidFill>
                <a:latin typeface="MiSans"/>
                <a:ea typeface="MiSans"/>
              </a:rPr>
              <a:t>Risk: high</a:t>
            </a:r>
            <a:endParaRPr lang="en-US" sz="1000" noProof="1"/>
          </a:p>
        </p:txBody>
      </p:sp>
      <p:sp>
        <p:nvSpPr>
          <p:cNvPr id="32" name="sc3-name"/>
          <p:cNvSpPr txBox="1"/>
          <p:nvPr/>
        </p:nvSpPr>
        <p:spPr>
          <a:xfrm>
            <a:off x="6096000" y="41910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Higher market price</a:t>
            </a:r>
            <a:endParaRPr lang="en-US" sz="1300" noProof="1"/>
          </a:p>
        </p:txBody>
      </p:sp>
      <p:sp>
        <p:nvSpPr>
          <p:cNvPr id="33" name="sc3-value"/>
          <p:cNvSpPr txBox="1"/>
          <p:nvPr/>
        </p:nvSpPr>
        <p:spPr>
          <a:xfrm>
            <a:off x="8890000" y="4165600"/>
            <a:ext cx="2692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500" noProof="1" b="1">
                <a:solidFill>
                  <a:srgbClr val="173B27"/>
                </a:solidFill>
                <a:latin typeface="MiSans"/>
                <a:ea typeface="MiSans"/>
              </a:rPr>
              <a:t>₹71K expected profit</a:t>
            </a:r>
            <a:endParaRPr lang="en-US" sz="1500" noProof="1"/>
          </a:p>
        </p:txBody>
      </p:sp>
      <p:sp>
        <p:nvSpPr>
          <p:cNvPr id="34" name="sc3-track"/>
          <p:cNvSpPr/>
          <p:nvPr/>
        </p:nvSpPr>
        <p:spPr>
          <a:xfrm>
            <a:off x="6096000" y="4521200"/>
            <a:ext cx="5486400" cy="177800"/>
          </a:xfrm>
          <a:prstGeom prst="roundRect">
            <a:avLst>
              <a:gd name="adj" fmla="val 50000"/>
            </a:avLst>
          </a:prstGeom>
          <a:solidFill>
            <a:srgbClr val="E9E2CE"/>
          </a:solidFill>
          <a:ln>
            <a:noFill/>
          </a:ln>
        </p:spPr>
      </p:sp>
      <p:sp>
        <p:nvSpPr>
          <p:cNvPr id="35" name="sc3-fill"/>
          <p:cNvSpPr/>
          <p:nvPr/>
        </p:nvSpPr>
        <p:spPr>
          <a:xfrm>
            <a:off x="6096000" y="4521200"/>
            <a:ext cx="5486400" cy="177800"/>
          </a:xfrm>
          <a:prstGeom prst="roundRect">
            <a:avLst>
              <a:gd name="adj" fmla="val 50000"/>
            </a:avLst>
          </a:prstGeom>
          <a:solidFill>
            <a:srgbClr val="173B27"/>
          </a:solidFill>
          <a:ln>
            <a:noFill/>
          </a:ln>
        </p:spPr>
      </p:sp>
      <p:sp>
        <p:nvSpPr>
          <p:cNvPr id="36" name="sc3-risk"/>
          <p:cNvSpPr txBox="1"/>
          <p:nvPr/>
        </p:nvSpPr>
        <p:spPr>
          <a:xfrm>
            <a:off x="6096000" y="4775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>
                <a:solidFill>
                  <a:srgbClr val="8A5E14"/>
                </a:solidFill>
                <a:latin typeface="MiSans"/>
                <a:ea typeface="MiSans"/>
              </a:rPr>
              <a:t>Risk: medium</a:t>
            </a:r>
            <a:endParaRPr lang="en-US" sz="1000" noProof="1"/>
          </a:p>
        </p:txBody>
      </p:sp>
      <p:sp>
        <p:nvSpPr>
          <p:cNvPr id="37" name="out-note"/>
          <p:cNvSpPr txBox="1"/>
          <p:nvPr/>
        </p:nvSpPr>
        <p:spPr>
          <a:xfrm>
            <a:off x="6096000" y="5232400"/>
            <a:ext cx="54864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00" kern="0">
                <a:solidFill>
                  <a:srgbClr val="66725F"/>
                </a:solidFill>
                <a:latin typeface="MiSans"/>
                <a:ea typeface="MiSans"/>
              </a:rPr>
              <a:t>Scenario outputs are modeled demo values.</a:t>
            </a:r>
            <a:endParaRPr lang="en-US" sz="900" noProof="1"/>
          </a:p>
        </p:txBody>
      </p:sp>
      <p:sp>
        <p:nvSpPr>
          <p:cNvPr id="38" name="msg-bar"/>
          <p:cNvSpPr/>
          <p:nvPr/>
        </p:nvSpPr>
        <p:spPr>
          <a:xfrm>
            <a:off x="609600" y="5867400"/>
            <a:ext cx="38100" cy="508000"/>
          </a:xfrm>
          <a:prstGeom prst="rect">
            <a:avLst/>
          </a:prstGeom>
          <a:solidFill>
            <a:srgbClr val="3E7A4E"/>
          </a:solidFill>
          <a:ln>
            <a:noFill/>
          </a:ln>
        </p:spPr>
      </p:sp>
      <p:sp>
        <p:nvSpPr>
          <p:cNvPr id="39" name="msg"/>
          <p:cNvSpPr txBox="1"/>
          <p:nvPr/>
        </p:nvSpPr>
        <p:spPr>
          <a:xfrm>
            <a:off x="787400" y="586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173B27"/>
                </a:solidFill>
                <a:latin typeface="MiSans"/>
                <a:ea typeface="MiSans"/>
              </a:rPr>
              <a:t>The farmer can explore how a decision behaves when conditions change — before committing seed, money and time.</a:t>
            </a:r>
            <a:endParaRPr lang="en-US" sz="1400" noProof="1"/>
          </a:p>
        </p:txBody>
      </p:sp>
      <p:sp>
        <p:nvSpPr>
          <p:cNvPr id="40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09 / 14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3E7A4E"/>
                </a:solidFill>
                <a:latin typeface="MiSans"/>
                <a:ea typeface="MiSans"/>
              </a:rPr>
              <a:t>ECONOMICS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2A20"/>
                </a:solidFill>
                <a:latin typeface="MiSans"/>
                <a:ea typeface="MiSans"/>
              </a:rPr>
              <a:t>From Yield to Profit</a:t>
            </a:r>
            <a:endParaRPr lang="en-US" sz="2600" noProof="1"/>
          </a:p>
        </p:txBody>
      </p:sp>
      <p:sp>
        <p:nvSpPr>
          <p:cNvPr id="4" name="f1"/>
          <p:cNvSpPr/>
          <p:nvPr/>
        </p:nvSpPr>
        <p:spPr>
          <a:xfrm>
            <a:off x="609600" y="1320800"/>
            <a:ext cx="5334000" cy="5842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5" name="f1-text"/>
          <p:cNvSpPr txBox="1"/>
          <p:nvPr/>
        </p:nvSpPr>
        <p:spPr>
          <a:xfrm>
            <a:off x="812800" y="1320800"/>
            <a:ext cx="4927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0"/>
                </a:solidFill>
                <a:latin typeface="MiSans"/>
                <a:ea typeface="MiSans"/>
              </a:rPr>
              <a:t>Expected revenue</a:t>
            </a: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 = expected yield × expected price</a:t>
            </a:r>
            <a:endParaRPr lang="en-US" sz="1200" noProof="1"/>
          </a:p>
        </p:txBody>
      </p:sp>
      <p:sp>
        <p:nvSpPr>
          <p:cNvPr id="6" name="f2"/>
          <p:cNvSpPr/>
          <p:nvPr/>
        </p:nvSpPr>
        <p:spPr>
          <a:xfrm>
            <a:off x="6248400" y="1320800"/>
            <a:ext cx="5334000" cy="5842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7" name="f2-text"/>
          <p:cNvSpPr txBox="1"/>
          <p:nvPr/>
        </p:nvSpPr>
        <p:spPr>
          <a:xfrm>
            <a:off x="6451600" y="1320800"/>
            <a:ext cx="4927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0"/>
                </a:solidFill>
                <a:latin typeface="MiSans"/>
                <a:ea typeface="MiSans"/>
              </a:rPr>
              <a:t>Expected profit</a:t>
            </a:r>
            <a:r>
              <a:rPr lang="en-US" sz="1200" noProof="1">
                <a:solidFill>
                  <a:srgbClr val="1F2A20"/>
                </a:solidFill>
                <a:latin typeface="MiSans"/>
                <a:ea typeface="MiSans"/>
              </a:rPr>
              <a:t> = expected revenue − cultivation cost</a:t>
            </a:r>
            <a:endParaRPr lang="en-US" sz="1200" noProof="1"/>
          </a:p>
        </p:txBody>
      </p:sp>
      <p:sp>
        <p:nvSpPr>
          <p:cNvPr id="8" name="rev-light"/>
          <p:cNvSpPr/>
          <p:nvPr/>
        </p:nvSpPr>
        <p:spPr>
          <a:xfrm>
            <a:off x="1219200" y="2692400"/>
            <a:ext cx="1117600" cy="647700"/>
          </a:xfrm>
          <a:prstGeom prst="rect">
            <a:avLst/>
          </a:prstGeom>
          <a:solidFill>
            <a:srgbClr val="8FBF7F"/>
          </a:solidFill>
          <a:ln>
            <a:noFill/>
          </a:ln>
        </p:spPr>
      </p:sp>
      <p:sp>
        <p:nvSpPr>
          <p:cNvPr id="9" name="rev-solid"/>
          <p:cNvSpPr/>
          <p:nvPr/>
        </p:nvSpPr>
        <p:spPr>
          <a:xfrm>
            <a:off x="1219200" y="3340100"/>
            <a:ext cx="1117600" cy="2400300"/>
          </a:xfrm>
          <a:prstGeom prst="rect">
            <a:avLst/>
          </a:prstGeom>
          <a:solidFill>
            <a:srgbClr val="3E7A4E"/>
          </a:solidFill>
          <a:ln>
            <a:noFill/>
          </a:ln>
        </p:spPr>
      </p:sp>
      <p:sp>
        <p:nvSpPr>
          <p:cNvPr id="10" name="rev-value"/>
          <p:cNvSpPr txBox="1"/>
          <p:nvPr/>
        </p:nvSpPr>
        <p:spPr>
          <a:xfrm>
            <a:off x="914400" y="2336800"/>
            <a:ext cx="172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173B27"/>
                </a:solidFill>
                <a:latin typeface="MiSans"/>
                <a:ea typeface="MiSans"/>
              </a:rPr>
              <a:t>₹82–104K</a:t>
            </a:r>
            <a:endParaRPr lang="en-US" sz="1400" noProof="1"/>
          </a:p>
        </p:txBody>
      </p:sp>
      <p:sp>
        <p:nvSpPr>
          <p:cNvPr id="11" name="rev-name"/>
          <p:cNvSpPr txBox="1"/>
          <p:nvPr/>
        </p:nvSpPr>
        <p:spPr>
          <a:xfrm>
            <a:off x="965200" y="5816600"/>
            <a:ext cx="1625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5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Expected revenue</a:t>
            </a:r>
            <a:endParaRPr lang="en-US" sz="1100" noProof="1"/>
          </a:p>
        </p:txBody>
      </p:sp>
      <p:sp>
        <p:nvSpPr>
          <p:cNvPr id="12" name="minus"/>
          <p:cNvSpPr txBox="1"/>
          <p:nvPr/>
        </p:nvSpPr>
        <p:spPr>
          <a:xfrm>
            <a:off x="2590800" y="4038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66725F"/>
                </a:solidFill>
                <a:latin typeface="MiSans"/>
                <a:ea typeface="MiSans"/>
              </a:rPr>
              <a:t>−</a:t>
            </a:r>
            <a:endParaRPr lang="en-US" sz="2200" noProof="1"/>
          </a:p>
        </p:txBody>
      </p:sp>
      <p:sp>
        <p:nvSpPr>
          <p:cNvPr id="13" name="cost-light"/>
          <p:cNvSpPr/>
          <p:nvPr/>
        </p:nvSpPr>
        <p:spPr>
          <a:xfrm>
            <a:off x="3124200" y="4597400"/>
            <a:ext cx="1117600" cy="203200"/>
          </a:xfrm>
          <a:prstGeom prst="rect">
            <a:avLst/>
          </a:prstGeom>
          <a:solidFill>
            <a:srgbClr val="C4A878"/>
          </a:solidFill>
          <a:ln>
            <a:noFill/>
          </a:ln>
        </p:spPr>
      </p:sp>
      <p:sp>
        <p:nvSpPr>
          <p:cNvPr id="14" name="cost-solid"/>
          <p:cNvSpPr/>
          <p:nvPr/>
        </p:nvSpPr>
        <p:spPr>
          <a:xfrm>
            <a:off x="3124200" y="4800600"/>
            <a:ext cx="1117600" cy="939800"/>
          </a:xfrm>
          <a:prstGeom prst="rect">
            <a:avLst/>
          </a:prstGeom>
          <a:solidFill>
            <a:srgbClr val="8A6B45"/>
          </a:solidFill>
          <a:ln>
            <a:noFill/>
          </a:ln>
        </p:spPr>
      </p:sp>
      <p:sp>
        <p:nvSpPr>
          <p:cNvPr id="15" name="cost-value"/>
          <p:cNvSpPr txBox="1"/>
          <p:nvPr/>
        </p:nvSpPr>
        <p:spPr>
          <a:xfrm>
            <a:off x="2819400" y="4241800"/>
            <a:ext cx="172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8A6B45"/>
                </a:solidFill>
                <a:latin typeface="MiSans"/>
                <a:ea typeface="MiSans"/>
              </a:rPr>
              <a:t>₹32–39K</a:t>
            </a:r>
            <a:endParaRPr lang="en-US" sz="1400" noProof="1"/>
          </a:p>
        </p:txBody>
      </p:sp>
      <p:sp>
        <p:nvSpPr>
          <p:cNvPr id="16" name="cost-name"/>
          <p:cNvSpPr txBox="1"/>
          <p:nvPr/>
        </p:nvSpPr>
        <p:spPr>
          <a:xfrm>
            <a:off x="2870200" y="5816600"/>
            <a:ext cx="1625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5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Estimated cost</a:t>
            </a:r>
            <a:endParaRPr lang="en-US" sz="1100" noProof="1"/>
          </a:p>
        </p:txBody>
      </p:sp>
      <p:sp>
        <p:nvSpPr>
          <p:cNvPr id="17" name="equals"/>
          <p:cNvSpPr txBox="1"/>
          <p:nvPr/>
        </p:nvSpPr>
        <p:spPr>
          <a:xfrm>
            <a:off x="4495800" y="4038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66725F"/>
                </a:solidFill>
                <a:latin typeface="MiSans"/>
                <a:ea typeface="MiSans"/>
              </a:rPr>
              <a:t>=</a:t>
            </a:r>
            <a:endParaRPr lang="en-US" sz="2200" noProof="1"/>
          </a:p>
        </p:txBody>
      </p:sp>
      <p:sp>
        <p:nvSpPr>
          <p:cNvPr id="18" name="profit-light"/>
          <p:cNvSpPr/>
          <p:nvPr/>
        </p:nvSpPr>
        <p:spPr>
          <a:xfrm>
            <a:off x="5029200" y="3746500"/>
            <a:ext cx="1117600" cy="736600"/>
          </a:xfrm>
          <a:prstGeom prst="rect">
            <a:avLst/>
          </a:prstGeom>
          <a:solidFill>
            <a:srgbClr val="8FBF7F"/>
          </a:solidFill>
          <a:ln>
            <a:noFill/>
          </a:ln>
        </p:spPr>
      </p:sp>
      <p:sp>
        <p:nvSpPr>
          <p:cNvPr id="19" name="profit-solid"/>
          <p:cNvSpPr/>
          <p:nvPr/>
        </p:nvSpPr>
        <p:spPr>
          <a:xfrm>
            <a:off x="5029200" y="4483100"/>
            <a:ext cx="1117600" cy="1257300"/>
          </a:xfrm>
          <a:prstGeom prst="rect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20" name="profit-value"/>
          <p:cNvSpPr txBox="1"/>
          <p:nvPr/>
        </p:nvSpPr>
        <p:spPr>
          <a:xfrm>
            <a:off x="4724400" y="3390900"/>
            <a:ext cx="172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173B27"/>
                </a:solidFill>
                <a:latin typeface="MiSans"/>
                <a:ea typeface="MiSans"/>
              </a:rPr>
              <a:t>₹43–68K</a:t>
            </a:r>
            <a:endParaRPr lang="en-US" sz="1400" noProof="1"/>
          </a:p>
        </p:txBody>
      </p:sp>
      <p:sp>
        <p:nvSpPr>
          <p:cNvPr id="21" name="profit-name"/>
          <p:cNvSpPr txBox="1"/>
          <p:nvPr/>
        </p:nvSpPr>
        <p:spPr>
          <a:xfrm>
            <a:off x="4775200" y="5816600"/>
            <a:ext cx="1625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5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Expected profit</a:t>
            </a:r>
            <a:endParaRPr lang="en-US" sz="1100" noProof="1"/>
          </a:p>
        </p:txBody>
      </p:sp>
      <p:sp>
        <p:nvSpPr>
          <p:cNvPr id="22" name="baseline"/>
          <p:cNvSpPr/>
          <p:nvPr/>
        </p:nvSpPr>
        <p:spPr>
          <a:xfrm>
            <a:off x="914400" y="5740400"/>
            <a:ext cx="5537200" cy="12700"/>
          </a:xfrm>
          <a:prstGeom prst="rect">
            <a:avLst/>
          </a:prstGeom>
          <a:solidFill>
            <a:srgbClr val="66725F"/>
          </a:solidFill>
          <a:ln>
            <a:noFill/>
          </a:ln>
        </p:spPr>
      </p:sp>
      <p:sp>
        <p:nvSpPr>
          <p:cNvPr id="23" name="legend1"/>
          <p:cNvSpPr/>
          <p:nvPr/>
        </p:nvSpPr>
        <p:spPr>
          <a:xfrm>
            <a:off x="965200" y="6350000"/>
            <a:ext cx="114300" cy="114300"/>
          </a:xfrm>
          <a:prstGeom prst="rect">
            <a:avLst/>
          </a:prstGeom>
          <a:solidFill>
            <a:srgbClr val="3E7A4E"/>
          </a:solidFill>
          <a:ln>
            <a:noFill/>
          </a:ln>
        </p:spPr>
      </p:sp>
      <p:sp>
        <p:nvSpPr>
          <p:cNvPr id="24" name="legend1-t"/>
          <p:cNvSpPr txBox="1"/>
          <p:nvPr/>
        </p:nvSpPr>
        <p:spPr>
          <a:xfrm>
            <a:off x="1168400" y="63119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00" kern="0">
                <a:solidFill>
                  <a:srgbClr val="66725F"/>
                </a:solidFill>
                <a:latin typeface="MiSans"/>
                <a:ea typeface="MiSans"/>
              </a:rPr>
              <a:t>conservative bound</a:t>
            </a:r>
            <a:endParaRPr lang="en-US" sz="900" noProof="1"/>
          </a:p>
        </p:txBody>
      </p:sp>
      <p:sp>
        <p:nvSpPr>
          <p:cNvPr id="25" name="legend2"/>
          <p:cNvSpPr/>
          <p:nvPr/>
        </p:nvSpPr>
        <p:spPr>
          <a:xfrm>
            <a:off x="2946400" y="6350000"/>
            <a:ext cx="114300" cy="114300"/>
          </a:xfrm>
          <a:prstGeom prst="rect">
            <a:avLst/>
          </a:prstGeom>
          <a:solidFill>
            <a:srgbClr val="8FBF7F"/>
          </a:solidFill>
          <a:ln>
            <a:noFill/>
          </a:ln>
        </p:spPr>
      </p:sp>
      <p:sp>
        <p:nvSpPr>
          <p:cNvPr id="26" name="legend2-t"/>
          <p:cNvSpPr txBox="1"/>
          <p:nvPr/>
        </p:nvSpPr>
        <p:spPr>
          <a:xfrm>
            <a:off x="3149600" y="63119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00" kern="0">
                <a:solidFill>
                  <a:srgbClr val="66725F"/>
                </a:solidFill>
                <a:latin typeface="MiSans"/>
                <a:ea typeface="MiSans"/>
              </a:rPr>
              <a:t>optimistic range</a:t>
            </a:r>
            <a:endParaRPr lang="en-US" sz="900" noProof="1"/>
          </a:p>
        </p:txBody>
      </p:sp>
      <p:sp>
        <p:nvSpPr>
          <p:cNvPr id="27" name="rc-header"/>
          <p:cNvSpPr txBox="1"/>
          <p:nvPr/>
        </p:nvSpPr>
        <p:spPr>
          <a:xfrm>
            <a:off x="7620000" y="2260600"/>
            <a:ext cx="39624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66725F"/>
                </a:solidFill>
                <a:latin typeface="MiSans"/>
                <a:ea typeface="MiSans"/>
              </a:rPr>
              <a:t>ALSO COMPUTED PER CROP</a:t>
            </a:r>
            <a:endParaRPr lang="en-US" sz="900" noProof="1"/>
          </a:p>
        </p:txBody>
      </p:sp>
      <p:sp>
        <p:nvSpPr>
          <p:cNvPr id="28" name="rc1-icon"/>
          <p:cNvSpPr/>
          <p:nvPr>
            <p:extLst>
              <p:ext uri="{F5677B7D-0D2A-4D9B-9A5C-6D8D7D0E5A5D}">
                <pptd:icon encoding="base64url">eyJpY29uTmFtZSI6ImZhczpwZXJjZW50In0</pptd:icon>
              </p:ext>
            </p:extLst>
          </p:nvPr>
        </p:nvSpPr>
        <p:spPr>
          <a:xfrm>
            <a:off x="7620000" y="2667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92" y="128"/>
                </a:moveTo>
                <a:cubicBezTo>
                  <a:pt x="192" y="75"/>
                  <a:pt x="149" y="32"/>
                  <a:pt x="96" y="32"/>
                </a:cubicBezTo>
                <a:cubicBezTo>
                  <a:pt x="43" y="32"/>
                  <a:pt x="0" y="75"/>
                  <a:pt x="0" y="128"/>
                </a:cubicBezTo>
                <a:cubicBezTo>
                  <a:pt x="0" y="181"/>
                  <a:pt x="43" y="224"/>
                  <a:pt x="96" y="224"/>
                </a:cubicBezTo>
                <a:cubicBezTo>
                  <a:pt x="149" y="224"/>
                  <a:pt x="192" y="181"/>
                  <a:pt x="192" y="128"/>
                </a:cubicBezTo>
                <a:close/>
              </a:path>
              <a:path w="448" h="512">
                <a:moveTo>
                  <a:pt x="448" y="384"/>
                </a:moveTo>
                <a:cubicBezTo>
                  <a:pt x="448" y="331"/>
                  <a:pt x="405" y="288"/>
                  <a:pt x="352" y="288"/>
                </a:cubicBezTo>
                <a:cubicBezTo>
                  <a:pt x="299" y="288"/>
                  <a:pt x="256" y="331"/>
                  <a:pt x="256" y="384"/>
                </a:cubicBezTo>
                <a:cubicBezTo>
                  <a:pt x="256" y="437"/>
                  <a:pt x="299" y="480"/>
                  <a:pt x="352" y="480"/>
                </a:cubicBezTo>
                <a:cubicBezTo>
                  <a:pt x="405" y="480"/>
                  <a:pt x="448" y="437"/>
                  <a:pt x="448" y="384"/>
                </a:cubicBezTo>
                <a:close/>
              </a:path>
              <a:path w="448" h="512">
                <a:moveTo>
                  <a:pt x="439" y="87"/>
                </a:moveTo>
                <a:cubicBezTo>
                  <a:pt x="451" y="74"/>
                  <a:pt x="451" y="54"/>
                  <a:pt x="439" y="41"/>
                </a:cubicBezTo>
                <a:cubicBezTo>
                  <a:pt x="426" y="29"/>
                  <a:pt x="406" y="29"/>
                  <a:pt x="393" y="41"/>
                </a:cubicBezTo>
                <a:lnTo>
                  <a:pt x="9" y="425"/>
                </a:lnTo>
                <a:cubicBezTo>
                  <a:pt x="-3" y="438"/>
                  <a:pt x="-3" y="458"/>
                  <a:pt x="9" y="471"/>
                </a:cubicBezTo>
                <a:cubicBezTo>
                  <a:pt x="22" y="483"/>
                  <a:pt x="42" y="483"/>
                  <a:pt x="55" y="471"/>
                </a:cubicBezTo>
                <a:lnTo>
                  <a:pt x="439" y="87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9" name="rc1-name"/>
          <p:cNvSpPr txBox="1"/>
          <p:nvPr/>
        </p:nvSpPr>
        <p:spPr>
          <a:xfrm>
            <a:off x="8001000" y="2616200"/>
            <a:ext cx="3581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ROI</a:t>
            </a:r>
            <a:endParaRPr lang="en-US" sz="1300" noProof="1"/>
          </a:p>
        </p:txBody>
      </p:sp>
      <p:sp>
        <p:nvSpPr>
          <p:cNvPr id="30" name="rc1-desc"/>
          <p:cNvSpPr txBox="1"/>
          <p:nvPr/>
        </p:nvSpPr>
        <p:spPr>
          <a:xfrm>
            <a:off x="8001000" y="2870200"/>
            <a:ext cx="3581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Return on cultivation cost</a:t>
            </a:r>
            <a:endParaRPr lang="en-US" sz="1000" noProof="1"/>
          </a:p>
        </p:txBody>
      </p:sp>
      <p:sp>
        <p:nvSpPr>
          <p:cNvPr id="31" name="rc2-icon"/>
          <p:cNvSpPr/>
          <p:nvPr>
            <p:extLst>
              <p:ext uri="{F5677B7D-0D2A-4D9B-9A5C-6D8D7D0E5A5D}">
                <pptd:icon encoding="base64url">eyJpY29uTmFtZSI6ImZhczpjYWxlbmRhci1kYXlzIn0</pptd:icon>
              </p:ext>
            </p:extLst>
          </p:nvPr>
        </p:nvSpPr>
        <p:spPr>
          <a:xfrm>
            <a:off x="7620000" y="350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0"/>
                </a:moveTo>
                <a:cubicBezTo>
                  <a:pt x="146" y="0"/>
                  <a:pt x="160" y="14"/>
                  <a:pt x="160" y="32"/>
                </a:cubicBezTo>
                <a:lnTo>
                  <a:pt x="160" y="64"/>
                </a:lnTo>
                <a:lnTo>
                  <a:pt x="288" y="64"/>
                </a:lnTo>
                <a:lnTo>
                  <a:pt x="288" y="32"/>
                </a:lnTo>
                <a:cubicBezTo>
                  <a:pt x="288" y="14"/>
                  <a:pt x="302" y="0"/>
                  <a:pt x="320" y="0"/>
                </a:cubicBezTo>
                <a:cubicBezTo>
                  <a:pt x="338" y="0"/>
                  <a:pt x="352" y="14"/>
                  <a:pt x="352" y="32"/>
                </a:cubicBezTo>
                <a:lnTo>
                  <a:pt x="352" y="64"/>
                </a:lnTo>
                <a:lnTo>
                  <a:pt x="384" y="64"/>
                </a:lnTo>
                <a:cubicBezTo>
                  <a:pt x="419" y="64"/>
                  <a:pt x="448" y="93"/>
                  <a:pt x="448" y="128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96" y="64"/>
                </a:lnTo>
                <a:lnTo>
                  <a:pt x="96" y="32"/>
                </a:lnTo>
                <a:cubicBezTo>
                  <a:pt x="96" y="14"/>
                  <a:pt x="110" y="0"/>
                  <a:pt x="128" y="0"/>
                </a:cubicBezTo>
                <a:close/>
                <a:moveTo>
                  <a:pt x="64" y="240"/>
                </a:moveTo>
                <a:lnTo>
                  <a:pt x="64" y="272"/>
                </a:lnTo>
                <a:cubicBezTo>
                  <a:pt x="64" y="281"/>
                  <a:pt x="71" y="288"/>
                  <a:pt x="80" y="288"/>
                </a:cubicBezTo>
                <a:lnTo>
                  <a:pt x="112" y="288"/>
                </a:lnTo>
                <a:cubicBezTo>
                  <a:pt x="121" y="288"/>
                  <a:pt x="128" y="281"/>
                  <a:pt x="128" y="272"/>
                </a:cubicBezTo>
                <a:lnTo>
                  <a:pt x="128" y="240"/>
                </a:lnTo>
                <a:cubicBezTo>
                  <a:pt x="128" y="231"/>
                  <a:pt x="121" y="224"/>
                  <a:pt x="112" y="224"/>
                </a:cubicBezTo>
                <a:lnTo>
                  <a:pt x="80" y="224"/>
                </a:lnTo>
                <a:cubicBezTo>
                  <a:pt x="71" y="224"/>
                  <a:pt x="64" y="231"/>
                  <a:pt x="64" y="240"/>
                </a:cubicBezTo>
                <a:close/>
                <a:moveTo>
                  <a:pt x="192" y="240"/>
                </a:moveTo>
                <a:lnTo>
                  <a:pt x="192" y="272"/>
                </a:lnTo>
                <a:cubicBezTo>
                  <a:pt x="192" y="281"/>
                  <a:pt x="199" y="288"/>
                  <a:pt x="208" y="288"/>
                </a:cubicBezTo>
                <a:lnTo>
                  <a:pt x="240" y="288"/>
                </a:lnTo>
                <a:cubicBezTo>
                  <a:pt x="249" y="288"/>
                  <a:pt x="256" y="281"/>
                  <a:pt x="256" y="272"/>
                </a:cubicBezTo>
                <a:lnTo>
                  <a:pt x="256" y="240"/>
                </a:lnTo>
                <a:cubicBezTo>
                  <a:pt x="256" y="231"/>
                  <a:pt x="249" y="224"/>
                  <a:pt x="240" y="224"/>
                </a:cubicBezTo>
                <a:lnTo>
                  <a:pt x="208" y="224"/>
                </a:lnTo>
                <a:cubicBezTo>
                  <a:pt x="199" y="224"/>
                  <a:pt x="192" y="231"/>
                  <a:pt x="192" y="240"/>
                </a:cubicBezTo>
                <a:close/>
                <a:moveTo>
                  <a:pt x="336" y="224"/>
                </a:moveTo>
                <a:cubicBezTo>
                  <a:pt x="327" y="224"/>
                  <a:pt x="320" y="231"/>
                  <a:pt x="320" y="240"/>
                </a:cubicBezTo>
                <a:lnTo>
                  <a:pt x="320" y="272"/>
                </a:lnTo>
                <a:cubicBezTo>
                  <a:pt x="320" y="281"/>
                  <a:pt x="327" y="288"/>
                  <a:pt x="336" y="288"/>
                </a:cubicBezTo>
                <a:lnTo>
                  <a:pt x="368" y="288"/>
                </a:lnTo>
                <a:cubicBezTo>
                  <a:pt x="377" y="288"/>
                  <a:pt x="384" y="281"/>
                  <a:pt x="384" y="272"/>
                </a:cubicBezTo>
                <a:lnTo>
                  <a:pt x="384" y="240"/>
                </a:lnTo>
                <a:cubicBezTo>
                  <a:pt x="384" y="231"/>
                  <a:pt x="377" y="224"/>
                  <a:pt x="368" y="224"/>
                </a:cubicBezTo>
                <a:lnTo>
                  <a:pt x="336" y="224"/>
                </a:lnTo>
                <a:close/>
                <a:moveTo>
                  <a:pt x="64" y="368"/>
                </a:moveTo>
                <a:lnTo>
                  <a:pt x="64" y="400"/>
                </a:lnTo>
                <a:cubicBezTo>
                  <a:pt x="64" y="409"/>
                  <a:pt x="71" y="416"/>
                  <a:pt x="80" y="416"/>
                </a:cubicBezTo>
                <a:lnTo>
                  <a:pt x="112" y="416"/>
                </a:lnTo>
                <a:cubicBezTo>
                  <a:pt x="121" y="416"/>
                  <a:pt x="128" y="409"/>
                  <a:pt x="128" y="400"/>
                </a:cubicBezTo>
                <a:lnTo>
                  <a:pt x="128" y="368"/>
                </a:lnTo>
                <a:cubicBezTo>
                  <a:pt x="128" y="359"/>
                  <a:pt x="121" y="352"/>
                  <a:pt x="112" y="352"/>
                </a:cubicBezTo>
                <a:lnTo>
                  <a:pt x="80" y="352"/>
                </a:lnTo>
                <a:cubicBezTo>
                  <a:pt x="71" y="352"/>
                  <a:pt x="64" y="359"/>
                  <a:pt x="64" y="368"/>
                </a:cubicBezTo>
                <a:close/>
                <a:moveTo>
                  <a:pt x="208" y="352"/>
                </a:moveTo>
                <a:cubicBezTo>
                  <a:pt x="199" y="352"/>
                  <a:pt x="192" y="359"/>
                  <a:pt x="192" y="368"/>
                </a:cubicBezTo>
                <a:lnTo>
                  <a:pt x="192" y="400"/>
                </a:lnTo>
                <a:cubicBezTo>
                  <a:pt x="192" y="409"/>
                  <a:pt x="199" y="416"/>
                  <a:pt x="208" y="416"/>
                </a:cubicBezTo>
                <a:lnTo>
                  <a:pt x="240" y="416"/>
                </a:lnTo>
                <a:cubicBezTo>
                  <a:pt x="249" y="416"/>
                  <a:pt x="256" y="409"/>
                  <a:pt x="256" y="400"/>
                </a:cubicBezTo>
                <a:lnTo>
                  <a:pt x="256" y="368"/>
                </a:lnTo>
                <a:cubicBezTo>
                  <a:pt x="256" y="359"/>
                  <a:pt x="249" y="352"/>
                  <a:pt x="240" y="352"/>
                </a:cubicBezTo>
                <a:lnTo>
                  <a:pt x="208" y="352"/>
                </a:lnTo>
                <a:close/>
                <a:moveTo>
                  <a:pt x="320" y="368"/>
                </a:moveTo>
                <a:lnTo>
                  <a:pt x="320" y="400"/>
                </a:lnTo>
                <a:cubicBezTo>
                  <a:pt x="320" y="409"/>
                  <a:pt x="327" y="416"/>
                  <a:pt x="336" y="416"/>
                </a:cubicBezTo>
                <a:lnTo>
                  <a:pt x="368" y="416"/>
                </a:lnTo>
                <a:cubicBezTo>
                  <a:pt x="377" y="416"/>
                  <a:pt x="384" y="409"/>
                  <a:pt x="384" y="400"/>
                </a:cubicBezTo>
                <a:lnTo>
                  <a:pt x="384" y="368"/>
                </a:lnTo>
                <a:cubicBezTo>
                  <a:pt x="384" y="359"/>
                  <a:pt x="377" y="352"/>
                  <a:pt x="368" y="352"/>
                </a:cubicBezTo>
                <a:lnTo>
                  <a:pt x="336" y="352"/>
                </a:lnTo>
                <a:cubicBezTo>
                  <a:pt x="327" y="352"/>
                  <a:pt x="320" y="359"/>
                  <a:pt x="320" y="368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32" name="rc2-name"/>
          <p:cNvSpPr txBox="1"/>
          <p:nvPr/>
        </p:nvSpPr>
        <p:spPr>
          <a:xfrm>
            <a:off x="8001000" y="3454400"/>
            <a:ext cx="3581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Crop duration</a:t>
            </a:r>
            <a:endParaRPr lang="en-US" sz="1300" noProof="1"/>
          </a:p>
        </p:txBody>
      </p:sp>
      <p:sp>
        <p:nvSpPr>
          <p:cNvPr id="33" name="rc2-desc"/>
          <p:cNvSpPr txBox="1"/>
          <p:nvPr/>
        </p:nvSpPr>
        <p:spPr>
          <a:xfrm>
            <a:off x="8001000" y="3708400"/>
            <a:ext cx="3581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Days from sowing to harvest</a:t>
            </a:r>
            <a:endParaRPr lang="en-US" sz="1000" noProof="1"/>
          </a:p>
        </p:txBody>
      </p:sp>
      <p:sp>
        <p:nvSpPr>
          <p:cNvPr id="34" name="rc3-icon"/>
          <p:cNvSpPr/>
          <p:nvPr>
            <p:extLst>
              <p:ext uri="{F5677B7D-0D2A-4D9B-9A5C-6D8D7D0E5A5D}">
                <pptd:icon encoding="base64url">eyJpY29uTmFtZSI6ImZhczpjbG9jayJ9</pptd:icon>
              </p:ext>
            </p:extLst>
          </p:nvPr>
        </p:nvSpPr>
        <p:spPr>
          <a:xfrm>
            <a:off x="7620000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lose/>
                <a:moveTo>
                  <a:pt x="232" y="120"/>
                </a:moveTo>
                <a:lnTo>
                  <a:pt x="232" y="256"/>
                </a:lnTo>
                <a:cubicBezTo>
                  <a:pt x="232" y="264"/>
                  <a:pt x="236" y="272"/>
                  <a:pt x="243" y="276"/>
                </a:cubicBezTo>
                <a:lnTo>
                  <a:pt x="339" y="340"/>
                </a:lnTo>
                <a:cubicBezTo>
                  <a:pt x="350" y="347"/>
                  <a:pt x="365" y="344"/>
                  <a:pt x="372" y="333"/>
                </a:cubicBezTo>
                <a:cubicBezTo>
                  <a:pt x="379" y="322"/>
                  <a:pt x="376" y="307"/>
                  <a:pt x="365" y="300"/>
                </a:cubicBezTo>
                <a:lnTo>
                  <a:pt x="280" y="243"/>
                </a:lnTo>
                <a:lnTo>
                  <a:pt x="280" y="120"/>
                </a:lnTo>
                <a:cubicBezTo>
                  <a:pt x="280" y="107"/>
                  <a:pt x="269" y="96"/>
                  <a:pt x="256" y="96"/>
                </a:cubicBezTo>
                <a:cubicBezTo>
                  <a:pt x="243" y="96"/>
                  <a:pt x="232" y="107"/>
                  <a:pt x="232" y="120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35" name="rc3-name"/>
          <p:cNvSpPr txBox="1"/>
          <p:nvPr/>
        </p:nvSpPr>
        <p:spPr>
          <a:xfrm>
            <a:off x="8001000" y="4292600"/>
            <a:ext cx="3581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Profit per day</a:t>
            </a:r>
            <a:endParaRPr lang="en-US" sz="1300" noProof="1"/>
          </a:p>
        </p:txBody>
      </p:sp>
      <p:sp>
        <p:nvSpPr>
          <p:cNvPr id="36" name="rc3-desc"/>
          <p:cNvSpPr txBox="1"/>
          <p:nvPr/>
        </p:nvSpPr>
        <p:spPr>
          <a:xfrm>
            <a:off x="8001000" y="4546600"/>
            <a:ext cx="3581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Profit normalised by crop duration</a:t>
            </a:r>
            <a:endParaRPr lang="en-US" sz="1000" noProof="1"/>
          </a:p>
        </p:txBody>
      </p:sp>
      <p:sp>
        <p:nvSpPr>
          <p:cNvPr id="37" name="rc4-icon"/>
          <p:cNvSpPr/>
          <p:nvPr>
            <p:extLst>
              <p:ext uri="{F5677B7D-0D2A-4D9B-9A5C-6D8D7D0E5A5D}">
                <pptd:icon encoding="base64url">eyJpY29uTmFtZSI6ImZhczphcnJvdy10cmVuZC1kb3duIn0</pptd:icon>
              </p:ext>
            </p:extLst>
          </p:nvPr>
        </p:nvSpPr>
        <p:spPr>
          <a:xfrm>
            <a:off x="7620000" y="5181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352"/>
                </a:moveTo>
                <a:cubicBezTo>
                  <a:pt x="366" y="352"/>
                  <a:pt x="352" y="366"/>
                  <a:pt x="352" y="384"/>
                </a:cubicBezTo>
                <a:cubicBezTo>
                  <a:pt x="352" y="402"/>
                  <a:pt x="366" y="416"/>
                  <a:pt x="384" y="416"/>
                </a:cubicBezTo>
                <a:lnTo>
                  <a:pt x="544" y="416"/>
                </a:lnTo>
                <a:cubicBezTo>
                  <a:pt x="562" y="416"/>
                  <a:pt x="576" y="402"/>
                  <a:pt x="576" y="384"/>
                </a:cubicBezTo>
                <a:lnTo>
                  <a:pt x="576" y="224"/>
                </a:lnTo>
                <a:cubicBezTo>
                  <a:pt x="576" y="206"/>
                  <a:pt x="562" y="192"/>
                  <a:pt x="544" y="192"/>
                </a:cubicBezTo>
                <a:cubicBezTo>
                  <a:pt x="526" y="192"/>
                  <a:pt x="512" y="206"/>
                  <a:pt x="512" y="224"/>
                </a:cubicBezTo>
                <a:lnTo>
                  <a:pt x="512" y="307"/>
                </a:lnTo>
                <a:lnTo>
                  <a:pt x="343" y="137"/>
                </a:lnTo>
                <a:cubicBezTo>
                  <a:pt x="330" y="125"/>
                  <a:pt x="310" y="125"/>
                  <a:pt x="297" y="137"/>
                </a:cubicBezTo>
                <a:lnTo>
                  <a:pt x="192" y="243"/>
                </a:lnTo>
                <a:lnTo>
                  <a:pt x="55" y="105"/>
                </a:lnTo>
                <a:cubicBezTo>
                  <a:pt x="42" y="93"/>
                  <a:pt x="22" y="93"/>
                  <a:pt x="9" y="105"/>
                </a:cubicBezTo>
                <a:cubicBezTo>
                  <a:pt x="-3" y="118"/>
                  <a:pt x="-3" y="138"/>
                  <a:pt x="9" y="151"/>
                </a:cubicBezTo>
                <a:lnTo>
                  <a:pt x="169" y="311"/>
                </a:lnTo>
                <a:cubicBezTo>
                  <a:pt x="182" y="323"/>
                  <a:pt x="202" y="323"/>
                  <a:pt x="215" y="311"/>
                </a:cubicBezTo>
                <a:lnTo>
                  <a:pt x="320" y="205"/>
                </a:lnTo>
                <a:lnTo>
                  <a:pt x="467" y="352"/>
                </a:lnTo>
                <a:lnTo>
                  <a:pt x="384" y="352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38" name="rc4-name"/>
          <p:cNvSpPr txBox="1"/>
          <p:nvPr/>
        </p:nvSpPr>
        <p:spPr>
          <a:xfrm>
            <a:off x="8001000" y="5130800"/>
            <a:ext cx="3581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Market risk</a:t>
            </a:r>
            <a:endParaRPr lang="en-US" sz="1300" noProof="1"/>
          </a:p>
        </p:txBody>
      </p:sp>
      <p:sp>
        <p:nvSpPr>
          <p:cNvPr id="39" name="rc4-desc"/>
          <p:cNvSpPr txBox="1"/>
          <p:nvPr/>
        </p:nvSpPr>
        <p:spPr>
          <a:xfrm>
            <a:off x="8001000" y="5384800"/>
            <a:ext cx="3581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Price volatility expected at harvest</a:t>
            </a:r>
            <a:endParaRPr lang="en-US" sz="1000" noProof="1"/>
          </a:p>
        </p:txBody>
      </p:sp>
      <p:sp>
        <p:nvSpPr>
          <p:cNvPr id="40" name="rc-note"/>
          <p:cNvSpPr txBox="1"/>
          <p:nvPr/>
        </p:nvSpPr>
        <p:spPr>
          <a:xfrm>
            <a:off x="7620000" y="596900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Demo estimates from the prototype's sample crop dataset.</a:t>
            </a:r>
            <a:endParaRPr lang="en-US" sz="1000" noProof="1"/>
          </a:p>
        </p:txBody>
      </p:sp>
      <p:sp>
        <p:nvSpPr>
          <p:cNvPr id="41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10 / 14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3E7A4E"/>
                </a:solidFill>
                <a:latin typeface="MiSans"/>
                <a:ea typeface="MiSans"/>
              </a:rPr>
              <a:t>RISK &amp; LONG-TERM THINKING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812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2A20"/>
                </a:solidFill>
                <a:latin typeface="MiSans"/>
                <a:ea typeface="MiSans"/>
              </a:rPr>
              <a:t>Profit Is Not the Only Objective</a:t>
            </a:r>
            <a:endParaRPr lang="en-US" sz="2600" noProof="1"/>
          </a:p>
        </p:txBody>
      </p:sp>
      <p:sp>
        <p:nvSpPr>
          <p:cNvPr id="4" name="rk-header"/>
          <p:cNvSpPr txBox="1"/>
          <p:nvPr/>
        </p:nvSpPr>
        <p:spPr>
          <a:xfrm>
            <a:off x="609600" y="1397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66725F"/>
                </a:solidFill>
                <a:latin typeface="MiSans"/>
                <a:ea typeface="MiSans"/>
              </a:rPr>
              <a:t>SIX RISK DIMENSIONS, SCORED PER CROP</a:t>
            </a:r>
            <a:endParaRPr lang="en-US" sz="900" noProof="1"/>
          </a:p>
        </p:txBody>
      </p:sp>
      <p:sp>
        <p:nvSpPr>
          <p:cNvPr id="5" name="rk1-icon"/>
          <p:cNvSpPr/>
          <p:nvPr>
            <p:extLst>
              <p:ext uri="{F5677B7D-0D2A-4D9B-9A5C-6D8D7D0E5A5D}">
                <pptd:icon encoding="base64url">eyJpY29uTmFtZSI6ImZhczpjbG91ZC1zaG93ZXJzLWhlYXZ5In0</pptd:icon>
              </p:ext>
            </p:extLst>
          </p:nvPr>
        </p:nvSpPr>
        <p:spPr>
          <a:xfrm>
            <a:off x="609600" y="180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96" y="320"/>
                </a:moveTo>
                <a:cubicBezTo>
                  <a:pt x="43" y="320"/>
                  <a:pt x="0" y="277"/>
                  <a:pt x="0" y="224"/>
                </a:cubicBezTo>
                <a:cubicBezTo>
                  <a:pt x="0" y="182"/>
                  <a:pt x="28" y="145"/>
                  <a:pt x="66" y="133"/>
                </a:cubicBezTo>
                <a:cubicBezTo>
                  <a:pt x="65" y="126"/>
                  <a:pt x="64" y="119"/>
                  <a:pt x="64" y="112"/>
                </a:cubicBezTo>
                <a:cubicBezTo>
                  <a:pt x="64" y="50"/>
                  <a:pt x="114" y="0"/>
                  <a:pt x="176" y="0"/>
                </a:cubicBezTo>
                <a:cubicBezTo>
                  <a:pt x="219" y="0"/>
                  <a:pt x="257" y="24"/>
                  <a:pt x="275" y="60"/>
                </a:cubicBezTo>
                <a:cubicBezTo>
                  <a:pt x="290" y="43"/>
                  <a:pt x="312" y="32"/>
                  <a:pt x="336" y="32"/>
                </a:cubicBezTo>
                <a:cubicBezTo>
                  <a:pt x="380" y="32"/>
                  <a:pt x="416" y="68"/>
                  <a:pt x="416" y="112"/>
                </a:cubicBezTo>
                <a:cubicBezTo>
                  <a:pt x="416" y="118"/>
                  <a:pt x="415" y="123"/>
                  <a:pt x="414" y="128"/>
                </a:cubicBezTo>
                <a:cubicBezTo>
                  <a:pt x="415" y="128"/>
                  <a:pt x="416" y="128"/>
                  <a:pt x="416" y="128"/>
                </a:cubicBezTo>
                <a:cubicBezTo>
                  <a:pt x="469" y="128"/>
                  <a:pt x="512" y="171"/>
                  <a:pt x="512" y="224"/>
                </a:cubicBezTo>
                <a:cubicBezTo>
                  <a:pt x="512" y="277"/>
                  <a:pt x="469" y="320"/>
                  <a:pt x="416" y="320"/>
                </a:cubicBezTo>
                <a:lnTo>
                  <a:pt x="96" y="320"/>
                </a:lnTo>
                <a:close/>
              </a:path>
              <a:path w="512" h="512">
                <a:moveTo>
                  <a:pt x="103" y="400"/>
                </a:moveTo>
                <a:lnTo>
                  <a:pt x="71" y="496"/>
                </a:lnTo>
                <a:cubicBezTo>
                  <a:pt x="67" y="508"/>
                  <a:pt x="53" y="515"/>
                  <a:pt x="40" y="511"/>
                </a:cubicBezTo>
                <a:cubicBezTo>
                  <a:pt x="28" y="507"/>
                  <a:pt x="21" y="493"/>
                  <a:pt x="25" y="480"/>
                </a:cubicBezTo>
                <a:lnTo>
                  <a:pt x="57" y="384"/>
                </a:lnTo>
                <a:cubicBezTo>
                  <a:pt x="61" y="372"/>
                  <a:pt x="75" y="365"/>
                  <a:pt x="88" y="369"/>
                </a:cubicBezTo>
                <a:cubicBezTo>
                  <a:pt x="100" y="373"/>
                  <a:pt x="107" y="387"/>
                  <a:pt x="103" y="400"/>
                </a:cubicBezTo>
                <a:close/>
              </a:path>
              <a:path w="512" h="512">
                <a:moveTo>
                  <a:pt x="223" y="400"/>
                </a:moveTo>
                <a:lnTo>
                  <a:pt x="191" y="496"/>
                </a:lnTo>
                <a:cubicBezTo>
                  <a:pt x="187" y="508"/>
                  <a:pt x="173" y="515"/>
                  <a:pt x="160" y="511"/>
                </a:cubicBezTo>
                <a:cubicBezTo>
                  <a:pt x="148" y="507"/>
                  <a:pt x="141" y="493"/>
                  <a:pt x="145" y="480"/>
                </a:cubicBezTo>
                <a:lnTo>
                  <a:pt x="177" y="384"/>
                </a:lnTo>
                <a:cubicBezTo>
                  <a:pt x="181" y="372"/>
                  <a:pt x="195" y="365"/>
                  <a:pt x="208" y="369"/>
                </a:cubicBezTo>
                <a:cubicBezTo>
                  <a:pt x="220" y="373"/>
                  <a:pt x="227" y="387"/>
                  <a:pt x="223" y="400"/>
                </a:cubicBezTo>
                <a:close/>
              </a:path>
              <a:path w="512" h="512">
                <a:moveTo>
                  <a:pt x="335" y="400"/>
                </a:moveTo>
                <a:lnTo>
                  <a:pt x="303" y="496"/>
                </a:lnTo>
                <a:cubicBezTo>
                  <a:pt x="299" y="508"/>
                  <a:pt x="285" y="515"/>
                  <a:pt x="272" y="511"/>
                </a:cubicBezTo>
                <a:cubicBezTo>
                  <a:pt x="260" y="507"/>
                  <a:pt x="253" y="493"/>
                  <a:pt x="257" y="480"/>
                </a:cubicBezTo>
                <a:lnTo>
                  <a:pt x="289" y="384"/>
                </a:lnTo>
                <a:cubicBezTo>
                  <a:pt x="293" y="372"/>
                  <a:pt x="307" y="365"/>
                  <a:pt x="320" y="369"/>
                </a:cubicBezTo>
                <a:cubicBezTo>
                  <a:pt x="332" y="373"/>
                  <a:pt x="339" y="387"/>
                  <a:pt x="335" y="400"/>
                </a:cubicBezTo>
                <a:close/>
              </a:path>
              <a:path w="512" h="512">
                <a:moveTo>
                  <a:pt x="455" y="400"/>
                </a:moveTo>
                <a:lnTo>
                  <a:pt x="423" y="496"/>
                </a:lnTo>
                <a:cubicBezTo>
                  <a:pt x="419" y="508"/>
                  <a:pt x="405" y="515"/>
                  <a:pt x="392" y="511"/>
                </a:cubicBezTo>
                <a:cubicBezTo>
                  <a:pt x="380" y="507"/>
                  <a:pt x="373" y="493"/>
                  <a:pt x="377" y="480"/>
                </a:cubicBezTo>
                <a:lnTo>
                  <a:pt x="409" y="384"/>
                </a:lnTo>
                <a:cubicBezTo>
                  <a:pt x="413" y="372"/>
                  <a:pt x="427" y="365"/>
                  <a:pt x="440" y="369"/>
                </a:cubicBezTo>
                <a:cubicBezTo>
                  <a:pt x="452" y="373"/>
                  <a:pt x="459" y="387"/>
                  <a:pt x="455" y="400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6" name="rk1-name"/>
          <p:cNvSpPr txBox="1"/>
          <p:nvPr/>
        </p:nvSpPr>
        <p:spPr>
          <a:xfrm>
            <a:off x="990600" y="17526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Weather risk</a:t>
            </a:r>
            <a:endParaRPr lang="en-US" sz="1300" noProof="1"/>
          </a:p>
        </p:txBody>
      </p:sp>
      <p:sp>
        <p:nvSpPr>
          <p:cNvPr id="7" name="rk1-desc"/>
          <p:cNvSpPr txBox="1"/>
          <p:nvPr/>
        </p:nvSpPr>
        <p:spPr>
          <a:xfrm>
            <a:off x="990600" y="1993900"/>
            <a:ext cx="457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Rainfall and temperature swings during the season</a:t>
            </a:r>
            <a:endParaRPr lang="en-US" sz="1000" noProof="1"/>
          </a:p>
        </p:txBody>
      </p:sp>
      <p:sp>
        <p:nvSpPr>
          <p:cNvPr id="8" name="rk2-icon"/>
          <p:cNvSpPr/>
          <p:nvPr>
            <p:extLst>
              <p:ext uri="{F5677B7D-0D2A-4D9B-9A5C-6D8D7D0E5A5D}">
                <pptd:icon encoding="base64url">eyJpY29uTmFtZSI6ImZhczpkcm9wbGV0In0</pptd:icon>
              </p:ext>
            </p:extLst>
          </p:nvPr>
        </p:nvSpPr>
        <p:spPr>
          <a:xfrm>
            <a:off x="609600" y="2540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92" y="512"/>
                </a:moveTo>
                <a:cubicBezTo>
                  <a:pt x="86" y="512"/>
                  <a:pt x="0" y="426"/>
                  <a:pt x="0" y="320"/>
                </a:cubicBezTo>
                <a:cubicBezTo>
                  <a:pt x="0" y="229"/>
                  <a:pt x="130" y="46"/>
                  <a:pt x="167" y="-3"/>
                </a:cubicBezTo>
                <a:cubicBezTo>
                  <a:pt x="173" y="-11"/>
                  <a:pt x="182" y="-16"/>
                  <a:pt x="192" y="-16"/>
                </a:cubicBezTo>
                <a:lnTo>
                  <a:pt x="192" y="-16"/>
                </a:lnTo>
                <a:cubicBezTo>
                  <a:pt x="202" y="-16"/>
                  <a:pt x="212" y="-11"/>
                  <a:pt x="217" y="-3"/>
                </a:cubicBezTo>
                <a:cubicBezTo>
                  <a:pt x="254" y="46"/>
                  <a:pt x="384" y="229"/>
                  <a:pt x="384" y="320"/>
                </a:cubicBezTo>
                <a:cubicBezTo>
                  <a:pt x="384" y="426"/>
                  <a:pt x="298" y="512"/>
                  <a:pt x="192" y="512"/>
                </a:cubicBezTo>
                <a:close/>
                <a:moveTo>
                  <a:pt x="112" y="312"/>
                </a:moveTo>
                <a:cubicBezTo>
                  <a:pt x="112" y="299"/>
                  <a:pt x="101" y="288"/>
                  <a:pt x="88" y="288"/>
                </a:cubicBezTo>
                <a:cubicBezTo>
                  <a:pt x="75" y="288"/>
                  <a:pt x="64" y="299"/>
                  <a:pt x="64" y="312"/>
                </a:cubicBezTo>
                <a:cubicBezTo>
                  <a:pt x="64" y="387"/>
                  <a:pt x="125" y="448"/>
                  <a:pt x="200" y="448"/>
                </a:cubicBezTo>
                <a:cubicBezTo>
                  <a:pt x="213" y="448"/>
                  <a:pt x="224" y="437"/>
                  <a:pt x="224" y="424"/>
                </a:cubicBezTo>
                <a:cubicBezTo>
                  <a:pt x="224" y="411"/>
                  <a:pt x="213" y="400"/>
                  <a:pt x="200" y="400"/>
                </a:cubicBezTo>
                <a:cubicBezTo>
                  <a:pt x="151" y="400"/>
                  <a:pt x="112" y="361"/>
                  <a:pt x="112" y="312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9" name="rk2-name"/>
          <p:cNvSpPr txBox="1"/>
          <p:nvPr/>
        </p:nvSpPr>
        <p:spPr>
          <a:xfrm>
            <a:off x="990600" y="24892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Water risk</a:t>
            </a:r>
            <a:endParaRPr lang="en-US" sz="1300" noProof="1"/>
          </a:p>
        </p:txBody>
      </p:sp>
      <p:sp>
        <p:nvSpPr>
          <p:cNvPr id="10" name="rk2-desc"/>
          <p:cNvSpPr txBox="1"/>
          <p:nvPr/>
        </p:nvSpPr>
        <p:spPr>
          <a:xfrm>
            <a:off x="990600" y="2730500"/>
            <a:ext cx="457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Irrigation availability vs. crop water requirement</a:t>
            </a:r>
            <a:endParaRPr lang="en-US" sz="1000" noProof="1"/>
          </a:p>
        </p:txBody>
      </p:sp>
      <p:sp>
        <p:nvSpPr>
          <p:cNvPr id="11" name="rk3-icon"/>
          <p:cNvSpPr/>
          <p:nvPr>
            <p:extLst>
              <p:ext uri="{F5677B7D-0D2A-4D9B-9A5C-6D8D7D0E5A5D}">
                <pptd:icon encoding="base64url">eyJpY29uTmFtZSI6ImZhczphcnJvdy10cmVuZC1kb3duIn0</pptd:icon>
              </p:ext>
            </p:extLst>
          </p:nvPr>
        </p:nvSpPr>
        <p:spPr>
          <a:xfrm>
            <a:off x="609600" y="3276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352"/>
                </a:moveTo>
                <a:cubicBezTo>
                  <a:pt x="366" y="352"/>
                  <a:pt x="352" y="366"/>
                  <a:pt x="352" y="384"/>
                </a:cubicBezTo>
                <a:cubicBezTo>
                  <a:pt x="352" y="402"/>
                  <a:pt x="366" y="416"/>
                  <a:pt x="384" y="416"/>
                </a:cubicBezTo>
                <a:lnTo>
                  <a:pt x="544" y="416"/>
                </a:lnTo>
                <a:cubicBezTo>
                  <a:pt x="562" y="416"/>
                  <a:pt x="576" y="402"/>
                  <a:pt x="576" y="384"/>
                </a:cubicBezTo>
                <a:lnTo>
                  <a:pt x="576" y="224"/>
                </a:lnTo>
                <a:cubicBezTo>
                  <a:pt x="576" y="206"/>
                  <a:pt x="562" y="192"/>
                  <a:pt x="544" y="192"/>
                </a:cubicBezTo>
                <a:cubicBezTo>
                  <a:pt x="526" y="192"/>
                  <a:pt x="512" y="206"/>
                  <a:pt x="512" y="224"/>
                </a:cubicBezTo>
                <a:lnTo>
                  <a:pt x="512" y="307"/>
                </a:lnTo>
                <a:lnTo>
                  <a:pt x="343" y="137"/>
                </a:lnTo>
                <a:cubicBezTo>
                  <a:pt x="330" y="125"/>
                  <a:pt x="310" y="125"/>
                  <a:pt x="297" y="137"/>
                </a:cubicBezTo>
                <a:lnTo>
                  <a:pt x="192" y="243"/>
                </a:lnTo>
                <a:lnTo>
                  <a:pt x="55" y="105"/>
                </a:lnTo>
                <a:cubicBezTo>
                  <a:pt x="42" y="93"/>
                  <a:pt x="22" y="93"/>
                  <a:pt x="9" y="105"/>
                </a:cubicBezTo>
                <a:cubicBezTo>
                  <a:pt x="-3" y="118"/>
                  <a:pt x="-3" y="138"/>
                  <a:pt x="9" y="151"/>
                </a:cubicBezTo>
                <a:lnTo>
                  <a:pt x="169" y="311"/>
                </a:lnTo>
                <a:cubicBezTo>
                  <a:pt x="182" y="323"/>
                  <a:pt x="202" y="323"/>
                  <a:pt x="215" y="311"/>
                </a:cubicBezTo>
                <a:lnTo>
                  <a:pt x="320" y="205"/>
                </a:lnTo>
                <a:lnTo>
                  <a:pt x="467" y="352"/>
                </a:lnTo>
                <a:lnTo>
                  <a:pt x="384" y="352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2" name="rk3-name"/>
          <p:cNvSpPr txBox="1"/>
          <p:nvPr/>
        </p:nvSpPr>
        <p:spPr>
          <a:xfrm>
            <a:off x="990600" y="32258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Market risk</a:t>
            </a:r>
            <a:endParaRPr lang="en-US" sz="1300" noProof="1"/>
          </a:p>
        </p:txBody>
      </p:sp>
      <p:sp>
        <p:nvSpPr>
          <p:cNvPr id="13" name="rk3-desc"/>
          <p:cNvSpPr txBox="1"/>
          <p:nvPr/>
        </p:nvSpPr>
        <p:spPr>
          <a:xfrm>
            <a:off x="990600" y="3467100"/>
            <a:ext cx="457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Price volatility between sowing and harvest</a:t>
            </a:r>
            <a:endParaRPr lang="en-US" sz="1000" noProof="1"/>
          </a:p>
        </p:txBody>
      </p:sp>
      <p:sp>
        <p:nvSpPr>
          <p:cNvPr id="14" name="rk4-icon"/>
          <p:cNvSpPr/>
          <p:nvPr>
            <p:extLst>
              <p:ext uri="{F5677B7D-0D2A-4D9B-9A5C-6D8D7D0E5A5D}">
                <pptd:icon encoding="base64url">eyJpY29uTmFtZSI6ImZhczpidWcifQ</pptd:icon>
              </p:ext>
            </p:extLst>
          </p:nvPr>
        </p:nvSpPr>
        <p:spPr>
          <a:xfrm>
            <a:off x="609600" y="4013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192" y="96"/>
                </a:moveTo>
                <a:cubicBezTo>
                  <a:pt x="192" y="43"/>
                  <a:pt x="235" y="0"/>
                  <a:pt x="288" y="0"/>
                </a:cubicBezTo>
                <a:cubicBezTo>
                  <a:pt x="341" y="0"/>
                  <a:pt x="384" y="43"/>
                  <a:pt x="384" y="96"/>
                </a:cubicBezTo>
                <a:lnTo>
                  <a:pt x="384" y="100"/>
                </a:lnTo>
                <a:cubicBezTo>
                  <a:pt x="384" y="115"/>
                  <a:pt x="371" y="128"/>
                  <a:pt x="356" y="128"/>
                </a:cubicBezTo>
                <a:lnTo>
                  <a:pt x="221" y="128"/>
                </a:lnTo>
                <a:cubicBezTo>
                  <a:pt x="205" y="128"/>
                  <a:pt x="192" y="115"/>
                  <a:pt x="192" y="100"/>
                </a:cubicBezTo>
                <a:lnTo>
                  <a:pt x="192" y="96"/>
                </a:lnTo>
                <a:close/>
                <a:moveTo>
                  <a:pt x="538" y="109"/>
                </a:moveTo>
                <a:cubicBezTo>
                  <a:pt x="548" y="123"/>
                  <a:pt x="545" y="143"/>
                  <a:pt x="531" y="154"/>
                </a:cubicBezTo>
                <a:lnTo>
                  <a:pt x="433" y="227"/>
                </a:lnTo>
                <a:cubicBezTo>
                  <a:pt x="439" y="236"/>
                  <a:pt x="443" y="246"/>
                  <a:pt x="445" y="256"/>
                </a:cubicBezTo>
                <a:lnTo>
                  <a:pt x="544" y="256"/>
                </a:lnTo>
                <a:cubicBezTo>
                  <a:pt x="562" y="256"/>
                  <a:pt x="576" y="270"/>
                  <a:pt x="576" y="288"/>
                </a:cubicBezTo>
                <a:cubicBezTo>
                  <a:pt x="576" y="306"/>
                  <a:pt x="562" y="320"/>
                  <a:pt x="544" y="320"/>
                </a:cubicBezTo>
                <a:lnTo>
                  <a:pt x="448" y="320"/>
                </a:lnTo>
                <a:lnTo>
                  <a:pt x="448" y="352"/>
                </a:lnTo>
                <a:cubicBezTo>
                  <a:pt x="448" y="355"/>
                  <a:pt x="448" y="357"/>
                  <a:pt x="448" y="360"/>
                </a:cubicBezTo>
                <a:lnTo>
                  <a:pt x="531" y="422"/>
                </a:lnTo>
                <a:cubicBezTo>
                  <a:pt x="545" y="433"/>
                  <a:pt x="548" y="453"/>
                  <a:pt x="538" y="467"/>
                </a:cubicBezTo>
                <a:cubicBezTo>
                  <a:pt x="527" y="481"/>
                  <a:pt x="507" y="484"/>
                  <a:pt x="493" y="474"/>
                </a:cubicBezTo>
                <a:lnTo>
                  <a:pt x="430" y="426"/>
                </a:lnTo>
                <a:cubicBezTo>
                  <a:pt x="407" y="470"/>
                  <a:pt x="363" y="502"/>
                  <a:pt x="312" y="510"/>
                </a:cubicBezTo>
                <a:lnTo>
                  <a:pt x="312" y="280"/>
                </a:lnTo>
                <a:cubicBezTo>
                  <a:pt x="312" y="267"/>
                  <a:pt x="301" y="256"/>
                  <a:pt x="288" y="256"/>
                </a:cubicBezTo>
                <a:cubicBezTo>
                  <a:pt x="275" y="256"/>
                  <a:pt x="264" y="267"/>
                  <a:pt x="264" y="280"/>
                </a:cubicBezTo>
                <a:lnTo>
                  <a:pt x="264" y="510"/>
                </a:lnTo>
                <a:cubicBezTo>
                  <a:pt x="213" y="503"/>
                  <a:pt x="170" y="471"/>
                  <a:pt x="146" y="426"/>
                </a:cubicBezTo>
                <a:lnTo>
                  <a:pt x="83" y="474"/>
                </a:lnTo>
                <a:cubicBezTo>
                  <a:pt x="69" y="484"/>
                  <a:pt x="49" y="481"/>
                  <a:pt x="38" y="467"/>
                </a:cubicBezTo>
                <a:cubicBezTo>
                  <a:pt x="28" y="453"/>
                  <a:pt x="31" y="433"/>
                  <a:pt x="45" y="422"/>
                </a:cubicBezTo>
                <a:lnTo>
                  <a:pt x="128" y="360"/>
                </a:lnTo>
                <a:cubicBezTo>
                  <a:pt x="128" y="357"/>
                  <a:pt x="128" y="355"/>
                  <a:pt x="128" y="352"/>
                </a:cubicBezTo>
                <a:lnTo>
                  <a:pt x="128" y="320"/>
                </a:lnTo>
                <a:lnTo>
                  <a:pt x="32" y="320"/>
                </a:lnTo>
                <a:cubicBezTo>
                  <a:pt x="14" y="320"/>
                  <a:pt x="0" y="306"/>
                  <a:pt x="0" y="288"/>
                </a:cubicBezTo>
                <a:cubicBezTo>
                  <a:pt x="0" y="270"/>
                  <a:pt x="14" y="256"/>
                  <a:pt x="32" y="256"/>
                </a:cubicBezTo>
                <a:lnTo>
                  <a:pt x="131" y="256"/>
                </a:lnTo>
                <a:cubicBezTo>
                  <a:pt x="133" y="246"/>
                  <a:pt x="137" y="236"/>
                  <a:pt x="143" y="227"/>
                </a:cubicBezTo>
                <a:lnTo>
                  <a:pt x="45" y="154"/>
                </a:lnTo>
                <a:cubicBezTo>
                  <a:pt x="31" y="143"/>
                  <a:pt x="28" y="123"/>
                  <a:pt x="38" y="109"/>
                </a:cubicBezTo>
                <a:cubicBezTo>
                  <a:pt x="49" y="95"/>
                  <a:pt x="69" y="92"/>
                  <a:pt x="83" y="102"/>
                </a:cubicBezTo>
                <a:lnTo>
                  <a:pt x="192" y="184"/>
                </a:lnTo>
                <a:cubicBezTo>
                  <a:pt x="204" y="179"/>
                  <a:pt x="218" y="176"/>
                  <a:pt x="232" y="176"/>
                </a:cubicBezTo>
                <a:lnTo>
                  <a:pt x="344" y="176"/>
                </a:lnTo>
                <a:cubicBezTo>
                  <a:pt x="358" y="176"/>
                  <a:pt x="372" y="179"/>
                  <a:pt x="384" y="184"/>
                </a:cubicBezTo>
                <a:lnTo>
                  <a:pt x="493" y="102"/>
                </a:lnTo>
                <a:cubicBezTo>
                  <a:pt x="507" y="92"/>
                  <a:pt x="527" y="95"/>
                  <a:pt x="538" y="109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5" name="rk4-name"/>
          <p:cNvSpPr txBox="1"/>
          <p:nvPr/>
        </p:nvSpPr>
        <p:spPr>
          <a:xfrm>
            <a:off x="990600" y="39624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Disease risk</a:t>
            </a:r>
            <a:endParaRPr lang="en-US" sz="1300" noProof="1"/>
          </a:p>
        </p:txBody>
      </p:sp>
      <p:sp>
        <p:nvSpPr>
          <p:cNvPr id="16" name="rk4-desc"/>
          <p:cNvSpPr txBox="1"/>
          <p:nvPr/>
        </p:nvSpPr>
        <p:spPr>
          <a:xfrm>
            <a:off x="990600" y="4203700"/>
            <a:ext cx="457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Pest and disease pressure for the region and season</a:t>
            </a:r>
            <a:endParaRPr lang="en-US" sz="1000" noProof="1"/>
          </a:p>
        </p:txBody>
      </p:sp>
      <p:sp>
        <p:nvSpPr>
          <p:cNvPr id="17" name="rk5-icon"/>
          <p:cNvSpPr/>
          <p:nvPr>
            <p:extLst>
              <p:ext uri="{F5677B7D-0D2A-4D9B-9A5C-6D8D7D0E5A5D}">
                <pptd:icon encoding="base64url">eyJpY29uTmFtZSI6ImZhczpsYXllci1ncm91cCJ9</pptd:icon>
              </p:ext>
            </p:extLst>
          </p:nvPr>
        </p:nvSpPr>
        <p:spPr>
          <a:xfrm>
            <a:off x="609600" y="4749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18" name="rk5-name"/>
          <p:cNvSpPr txBox="1"/>
          <p:nvPr/>
        </p:nvSpPr>
        <p:spPr>
          <a:xfrm>
            <a:off x="990600" y="46990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Soil risk</a:t>
            </a:r>
            <a:endParaRPr lang="en-US" sz="1300" noProof="1"/>
          </a:p>
        </p:txBody>
      </p:sp>
      <p:sp>
        <p:nvSpPr>
          <p:cNvPr id="19" name="rk5-desc"/>
          <p:cNvSpPr txBox="1"/>
          <p:nvPr/>
        </p:nvSpPr>
        <p:spPr>
          <a:xfrm>
            <a:off x="990600" y="4940300"/>
            <a:ext cx="457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Nutrient depletion and degradation across seasons</a:t>
            </a:r>
            <a:endParaRPr lang="en-US" sz="1000" noProof="1"/>
          </a:p>
        </p:txBody>
      </p:sp>
      <p:sp>
        <p:nvSpPr>
          <p:cNvPr id="20" name="rk6-icon"/>
          <p:cNvSpPr/>
          <p:nvPr>
            <p:extLst>
              <p:ext uri="{F5677B7D-0D2A-4D9B-9A5C-6D8D7D0E5A5D}">
                <pptd:icon encoding="base64url">eyJpY29uTmFtZSI6ImZhczppbmRpYW4tcnVwZWUtc2lnbiJ9</pptd:icon>
              </p:ext>
            </p:extLst>
          </p:nvPr>
        </p:nvSpPr>
        <p:spPr>
          <a:xfrm>
            <a:off x="609600" y="548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20" h="512">
                <a:moveTo>
                  <a:pt x="0" y="64"/>
                </a:moveTo>
                <a:cubicBezTo>
                  <a:pt x="0" y="46"/>
                  <a:pt x="14" y="32"/>
                  <a:pt x="32" y="32"/>
                </a:cubicBezTo>
                <a:lnTo>
                  <a:pt x="296" y="32"/>
                </a:lnTo>
                <a:cubicBezTo>
                  <a:pt x="309" y="32"/>
                  <a:pt x="320" y="43"/>
                  <a:pt x="320" y="56"/>
                </a:cubicBezTo>
                <a:cubicBezTo>
                  <a:pt x="320" y="69"/>
                  <a:pt x="309" y="80"/>
                  <a:pt x="296" y="80"/>
                </a:cubicBezTo>
                <a:lnTo>
                  <a:pt x="219" y="80"/>
                </a:lnTo>
                <a:cubicBezTo>
                  <a:pt x="237" y="100"/>
                  <a:pt x="249" y="125"/>
                  <a:pt x="254" y="152"/>
                </a:cubicBezTo>
                <a:lnTo>
                  <a:pt x="296" y="152"/>
                </a:lnTo>
                <a:cubicBezTo>
                  <a:pt x="309" y="152"/>
                  <a:pt x="320" y="163"/>
                  <a:pt x="320" y="176"/>
                </a:cubicBezTo>
                <a:cubicBezTo>
                  <a:pt x="320" y="189"/>
                  <a:pt x="309" y="200"/>
                  <a:pt x="296" y="200"/>
                </a:cubicBezTo>
                <a:lnTo>
                  <a:pt x="254" y="200"/>
                </a:lnTo>
                <a:cubicBezTo>
                  <a:pt x="244" y="262"/>
                  <a:pt x="193" y="311"/>
                  <a:pt x="130" y="319"/>
                </a:cubicBezTo>
                <a:lnTo>
                  <a:pt x="275" y="422"/>
                </a:lnTo>
                <a:cubicBezTo>
                  <a:pt x="289" y="432"/>
                  <a:pt x="292" y="452"/>
                  <a:pt x="282" y="467"/>
                </a:cubicBezTo>
                <a:cubicBezTo>
                  <a:pt x="272" y="481"/>
                  <a:pt x="252" y="484"/>
                  <a:pt x="237" y="474"/>
                </a:cubicBezTo>
                <a:lnTo>
                  <a:pt x="13" y="314"/>
                </a:lnTo>
                <a:cubicBezTo>
                  <a:pt x="2" y="306"/>
                  <a:pt x="-3" y="292"/>
                  <a:pt x="2" y="278"/>
                </a:cubicBezTo>
                <a:cubicBezTo>
                  <a:pt x="6" y="265"/>
                  <a:pt x="18" y="256"/>
                  <a:pt x="32" y="256"/>
                </a:cubicBezTo>
                <a:lnTo>
                  <a:pt x="112" y="256"/>
                </a:lnTo>
                <a:cubicBezTo>
                  <a:pt x="148" y="256"/>
                  <a:pt x="178" y="233"/>
                  <a:pt x="188" y="200"/>
                </a:cubicBezTo>
                <a:lnTo>
                  <a:pt x="24" y="200"/>
                </a:lnTo>
                <a:cubicBezTo>
                  <a:pt x="11" y="200"/>
                  <a:pt x="0" y="189"/>
                  <a:pt x="0" y="176"/>
                </a:cubicBezTo>
                <a:cubicBezTo>
                  <a:pt x="0" y="163"/>
                  <a:pt x="11" y="152"/>
                  <a:pt x="24" y="152"/>
                </a:cubicBezTo>
                <a:lnTo>
                  <a:pt x="188" y="152"/>
                </a:lnTo>
                <a:cubicBezTo>
                  <a:pt x="178" y="120"/>
                  <a:pt x="148" y="96"/>
                  <a:pt x="112" y="96"/>
                </a:cubicBezTo>
                <a:lnTo>
                  <a:pt x="32" y="96"/>
                </a:lnTo>
                <a:cubicBezTo>
                  <a:pt x="14" y="96"/>
                  <a:pt x="0" y="82"/>
                  <a:pt x="0" y="64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1" name="rk6-name"/>
          <p:cNvSpPr txBox="1"/>
          <p:nvPr/>
        </p:nvSpPr>
        <p:spPr>
          <a:xfrm>
            <a:off x="990600" y="54356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0"/>
                </a:solidFill>
                <a:latin typeface="MiSans"/>
                <a:ea typeface="MiSans"/>
              </a:rPr>
              <a:t>Cost risk</a:t>
            </a:r>
            <a:endParaRPr lang="en-US" sz="1300" noProof="1"/>
          </a:p>
        </p:txBody>
      </p:sp>
      <p:sp>
        <p:nvSpPr>
          <p:cNvPr id="22" name="rk6-desc"/>
          <p:cNvSpPr txBox="1"/>
          <p:nvPr/>
        </p:nvSpPr>
        <p:spPr>
          <a:xfrm>
            <a:off x="990600" y="5676900"/>
            <a:ext cx="457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Input price inflation — seed, fertilizer, labour</a:t>
            </a:r>
            <a:endParaRPr lang="en-US" sz="1000" noProof="1"/>
          </a:p>
        </p:txBody>
      </p:sp>
      <p:sp>
        <p:nvSpPr>
          <p:cNvPr id="23" name="divider"/>
          <p:cNvSpPr/>
          <p:nvPr/>
        </p:nvSpPr>
        <p:spPr>
          <a:xfrm>
            <a:off x="5969000" y="1473200"/>
            <a:ext cx="12700" cy="4521200"/>
          </a:xfrm>
          <a:prstGeom prst="rect">
            <a:avLst/>
          </a:prstGeom>
          <a:solidFill>
            <a:srgbClr val="D8D2BE"/>
          </a:solidFill>
          <a:ln>
            <a:noFill/>
          </a:ln>
        </p:spPr>
      </p:sp>
      <p:sp>
        <p:nvSpPr>
          <p:cNvPr id="24" name="rot-header"/>
          <p:cNvSpPr txBox="1"/>
          <p:nvPr/>
        </p:nvSpPr>
        <p:spPr>
          <a:xfrm>
            <a:off x="6477000" y="1397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66725F"/>
                </a:solidFill>
                <a:latin typeface="MiSans"/>
                <a:ea typeface="MiSans"/>
              </a:rPr>
              <a:t>LONG-TERM CROP PLANNING</a:t>
            </a:r>
            <a:endParaRPr lang="en-US" sz="900" noProof="1"/>
          </a:p>
        </p:txBody>
      </p:sp>
      <p:sp>
        <p:nvSpPr>
          <p:cNvPr id="25" name="y1"/>
          <p:cNvSpPr/>
          <p:nvPr/>
        </p:nvSpPr>
        <p:spPr>
          <a:xfrm>
            <a:off x="6477000" y="1778000"/>
            <a:ext cx="1422400" cy="1066800"/>
          </a:xfrm>
          <a:prstGeom prst="roundRect">
            <a:avLst>
              <a:gd name="adj" fmla="val 9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26" name="y1-tag"/>
          <p:cNvSpPr txBox="1"/>
          <p:nvPr/>
        </p:nvSpPr>
        <p:spPr>
          <a:xfrm>
            <a:off x="6477000" y="1930400"/>
            <a:ext cx="1422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 spc="200" kern="0">
                <a:solidFill>
                  <a:srgbClr val="3E7A4E"/>
                </a:solidFill>
                <a:latin typeface="MiSans"/>
                <a:ea typeface="MiSans"/>
              </a:rPr>
              <a:t>YEAR 1</a:t>
            </a:r>
            <a:endParaRPr lang="en-US" sz="900" noProof="1"/>
          </a:p>
        </p:txBody>
      </p:sp>
      <p:sp>
        <p:nvSpPr>
          <p:cNvPr id="27" name="y1-name"/>
          <p:cNvSpPr txBox="1"/>
          <p:nvPr/>
        </p:nvSpPr>
        <p:spPr>
          <a:xfrm>
            <a:off x="6477000" y="21844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1F2A20"/>
                </a:solidFill>
                <a:latin typeface="MiSans"/>
                <a:ea typeface="MiSans"/>
              </a:rPr>
              <a:t>Maize</a:t>
            </a:r>
            <a:endParaRPr lang="en-US" sz="1500" noProof="1"/>
          </a:p>
        </p:txBody>
      </p:sp>
      <p:sp>
        <p:nvSpPr>
          <p:cNvPr id="28" name="y1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7086600" y="2514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29" name="arr-y1"/>
          <p:cNvSpPr/>
          <p:nvPr/>
        </p:nvSpPr>
        <p:spPr>
          <a:xfrm>
            <a:off x="8001000" y="2235200"/>
            <a:ext cx="228600" cy="1524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3E7A4E"/>
          </a:solidFill>
          <a:ln>
            <a:noFill/>
          </a:ln>
        </p:spPr>
      </p:sp>
      <p:sp>
        <p:nvSpPr>
          <p:cNvPr id="30" name="y2"/>
          <p:cNvSpPr/>
          <p:nvPr/>
        </p:nvSpPr>
        <p:spPr>
          <a:xfrm>
            <a:off x="8331200" y="1778000"/>
            <a:ext cx="1422400" cy="1066800"/>
          </a:xfrm>
          <a:prstGeom prst="roundRect">
            <a:avLst>
              <a:gd name="adj" fmla="val 9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31" name="y2-tag"/>
          <p:cNvSpPr txBox="1"/>
          <p:nvPr/>
        </p:nvSpPr>
        <p:spPr>
          <a:xfrm>
            <a:off x="8331200" y="1930400"/>
            <a:ext cx="1422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 spc="200" kern="0">
                <a:solidFill>
                  <a:srgbClr val="3E7A4E"/>
                </a:solidFill>
                <a:latin typeface="MiSans"/>
                <a:ea typeface="MiSans"/>
              </a:rPr>
              <a:t>YEAR 2</a:t>
            </a:r>
            <a:endParaRPr lang="en-US" sz="900" noProof="1"/>
          </a:p>
        </p:txBody>
      </p:sp>
      <p:sp>
        <p:nvSpPr>
          <p:cNvPr id="32" name="y2-name"/>
          <p:cNvSpPr txBox="1"/>
          <p:nvPr/>
        </p:nvSpPr>
        <p:spPr>
          <a:xfrm>
            <a:off x="8331200" y="21844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1F2A20"/>
                </a:solidFill>
                <a:latin typeface="MiSans"/>
                <a:ea typeface="MiSans"/>
              </a:rPr>
              <a:t>Chickpea</a:t>
            </a:r>
            <a:endParaRPr lang="en-US" sz="1500" noProof="1"/>
          </a:p>
        </p:txBody>
      </p:sp>
      <p:sp>
        <p:nvSpPr>
          <p:cNvPr id="33" name="y2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8940800" y="2514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34" name="arr-y2"/>
          <p:cNvSpPr/>
          <p:nvPr/>
        </p:nvSpPr>
        <p:spPr>
          <a:xfrm>
            <a:off x="9855200" y="2235200"/>
            <a:ext cx="228600" cy="1524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3E7A4E"/>
          </a:solidFill>
          <a:ln>
            <a:noFill/>
          </a:ln>
        </p:spPr>
      </p:sp>
      <p:sp>
        <p:nvSpPr>
          <p:cNvPr id="35" name="y3"/>
          <p:cNvSpPr/>
          <p:nvPr/>
        </p:nvSpPr>
        <p:spPr>
          <a:xfrm>
            <a:off x="10185400" y="1778000"/>
            <a:ext cx="1422400" cy="1066800"/>
          </a:xfrm>
          <a:prstGeom prst="roundRect">
            <a:avLst>
              <a:gd name="adj" fmla="val 9000"/>
            </a:avLst>
          </a:prstGeom>
          <a:solidFill>
            <a:srgbClr val="FDFBF4"/>
          </a:solidFill>
          <a:ln w="12700">
            <a:solidFill>
              <a:srgbClr val="D8D2BE"/>
            </a:solidFill>
          </a:ln>
        </p:spPr>
      </p:sp>
      <p:sp>
        <p:nvSpPr>
          <p:cNvPr id="36" name="y3-tag"/>
          <p:cNvSpPr txBox="1"/>
          <p:nvPr/>
        </p:nvSpPr>
        <p:spPr>
          <a:xfrm>
            <a:off x="10185400" y="1930400"/>
            <a:ext cx="1422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 spc="200" kern="0">
                <a:solidFill>
                  <a:srgbClr val="3E7A4E"/>
                </a:solidFill>
                <a:latin typeface="MiSans"/>
                <a:ea typeface="MiSans"/>
              </a:rPr>
              <a:t>YEAR 3</a:t>
            </a:r>
            <a:endParaRPr lang="en-US" sz="900" noProof="1"/>
          </a:p>
        </p:txBody>
      </p:sp>
      <p:sp>
        <p:nvSpPr>
          <p:cNvPr id="37" name="y3-name"/>
          <p:cNvSpPr txBox="1"/>
          <p:nvPr/>
        </p:nvSpPr>
        <p:spPr>
          <a:xfrm>
            <a:off x="10185400" y="21844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1F2A20"/>
                </a:solidFill>
                <a:latin typeface="MiSans"/>
                <a:ea typeface="MiSans"/>
              </a:rPr>
              <a:t>Mustard</a:t>
            </a:r>
            <a:endParaRPr lang="en-US" sz="1500" noProof="1"/>
          </a:p>
        </p:txBody>
      </p:sp>
      <p:sp>
        <p:nvSpPr>
          <p:cNvPr id="38" name="y3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10795000" y="2514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39" name="rot-note-icon"/>
          <p:cNvSpPr/>
          <p:nvPr>
            <p:extLst>
              <p:ext uri="{F5677B7D-0D2A-4D9B-9A5C-6D8D7D0E5A5D}">
                <pptd:icon encoding="base64url">eyJpY29uTmFtZSI6ImZhczpyb3RhdGUifQ</pptd:icon>
              </p:ext>
            </p:extLst>
          </p:nvPr>
        </p:nvSpPr>
        <p:spPr>
          <a:xfrm>
            <a:off x="6477000" y="3276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80" y="192"/>
                </a:moveTo>
                <a:lnTo>
                  <a:pt x="488" y="192"/>
                </a:lnTo>
                <a:cubicBezTo>
                  <a:pt x="501" y="192"/>
                  <a:pt x="512" y="181"/>
                  <a:pt x="512" y="168"/>
                </a:cubicBezTo>
                <a:lnTo>
                  <a:pt x="512" y="24"/>
                </a:lnTo>
                <a:cubicBezTo>
                  <a:pt x="512" y="14"/>
                  <a:pt x="506" y="6"/>
                  <a:pt x="497" y="2"/>
                </a:cubicBezTo>
                <a:cubicBezTo>
                  <a:pt x="488" y="-2"/>
                  <a:pt x="478" y="0"/>
                  <a:pt x="471" y="7"/>
                </a:cubicBezTo>
                <a:lnTo>
                  <a:pt x="419" y="59"/>
                </a:lnTo>
                <a:cubicBezTo>
                  <a:pt x="375" y="22"/>
                  <a:pt x="318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ubicBezTo>
                  <a:pt x="79" y="136"/>
                  <a:pt x="159" y="64"/>
                  <a:pt x="256" y="64"/>
                </a:cubicBezTo>
                <a:cubicBezTo>
                  <a:pt x="300" y="64"/>
                  <a:pt x="341" y="79"/>
                  <a:pt x="374" y="104"/>
                </a:cubicBezTo>
                <a:lnTo>
                  <a:pt x="327" y="151"/>
                </a:lnTo>
                <a:cubicBezTo>
                  <a:pt x="320" y="158"/>
                  <a:pt x="318" y="168"/>
                  <a:pt x="322" y="177"/>
                </a:cubicBezTo>
                <a:cubicBezTo>
                  <a:pt x="326" y="186"/>
                  <a:pt x="334" y="192"/>
                  <a:pt x="344" y="192"/>
                </a:cubicBezTo>
                <a:lnTo>
                  <a:pt x="480" y="192"/>
                </a:lnTo>
                <a:close/>
                <a:moveTo>
                  <a:pt x="510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12" y="448"/>
                  <a:pt x="171" y="433"/>
                  <a:pt x="138" y="408"/>
                </a:cubicBezTo>
                <a:lnTo>
                  <a:pt x="185" y="361"/>
                </a:lnTo>
                <a:cubicBezTo>
                  <a:pt x="192" y="354"/>
                  <a:pt x="194" y="344"/>
                  <a:pt x="190" y="335"/>
                </a:cubicBezTo>
                <a:cubicBezTo>
                  <a:pt x="186" y="326"/>
                  <a:pt x="178" y="320"/>
                  <a:pt x="168" y="320"/>
                </a:cubicBezTo>
                <a:lnTo>
                  <a:pt x="24" y="320"/>
                </a:lnTo>
                <a:cubicBezTo>
                  <a:pt x="11" y="320"/>
                  <a:pt x="0" y="331"/>
                  <a:pt x="0" y="344"/>
                </a:cubicBezTo>
                <a:lnTo>
                  <a:pt x="0" y="488"/>
                </a:lnTo>
                <a:cubicBezTo>
                  <a:pt x="0" y="498"/>
                  <a:pt x="6" y="507"/>
                  <a:pt x="15" y="510"/>
                </a:cubicBezTo>
                <a:cubicBezTo>
                  <a:pt x="24" y="514"/>
                  <a:pt x="34" y="512"/>
                  <a:pt x="41" y="505"/>
                </a:cubicBezTo>
                <a:lnTo>
                  <a:pt x="93" y="453"/>
                </a:lnTo>
                <a:cubicBezTo>
                  <a:pt x="137" y="490"/>
                  <a:pt x="194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40" name="rot-note"/>
          <p:cNvSpPr txBox="1"/>
          <p:nvPr/>
        </p:nvSpPr>
        <p:spPr>
          <a:xfrm>
            <a:off x="6807200" y="3200400"/>
            <a:ext cx="477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100" noProof="1" b="1">
                <a:solidFill>
                  <a:srgbClr val="173B27"/>
                </a:solidFill>
                <a:latin typeface="MiSans"/>
                <a:ea typeface="MiSans"/>
              </a:rPr>
              <a:t>Rotation-aware: legumes restore soil nitrogen after cereal seasons.</a:t>
            </a:r>
            <a:endParaRPr lang="en-US" sz="1100" noProof="1"/>
          </a:p>
        </p:txBody>
      </p:sp>
      <p:sp>
        <p:nvSpPr>
          <p:cNvPr id="41" name="rot-body"/>
          <p:cNvSpPr txBox="1"/>
          <p:nvPr/>
        </p:nvSpPr>
        <p:spPr>
          <a:xfrm>
            <a:off x="6477000" y="3810000"/>
            <a:ext cx="5105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6725F"/>
                </a:solidFill>
                <a:latin typeface="MiSans"/>
                <a:ea typeface="MiSans"/>
              </a:rPr>
              <a:t>The system evaluates short-term economics while also weighing multi-year crop planning and rotation.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66725F"/>
                </a:solidFill>
                <a:latin typeface="MiSans"/>
                <a:ea typeface="MiSans"/>
              </a:rPr>
              <a:t>This year's profit should not become next year's problem — soil health and risk compound across seasons.</a:t>
            </a:r>
            <a:endParaRPr lang="en-US" sz="1200" noProof="1"/>
          </a:p>
        </p:txBody>
      </p:sp>
      <p:sp>
        <p:nvSpPr>
          <p:cNvPr id="42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11 / 14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3E7A4E"/>
                </a:solidFill>
                <a:latin typeface="MiSans"/>
                <a:ea typeface="MiSans"/>
              </a:rPr>
              <a:t>ARCHITECTURE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812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2A20"/>
                </a:solidFill>
                <a:latin typeface="MiSans"/>
                <a:ea typeface="MiSans"/>
              </a:rPr>
              <a:t>Technology Behind AgriSense</a:t>
            </a:r>
            <a:endParaRPr lang="en-US" sz="2600" noProof="1"/>
          </a:p>
        </p:txBody>
      </p:sp>
      <p:sp>
        <p:nvSpPr>
          <p:cNvPr id="4" name="l1"/>
          <p:cNvSpPr/>
          <p:nvPr/>
        </p:nvSpPr>
        <p:spPr>
          <a:xfrm>
            <a:off x="609600" y="1371600"/>
            <a:ext cx="6502400" cy="812800"/>
          </a:xfrm>
          <a:prstGeom prst="roundRect">
            <a:avLst>
              <a:gd name="adj" fmla="val 8000"/>
            </a:avLst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5" name="l1-label"/>
          <p:cNvSpPr txBox="1"/>
          <p:nvPr/>
        </p:nvSpPr>
        <p:spPr>
          <a:xfrm>
            <a:off x="812800" y="14986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3E7A4E"/>
                </a:solidFill>
                <a:latin typeface="MiSans"/>
                <a:ea typeface="MiSans"/>
              </a:rPr>
              <a:t>FRONTEND</a:t>
            </a:r>
            <a:endParaRPr lang="en-US" sz="900" noProof="1"/>
          </a:p>
        </p:txBody>
      </p:sp>
      <p:sp>
        <p:nvSpPr>
          <p:cNvPr id="6" name="l1-main"/>
          <p:cNvSpPr txBox="1"/>
          <p:nvPr/>
        </p:nvSpPr>
        <p:spPr>
          <a:xfrm>
            <a:off x="812800" y="170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2A20"/>
                </a:solidFill>
                <a:latin typeface="MiSans"/>
                <a:ea typeface="MiSans"/>
              </a:rPr>
              <a:t>Android application</a:t>
            </a:r>
            <a:endParaRPr lang="en-US" sz="1400" noProof="1"/>
          </a:p>
        </p:txBody>
      </p:sp>
      <p:sp>
        <p:nvSpPr>
          <p:cNvPr id="7" name="l1-sub"/>
          <p:cNvSpPr txBox="1"/>
          <p:nvPr/>
        </p:nvSpPr>
        <p:spPr>
          <a:xfrm>
            <a:off x="812800" y="19304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Kotlin · Jetpack Compose</a:t>
            </a:r>
            <a:endParaRPr lang="en-US" sz="1000" noProof="1"/>
          </a:p>
        </p:txBody>
      </p:sp>
      <p:sp>
        <p:nvSpPr>
          <p:cNvPr id="8" name="l1-icon"/>
          <p:cNvSpPr/>
          <p:nvPr>
            <p:extLst>
              <p:ext uri="{F5677B7D-0D2A-4D9B-9A5C-6D8D7D0E5A5D}">
                <pptd:icon encoding="base64url">eyJpY29uTmFtZSI6ImZhczptb2JpbGUtc2NyZWVuIn0</pptd:icon>
              </p:ext>
            </p:extLst>
          </p:nvPr>
        </p:nvSpPr>
        <p:spPr>
          <a:xfrm>
            <a:off x="6350000" y="1625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" y="64"/>
                </a:moveTo>
                <a:cubicBezTo>
                  <a:pt x="16" y="29"/>
                  <a:pt x="45" y="0"/>
                  <a:pt x="80" y="0"/>
                </a:cubicBezTo>
                <a:lnTo>
                  <a:pt x="304" y="0"/>
                </a:lnTo>
                <a:cubicBezTo>
                  <a:pt x="339" y="0"/>
                  <a:pt x="368" y="29"/>
                  <a:pt x="368" y="64"/>
                </a:cubicBezTo>
                <a:lnTo>
                  <a:pt x="368" y="448"/>
                </a:lnTo>
                <a:cubicBezTo>
                  <a:pt x="368" y="483"/>
                  <a:pt x="339" y="512"/>
                  <a:pt x="304" y="512"/>
                </a:cubicBezTo>
                <a:lnTo>
                  <a:pt x="80" y="512"/>
                </a:lnTo>
                <a:cubicBezTo>
                  <a:pt x="45" y="512"/>
                  <a:pt x="16" y="483"/>
                  <a:pt x="16" y="448"/>
                </a:cubicBezTo>
                <a:lnTo>
                  <a:pt x="16" y="64"/>
                </a:lnTo>
                <a:close/>
                <a:moveTo>
                  <a:pt x="128" y="440"/>
                </a:moveTo>
                <a:cubicBezTo>
                  <a:pt x="128" y="453"/>
                  <a:pt x="139" y="464"/>
                  <a:pt x="152" y="464"/>
                </a:cubicBezTo>
                <a:lnTo>
                  <a:pt x="232" y="464"/>
                </a:lnTo>
                <a:cubicBezTo>
                  <a:pt x="245" y="464"/>
                  <a:pt x="256" y="453"/>
                  <a:pt x="256" y="440"/>
                </a:cubicBezTo>
                <a:cubicBezTo>
                  <a:pt x="256" y="427"/>
                  <a:pt x="245" y="416"/>
                  <a:pt x="232" y="416"/>
                </a:cubicBezTo>
                <a:lnTo>
                  <a:pt x="152" y="416"/>
                </a:lnTo>
                <a:cubicBezTo>
                  <a:pt x="139" y="416"/>
                  <a:pt x="128" y="427"/>
                  <a:pt x="128" y="440"/>
                </a:cubicBezTo>
                <a:close/>
                <a:moveTo>
                  <a:pt x="304" y="64"/>
                </a:moveTo>
                <a:lnTo>
                  <a:pt x="80" y="64"/>
                </a:lnTo>
                <a:lnTo>
                  <a:pt x="80" y="368"/>
                </a:lnTo>
                <a:lnTo>
                  <a:pt x="304" y="368"/>
                </a:lnTo>
                <a:lnTo>
                  <a:pt x="304" y="64"/>
                </a:lnTo>
                <a:close/>
              </a:path>
            </a:pathLst>
          </a:custGeom>
          <a:solidFill>
            <a:srgbClr val="3E7A4E"/>
          </a:solidFill>
          <a:ln>
            <a:noFill/>
          </a:ln>
        </p:spPr>
      </p:sp>
      <p:sp>
        <p:nvSpPr>
          <p:cNvPr id="9" name="arr-l1"/>
          <p:cNvSpPr/>
          <p:nvPr>
            <p:extLst>
              <p:ext uri="{F5677B7D-0D2A-4D9B-9A5C-6D8D7D0E5A5D}">
                <pptd:line encoding="base64url">eyJ2aWV3Qm94IjpbMTIsMThdLCJwb2ludHMiOiI2LDAgNiwxOCJ9</pptd:line>
              </p:ext>
            </p:extLst>
          </p:nvPr>
        </p:nvSpPr>
        <p:spPr>
          <a:xfrm>
            <a:off x="3784600" y="22098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2" h="18">
                <a:moveTo>
                  <a:pt x="6" y="0"/>
                </a:moveTo>
                <a:lnTo>
                  <a:pt x="6" y="18"/>
                </a:lnTo>
              </a:path>
            </a:pathLst>
          </a:custGeom>
          <a:noFill/>
          <a:ln w="19050" cap="rnd">
            <a:solidFill>
              <a:srgbClr val="3E7A4E"/>
            </a:solidFill>
            <a:round/>
            <a:tailEnd type="arrow"/>
          </a:ln>
        </p:spPr>
      </p:sp>
      <p:sp>
        <p:nvSpPr>
          <p:cNvPr id="10" name="l2"/>
          <p:cNvSpPr/>
          <p:nvPr/>
        </p:nvSpPr>
        <p:spPr>
          <a:xfrm>
            <a:off x="609600" y="2463800"/>
            <a:ext cx="6502400" cy="1473200"/>
          </a:xfrm>
          <a:prstGeom prst="roundRect">
            <a:avLst>
              <a:gd name="adj" fmla="val 5000"/>
            </a:avLst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11" name="l2-label"/>
          <p:cNvSpPr txBox="1"/>
          <p:nvPr/>
        </p:nvSpPr>
        <p:spPr>
          <a:xfrm>
            <a:off x="812800" y="25908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3E7A4E"/>
                </a:solidFill>
                <a:latin typeface="MiSans"/>
                <a:ea typeface="MiSans"/>
              </a:rPr>
              <a:t>APPLICATION LAYER</a:t>
            </a:r>
            <a:endParaRPr lang="en-US" sz="900" noProof="1"/>
          </a:p>
        </p:txBody>
      </p:sp>
      <p:sp>
        <p:nvSpPr>
          <p:cNvPr id="12" name="l2-c1"/>
          <p:cNvSpPr/>
          <p:nvPr/>
        </p:nvSpPr>
        <p:spPr>
          <a:xfrm>
            <a:off x="812800" y="2844800"/>
            <a:ext cx="2997200" cy="406400"/>
          </a:xfrm>
          <a:prstGeom prst="roundRect">
            <a:avLst>
              <a:gd name="adj" fmla="val 16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13" name="l2-c1-icon"/>
          <p:cNvSpPr/>
          <p:nvPr>
            <p:extLst>
              <p:ext uri="{F5677B7D-0D2A-4D9B-9A5C-6D8D7D0E5A5D}">
                <pptd:icon encoding="base64url">eyJpY29uTmFtZSI6ImZhczptb2JpbGUtc2NyZWVuIn0</pptd:icon>
              </p:ext>
            </p:extLst>
          </p:nvPr>
        </p:nvSpPr>
        <p:spPr>
          <a:xfrm>
            <a:off x="990600" y="2959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" y="64"/>
                </a:moveTo>
                <a:cubicBezTo>
                  <a:pt x="16" y="29"/>
                  <a:pt x="45" y="0"/>
                  <a:pt x="80" y="0"/>
                </a:cubicBezTo>
                <a:lnTo>
                  <a:pt x="304" y="0"/>
                </a:lnTo>
                <a:cubicBezTo>
                  <a:pt x="339" y="0"/>
                  <a:pt x="368" y="29"/>
                  <a:pt x="368" y="64"/>
                </a:cubicBezTo>
                <a:lnTo>
                  <a:pt x="368" y="448"/>
                </a:lnTo>
                <a:cubicBezTo>
                  <a:pt x="368" y="483"/>
                  <a:pt x="339" y="512"/>
                  <a:pt x="304" y="512"/>
                </a:cubicBezTo>
                <a:lnTo>
                  <a:pt x="80" y="512"/>
                </a:lnTo>
                <a:cubicBezTo>
                  <a:pt x="45" y="512"/>
                  <a:pt x="16" y="483"/>
                  <a:pt x="16" y="448"/>
                </a:cubicBezTo>
                <a:lnTo>
                  <a:pt x="16" y="64"/>
                </a:lnTo>
                <a:close/>
                <a:moveTo>
                  <a:pt x="128" y="440"/>
                </a:moveTo>
                <a:cubicBezTo>
                  <a:pt x="128" y="453"/>
                  <a:pt x="139" y="464"/>
                  <a:pt x="152" y="464"/>
                </a:cubicBezTo>
                <a:lnTo>
                  <a:pt x="232" y="464"/>
                </a:lnTo>
                <a:cubicBezTo>
                  <a:pt x="245" y="464"/>
                  <a:pt x="256" y="453"/>
                  <a:pt x="256" y="440"/>
                </a:cubicBezTo>
                <a:cubicBezTo>
                  <a:pt x="256" y="427"/>
                  <a:pt x="245" y="416"/>
                  <a:pt x="232" y="416"/>
                </a:cubicBezTo>
                <a:lnTo>
                  <a:pt x="152" y="416"/>
                </a:lnTo>
                <a:cubicBezTo>
                  <a:pt x="139" y="416"/>
                  <a:pt x="128" y="427"/>
                  <a:pt x="128" y="440"/>
                </a:cubicBezTo>
                <a:close/>
                <a:moveTo>
                  <a:pt x="304" y="64"/>
                </a:moveTo>
                <a:lnTo>
                  <a:pt x="80" y="64"/>
                </a:lnTo>
                <a:lnTo>
                  <a:pt x="80" y="368"/>
                </a:lnTo>
                <a:lnTo>
                  <a:pt x="304" y="368"/>
                </a:lnTo>
                <a:lnTo>
                  <a:pt x="304" y="64"/>
                </a:lnTo>
                <a:close/>
              </a:path>
            </a:pathLst>
          </a:custGeom>
          <a:solidFill>
            <a:srgbClr val="173B27"/>
          </a:solidFill>
          <a:ln>
            <a:noFill/>
          </a:ln>
        </p:spPr>
      </p:sp>
      <p:sp>
        <p:nvSpPr>
          <p:cNvPr id="14" name="l2-c1-text"/>
          <p:cNvSpPr txBox="1"/>
          <p:nvPr/>
        </p:nvSpPr>
        <p:spPr>
          <a:xfrm>
            <a:off x="1270000" y="2844800"/>
            <a:ext cx="2413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73B27"/>
                </a:solidFill>
                <a:latin typeface="MiSans"/>
                <a:ea typeface="MiSans"/>
              </a:rPr>
              <a:t>UI</a:t>
            </a:r>
            <a:endParaRPr lang="en-US" sz="1100" noProof="1"/>
          </a:p>
        </p:txBody>
      </p:sp>
      <p:sp>
        <p:nvSpPr>
          <p:cNvPr id="15" name="l2-c2"/>
          <p:cNvSpPr/>
          <p:nvPr/>
        </p:nvSpPr>
        <p:spPr>
          <a:xfrm>
            <a:off x="3962400" y="2844800"/>
            <a:ext cx="2997200" cy="406400"/>
          </a:xfrm>
          <a:prstGeom prst="roundRect">
            <a:avLst>
              <a:gd name="adj" fmla="val 16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16" name="l2-c2-icon"/>
          <p:cNvSpPr/>
          <p:nvPr>
            <p:extLst>
              <p:ext uri="{F5677B7D-0D2A-4D9B-9A5C-6D8D7D0E5A5D}">
                <pptd:icon encoding="base64url">eyJpY29uTmFtZSI6ImZhczpkaWFncmFtLXByb2plY3QifQ</pptd:icon>
              </p:ext>
            </p:extLst>
          </p:nvPr>
        </p:nvSpPr>
        <p:spPr>
          <a:xfrm>
            <a:off x="4140200" y="2959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80"/>
                </a:moveTo>
                <a:cubicBezTo>
                  <a:pt x="0" y="54"/>
                  <a:pt x="22" y="32"/>
                  <a:pt x="48" y="32"/>
                </a:cubicBezTo>
                <a:lnTo>
                  <a:pt x="144" y="32"/>
                </a:lnTo>
                <a:cubicBezTo>
                  <a:pt x="171" y="32"/>
                  <a:pt x="192" y="54"/>
                  <a:pt x="192" y="80"/>
                </a:cubicBezTo>
                <a:lnTo>
                  <a:pt x="192" y="96"/>
                </a:lnTo>
                <a:lnTo>
                  <a:pt x="320" y="96"/>
                </a:lnTo>
                <a:lnTo>
                  <a:pt x="320" y="80"/>
                </a:lnTo>
                <a:cubicBezTo>
                  <a:pt x="320" y="54"/>
                  <a:pt x="342" y="32"/>
                  <a:pt x="368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176"/>
                </a:lnTo>
                <a:cubicBezTo>
                  <a:pt x="512" y="203"/>
                  <a:pt x="491" y="224"/>
                  <a:pt x="464" y="224"/>
                </a:cubicBezTo>
                <a:lnTo>
                  <a:pt x="368" y="224"/>
                </a:lnTo>
                <a:cubicBezTo>
                  <a:pt x="342" y="224"/>
                  <a:pt x="320" y="203"/>
                  <a:pt x="320" y="176"/>
                </a:cubicBezTo>
                <a:lnTo>
                  <a:pt x="320" y="160"/>
                </a:lnTo>
                <a:lnTo>
                  <a:pt x="192" y="160"/>
                </a:lnTo>
                <a:lnTo>
                  <a:pt x="192" y="176"/>
                </a:lnTo>
                <a:cubicBezTo>
                  <a:pt x="192" y="183"/>
                  <a:pt x="190" y="190"/>
                  <a:pt x="187" y="197"/>
                </a:cubicBezTo>
                <a:lnTo>
                  <a:pt x="256" y="288"/>
                </a:lnTo>
                <a:lnTo>
                  <a:pt x="336" y="288"/>
                </a:lnTo>
                <a:cubicBezTo>
                  <a:pt x="363" y="288"/>
                  <a:pt x="384" y="310"/>
                  <a:pt x="384" y="336"/>
                </a:cubicBezTo>
                <a:lnTo>
                  <a:pt x="384" y="432"/>
                </a:lnTo>
                <a:cubicBezTo>
                  <a:pt x="384" y="459"/>
                  <a:pt x="363" y="480"/>
                  <a:pt x="336" y="480"/>
                </a:cubicBezTo>
                <a:lnTo>
                  <a:pt x="240" y="480"/>
                </a:lnTo>
                <a:cubicBezTo>
                  <a:pt x="214" y="480"/>
                  <a:pt x="192" y="459"/>
                  <a:pt x="192" y="432"/>
                </a:cubicBezTo>
                <a:lnTo>
                  <a:pt x="192" y="336"/>
                </a:lnTo>
                <a:cubicBezTo>
                  <a:pt x="192" y="329"/>
                  <a:pt x="194" y="322"/>
                  <a:pt x="197" y="316"/>
                </a:cubicBezTo>
                <a:lnTo>
                  <a:pt x="128" y="224"/>
                </a:lnTo>
                <a:lnTo>
                  <a:pt x="48" y="224"/>
                </a:lnTo>
                <a:cubicBezTo>
                  <a:pt x="22" y="224"/>
                  <a:pt x="0" y="203"/>
                  <a:pt x="0" y="176"/>
                </a:cubicBezTo>
                <a:lnTo>
                  <a:pt x="0" y="80"/>
                </a:lnTo>
                <a:close/>
              </a:path>
            </a:pathLst>
          </a:custGeom>
          <a:solidFill>
            <a:srgbClr val="173B27"/>
          </a:solidFill>
          <a:ln>
            <a:noFill/>
          </a:ln>
        </p:spPr>
      </p:sp>
      <p:sp>
        <p:nvSpPr>
          <p:cNvPr id="17" name="l2-c2-text"/>
          <p:cNvSpPr txBox="1"/>
          <p:nvPr/>
        </p:nvSpPr>
        <p:spPr>
          <a:xfrm>
            <a:off x="4419600" y="2844800"/>
            <a:ext cx="2413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73B27"/>
                </a:solidFill>
                <a:latin typeface="MiSans"/>
                <a:ea typeface="MiSans"/>
              </a:rPr>
              <a:t>ViewModel &amp; state</a:t>
            </a:r>
            <a:endParaRPr lang="en-US" sz="1100" noProof="1"/>
          </a:p>
        </p:txBody>
      </p:sp>
      <p:sp>
        <p:nvSpPr>
          <p:cNvPr id="18" name="l2-c3"/>
          <p:cNvSpPr/>
          <p:nvPr/>
        </p:nvSpPr>
        <p:spPr>
          <a:xfrm>
            <a:off x="812800" y="3352800"/>
            <a:ext cx="2997200" cy="406400"/>
          </a:xfrm>
          <a:prstGeom prst="roundRect">
            <a:avLst>
              <a:gd name="adj" fmla="val 16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19" name="l2-c3-icon"/>
          <p:cNvSpPr/>
          <p:nvPr>
            <p:extLst>
              <p:ext uri="{F5677B7D-0D2A-4D9B-9A5C-6D8D7D0E5A5D}">
                <pptd:icon encoding="base64url">eyJpY29uTmFtZSI6ImZhczptaWNyb2NoaXAifQ</pptd:icon>
              </p:ext>
            </p:extLst>
          </p:nvPr>
        </p:nvSpPr>
        <p:spPr>
          <a:xfrm>
            <a:off x="990600" y="3467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173B27"/>
          </a:solidFill>
          <a:ln>
            <a:noFill/>
          </a:ln>
        </p:spPr>
      </p:sp>
      <p:sp>
        <p:nvSpPr>
          <p:cNvPr id="20" name="l2-c3-text"/>
          <p:cNvSpPr txBox="1"/>
          <p:nvPr/>
        </p:nvSpPr>
        <p:spPr>
          <a:xfrm>
            <a:off x="1270000" y="3352800"/>
            <a:ext cx="2413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73B27"/>
                </a:solidFill>
                <a:latin typeface="MiSans"/>
                <a:ea typeface="MiSans"/>
              </a:rPr>
              <a:t>Recommendation engine</a:t>
            </a:r>
            <a:endParaRPr lang="en-US" sz="1100" noProof="1"/>
          </a:p>
        </p:txBody>
      </p:sp>
      <p:sp>
        <p:nvSpPr>
          <p:cNvPr id="21" name="l2-c4"/>
          <p:cNvSpPr/>
          <p:nvPr/>
        </p:nvSpPr>
        <p:spPr>
          <a:xfrm>
            <a:off x="3962400" y="3352800"/>
            <a:ext cx="2997200" cy="406400"/>
          </a:xfrm>
          <a:prstGeom prst="roundRect">
            <a:avLst>
              <a:gd name="adj" fmla="val 16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22" name="l2-c4-icon"/>
          <p:cNvSpPr/>
          <p:nvPr>
            <p:extLst>
              <p:ext uri="{F5677B7D-0D2A-4D9B-9A5C-6D8D7D0E5A5D}">
                <pptd:icon encoding="base64url">eyJpY29uTmFtZSI6ImZhczpzbGlkZXJzIn0</pptd:icon>
              </p:ext>
            </p:extLst>
          </p:nvPr>
        </p:nvSpPr>
        <p:spPr>
          <a:xfrm>
            <a:off x="4140200" y="3467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64"/>
                </a:moveTo>
                <a:cubicBezTo>
                  <a:pt x="14" y="64"/>
                  <a:pt x="0" y="78"/>
                  <a:pt x="0" y="96"/>
                </a:cubicBezTo>
                <a:cubicBezTo>
                  <a:pt x="0" y="114"/>
                  <a:pt x="14" y="128"/>
                  <a:pt x="32" y="128"/>
                </a:cubicBezTo>
                <a:lnTo>
                  <a:pt x="119" y="128"/>
                </a:lnTo>
                <a:cubicBezTo>
                  <a:pt x="131" y="156"/>
                  <a:pt x="159" y="176"/>
                  <a:pt x="192" y="176"/>
                </a:cubicBezTo>
                <a:cubicBezTo>
                  <a:pt x="225" y="176"/>
                  <a:pt x="253" y="156"/>
                  <a:pt x="265" y="128"/>
                </a:cubicBezTo>
                <a:lnTo>
                  <a:pt x="480" y="128"/>
                </a:lnTo>
                <a:cubicBezTo>
                  <a:pt x="498" y="128"/>
                  <a:pt x="512" y="114"/>
                  <a:pt x="512" y="96"/>
                </a:cubicBezTo>
                <a:cubicBezTo>
                  <a:pt x="512" y="78"/>
                  <a:pt x="498" y="64"/>
                  <a:pt x="480" y="64"/>
                </a:cubicBezTo>
                <a:lnTo>
                  <a:pt x="265" y="64"/>
                </a:lnTo>
                <a:cubicBezTo>
                  <a:pt x="253" y="36"/>
                  <a:pt x="225" y="16"/>
                  <a:pt x="192" y="16"/>
                </a:cubicBezTo>
                <a:cubicBezTo>
                  <a:pt x="159" y="16"/>
                  <a:pt x="131" y="36"/>
                  <a:pt x="119" y="64"/>
                </a:cubicBezTo>
                <a:lnTo>
                  <a:pt x="32" y="64"/>
                </a:lnTo>
                <a:close/>
              </a:path>
              <a:path w="512" h="512">
                <a:moveTo>
                  <a:pt x="32" y="224"/>
                </a:move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279" y="288"/>
                </a:lnTo>
                <a:cubicBezTo>
                  <a:pt x="291" y="316"/>
                  <a:pt x="319" y="336"/>
                  <a:pt x="352" y="336"/>
                </a:cubicBezTo>
                <a:cubicBezTo>
                  <a:pt x="385" y="336"/>
                  <a:pt x="413" y="316"/>
                  <a:pt x="425" y="288"/>
                </a:cubicBezTo>
                <a:lnTo>
                  <a:pt x="480" y="288"/>
                </a:lnTo>
                <a:cubicBezTo>
                  <a:pt x="498" y="288"/>
                  <a:pt x="512" y="274"/>
                  <a:pt x="512" y="256"/>
                </a:cubicBezTo>
                <a:cubicBezTo>
                  <a:pt x="512" y="238"/>
                  <a:pt x="498" y="224"/>
                  <a:pt x="480" y="224"/>
                </a:cubicBezTo>
                <a:lnTo>
                  <a:pt x="425" y="224"/>
                </a:lnTo>
                <a:cubicBezTo>
                  <a:pt x="413" y="196"/>
                  <a:pt x="385" y="176"/>
                  <a:pt x="352" y="176"/>
                </a:cubicBezTo>
                <a:cubicBezTo>
                  <a:pt x="319" y="176"/>
                  <a:pt x="291" y="196"/>
                  <a:pt x="279" y="224"/>
                </a:cubicBezTo>
                <a:lnTo>
                  <a:pt x="32" y="224"/>
                </a:lnTo>
                <a:close/>
              </a:path>
              <a:path w="512" h="512">
                <a:moveTo>
                  <a:pt x="32" y="384"/>
                </a:moveTo>
                <a:cubicBezTo>
                  <a:pt x="14" y="384"/>
                  <a:pt x="0" y="398"/>
                  <a:pt x="0" y="416"/>
                </a:cubicBezTo>
                <a:cubicBezTo>
                  <a:pt x="0" y="434"/>
                  <a:pt x="14" y="448"/>
                  <a:pt x="32" y="448"/>
                </a:cubicBezTo>
                <a:lnTo>
                  <a:pt x="87" y="448"/>
                </a:lnTo>
                <a:cubicBezTo>
                  <a:pt x="99" y="476"/>
                  <a:pt x="127" y="496"/>
                  <a:pt x="160" y="496"/>
                </a:cubicBezTo>
                <a:cubicBezTo>
                  <a:pt x="193" y="496"/>
                  <a:pt x="221" y="476"/>
                  <a:pt x="233" y="448"/>
                </a:cubicBezTo>
                <a:lnTo>
                  <a:pt x="480" y="448"/>
                </a:lnTo>
                <a:cubicBezTo>
                  <a:pt x="498" y="448"/>
                  <a:pt x="512" y="434"/>
                  <a:pt x="512" y="416"/>
                </a:cubicBezTo>
                <a:cubicBezTo>
                  <a:pt x="512" y="398"/>
                  <a:pt x="498" y="384"/>
                  <a:pt x="480" y="384"/>
                </a:cubicBezTo>
                <a:lnTo>
                  <a:pt x="233" y="384"/>
                </a:lnTo>
                <a:cubicBezTo>
                  <a:pt x="221" y="356"/>
                  <a:pt x="193" y="336"/>
                  <a:pt x="160" y="336"/>
                </a:cubicBezTo>
                <a:cubicBezTo>
                  <a:pt x="127" y="336"/>
                  <a:pt x="99" y="356"/>
                  <a:pt x="87" y="384"/>
                </a:cubicBezTo>
                <a:lnTo>
                  <a:pt x="32" y="384"/>
                </a:lnTo>
                <a:close/>
              </a:path>
            </a:pathLst>
          </a:custGeom>
          <a:solidFill>
            <a:srgbClr val="173B27"/>
          </a:solidFill>
          <a:ln>
            <a:noFill/>
          </a:ln>
        </p:spPr>
      </p:sp>
      <p:sp>
        <p:nvSpPr>
          <p:cNvPr id="23" name="l2-c4-text"/>
          <p:cNvSpPr txBox="1"/>
          <p:nvPr/>
        </p:nvSpPr>
        <p:spPr>
          <a:xfrm>
            <a:off x="4419600" y="3352800"/>
            <a:ext cx="2413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73B27"/>
                </a:solidFill>
                <a:latin typeface="MiSans"/>
                <a:ea typeface="MiSans"/>
              </a:rPr>
              <a:t>Scenario engine</a:t>
            </a:r>
            <a:endParaRPr lang="en-US" sz="1100" noProof="1"/>
          </a:p>
        </p:txBody>
      </p:sp>
      <p:sp>
        <p:nvSpPr>
          <p:cNvPr id="24" name="arr-l2"/>
          <p:cNvSpPr/>
          <p:nvPr>
            <p:extLst>
              <p:ext uri="{F5677B7D-0D2A-4D9B-9A5C-6D8D7D0E5A5D}">
                <pptd:line encoding="base64url">eyJ2aWV3Qm94IjpbMTIsMThdLCJwb2ludHMiOiI2LDAgNiwxOCJ9</pptd:line>
              </p:ext>
            </p:extLst>
          </p:nvPr>
        </p:nvSpPr>
        <p:spPr>
          <a:xfrm>
            <a:off x="3784600" y="39624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2" h="18">
                <a:moveTo>
                  <a:pt x="6" y="0"/>
                </a:moveTo>
                <a:lnTo>
                  <a:pt x="6" y="18"/>
                </a:lnTo>
              </a:path>
            </a:pathLst>
          </a:custGeom>
          <a:noFill/>
          <a:ln w="19050" cap="rnd">
            <a:solidFill>
              <a:srgbClr val="3E7A4E"/>
            </a:solidFill>
            <a:round/>
            <a:tailEnd type="arrow"/>
          </a:ln>
        </p:spPr>
      </p:sp>
      <p:sp>
        <p:nvSpPr>
          <p:cNvPr id="25" name="l3"/>
          <p:cNvSpPr/>
          <p:nvPr/>
        </p:nvSpPr>
        <p:spPr>
          <a:xfrm>
            <a:off x="609600" y="4216400"/>
            <a:ext cx="6502400" cy="1117600"/>
          </a:xfrm>
          <a:prstGeom prst="roundRect">
            <a:avLst>
              <a:gd name="adj" fmla="val 6000"/>
            </a:avLst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26" name="l3-label"/>
          <p:cNvSpPr txBox="1"/>
          <p:nvPr/>
        </p:nvSpPr>
        <p:spPr>
          <a:xfrm>
            <a:off x="812800" y="43434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3E7A4E"/>
                </a:solidFill>
                <a:latin typeface="MiSans"/>
                <a:ea typeface="MiSans"/>
              </a:rPr>
              <a:t>DATA LAYER</a:t>
            </a:r>
            <a:endParaRPr lang="en-US" sz="900" noProof="1"/>
          </a:p>
        </p:txBody>
      </p:sp>
      <p:sp>
        <p:nvSpPr>
          <p:cNvPr id="27" name="l3-c1"/>
          <p:cNvSpPr/>
          <p:nvPr/>
        </p:nvSpPr>
        <p:spPr>
          <a:xfrm>
            <a:off x="812800" y="4597400"/>
            <a:ext cx="1930400" cy="457200"/>
          </a:xfrm>
          <a:prstGeom prst="roundRect">
            <a:avLst>
              <a:gd name="adj" fmla="val 14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28" name="l3-c1-icon"/>
          <p:cNvSpPr/>
          <p:nvPr>
            <p:extLst>
              <p:ext uri="{F5677B7D-0D2A-4D9B-9A5C-6D8D7D0E5A5D}">
                <pptd:icon encoding="base64url">eyJpY29uTmFtZSI6ImZhczpkYXRhYmFzZSJ9</pptd:icon>
              </p:ext>
            </p:extLst>
          </p:nvPr>
        </p:nvSpPr>
        <p:spPr>
          <a:xfrm>
            <a:off x="990600" y="4737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173B27"/>
          </a:solidFill>
          <a:ln>
            <a:noFill/>
          </a:ln>
        </p:spPr>
      </p:sp>
      <p:sp>
        <p:nvSpPr>
          <p:cNvPr id="29" name="l3-c1-text"/>
          <p:cNvSpPr txBox="1"/>
          <p:nvPr/>
        </p:nvSpPr>
        <p:spPr>
          <a:xfrm>
            <a:off x="1270000" y="45974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73B27"/>
                </a:solidFill>
                <a:latin typeface="MiSans"/>
                <a:ea typeface="MiSans"/>
              </a:rPr>
              <a:t>Local demo data</a:t>
            </a:r>
            <a:endParaRPr lang="en-US" sz="1100" noProof="1"/>
          </a:p>
        </p:txBody>
      </p:sp>
      <p:sp>
        <p:nvSpPr>
          <p:cNvPr id="30" name="l3-c2"/>
          <p:cNvSpPr/>
          <p:nvPr/>
        </p:nvSpPr>
        <p:spPr>
          <a:xfrm>
            <a:off x="2895600" y="4597400"/>
            <a:ext cx="1930400" cy="457200"/>
          </a:xfrm>
          <a:prstGeom prst="roundRect">
            <a:avLst>
              <a:gd name="adj" fmla="val 14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31" name="l3-c2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3073400" y="4737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173B27"/>
          </a:solidFill>
          <a:ln>
            <a:noFill/>
          </a:ln>
        </p:spPr>
      </p:sp>
      <p:sp>
        <p:nvSpPr>
          <p:cNvPr id="32" name="l3-c2-text"/>
          <p:cNvSpPr txBox="1"/>
          <p:nvPr/>
        </p:nvSpPr>
        <p:spPr>
          <a:xfrm>
            <a:off x="3352800" y="45974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73B27"/>
                </a:solidFill>
                <a:latin typeface="MiSans"/>
                <a:ea typeface="MiSans"/>
              </a:rPr>
              <a:t>Crop database</a:t>
            </a:r>
            <a:endParaRPr lang="en-US" sz="1100" noProof="1"/>
          </a:p>
        </p:txBody>
      </p:sp>
      <p:sp>
        <p:nvSpPr>
          <p:cNvPr id="33" name="l3-c3"/>
          <p:cNvSpPr/>
          <p:nvPr/>
        </p:nvSpPr>
        <p:spPr>
          <a:xfrm>
            <a:off x="4978400" y="4597400"/>
            <a:ext cx="1930400" cy="457200"/>
          </a:xfrm>
          <a:prstGeom prst="roundRect">
            <a:avLst>
              <a:gd name="adj" fmla="val 14000"/>
            </a:avLst>
          </a:prstGeom>
          <a:solidFill>
            <a:srgbClr val="DCE8D4"/>
          </a:solidFill>
          <a:ln>
            <a:noFill/>
          </a:ln>
        </p:spPr>
      </p:sp>
      <p:sp>
        <p:nvSpPr>
          <p:cNvPr id="34" name="l3-c3-icon"/>
          <p:cNvSpPr/>
          <p:nvPr>
            <p:extLst>
              <p:ext uri="{F5677B7D-0D2A-4D9B-9A5C-6D8D7D0E5A5D}">
                <pptd:icon encoding="base64url">eyJpY29uTmFtZSI6ImZhczp0cmFjdG9yIn0</pptd:icon>
              </p:ext>
            </p:extLst>
          </p:nvPr>
        </p:nvSpPr>
        <p:spPr>
          <a:xfrm>
            <a:off x="5156200" y="4737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96" y="223"/>
                </a:moveTo>
                <a:lnTo>
                  <a:pt x="96" y="64"/>
                </a:lnTo>
                <a:cubicBezTo>
                  <a:pt x="96" y="46"/>
                  <a:pt x="110" y="32"/>
                  <a:pt x="128" y="32"/>
                </a:cubicBezTo>
                <a:lnTo>
                  <a:pt x="236" y="32"/>
                </a:lnTo>
                <a:cubicBezTo>
                  <a:pt x="258" y="32"/>
                  <a:pt x="279" y="44"/>
                  <a:pt x="291" y="63"/>
                </a:cubicBezTo>
                <a:lnTo>
                  <a:pt x="368" y="192"/>
                </a:lnTo>
                <a:lnTo>
                  <a:pt x="432" y="192"/>
                </a:lnTo>
                <a:lnTo>
                  <a:pt x="432" y="120"/>
                </a:lnTo>
                <a:cubicBezTo>
                  <a:pt x="432" y="107"/>
                  <a:pt x="443" y="96"/>
                  <a:pt x="456" y="96"/>
                </a:cubicBezTo>
                <a:cubicBezTo>
                  <a:pt x="469" y="96"/>
                  <a:pt x="480" y="107"/>
                  <a:pt x="480" y="120"/>
                </a:cubicBezTo>
                <a:lnTo>
                  <a:pt x="480" y="192"/>
                </a:lnTo>
                <a:lnTo>
                  <a:pt x="528" y="192"/>
                </a:lnTo>
                <a:cubicBezTo>
                  <a:pt x="555" y="192"/>
                  <a:pt x="576" y="214"/>
                  <a:pt x="576" y="240"/>
                </a:cubicBezTo>
                <a:lnTo>
                  <a:pt x="576" y="282"/>
                </a:lnTo>
                <a:cubicBezTo>
                  <a:pt x="576" y="296"/>
                  <a:pt x="570" y="309"/>
                  <a:pt x="559" y="318"/>
                </a:cubicBezTo>
                <a:lnTo>
                  <a:pt x="524" y="348"/>
                </a:lnTo>
                <a:cubicBezTo>
                  <a:pt x="550" y="363"/>
                  <a:pt x="568" y="391"/>
                  <a:pt x="568" y="424"/>
                </a:cubicBezTo>
                <a:cubicBezTo>
                  <a:pt x="568" y="473"/>
                  <a:pt x="529" y="512"/>
                  <a:pt x="480" y="512"/>
                </a:cubicBezTo>
                <a:cubicBezTo>
                  <a:pt x="432" y="512"/>
                  <a:pt x="392" y="473"/>
                  <a:pt x="392" y="424"/>
                </a:cubicBezTo>
                <a:cubicBezTo>
                  <a:pt x="392" y="410"/>
                  <a:pt x="396" y="396"/>
                  <a:pt x="402" y="384"/>
                </a:cubicBezTo>
                <a:lnTo>
                  <a:pt x="301" y="384"/>
                </a:lnTo>
                <a:cubicBezTo>
                  <a:pt x="298" y="397"/>
                  <a:pt x="293" y="410"/>
                  <a:pt x="286" y="422"/>
                </a:cubicBezTo>
                <a:cubicBezTo>
                  <a:pt x="294" y="431"/>
                  <a:pt x="293" y="445"/>
                  <a:pt x="285" y="454"/>
                </a:cubicBezTo>
                <a:lnTo>
                  <a:pt x="262" y="477"/>
                </a:lnTo>
                <a:cubicBezTo>
                  <a:pt x="253" y="485"/>
                  <a:pt x="239" y="486"/>
                  <a:pt x="230" y="478"/>
                </a:cubicBezTo>
                <a:cubicBezTo>
                  <a:pt x="220" y="483"/>
                  <a:pt x="210" y="487"/>
                  <a:pt x="200" y="490"/>
                </a:cubicBezTo>
                <a:cubicBezTo>
                  <a:pt x="199" y="503"/>
                  <a:pt x="189" y="512"/>
                  <a:pt x="176" y="512"/>
                </a:cubicBezTo>
                <a:lnTo>
                  <a:pt x="144" y="512"/>
                </a:lnTo>
                <a:cubicBezTo>
                  <a:pt x="132" y="512"/>
                  <a:pt x="121" y="503"/>
                  <a:pt x="120" y="490"/>
                </a:cubicBezTo>
                <a:cubicBezTo>
                  <a:pt x="110" y="487"/>
                  <a:pt x="100" y="483"/>
                  <a:pt x="90" y="478"/>
                </a:cubicBezTo>
                <a:cubicBezTo>
                  <a:pt x="81" y="486"/>
                  <a:pt x="67" y="485"/>
                  <a:pt x="58" y="476"/>
                </a:cubicBezTo>
                <a:lnTo>
                  <a:pt x="36" y="454"/>
                </a:lnTo>
                <a:cubicBezTo>
                  <a:pt x="27" y="445"/>
                  <a:pt x="26" y="431"/>
                  <a:pt x="34" y="422"/>
                </a:cubicBezTo>
                <a:cubicBezTo>
                  <a:pt x="29" y="412"/>
                  <a:pt x="25" y="402"/>
                  <a:pt x="22" y="392"/>
                </a:cubicBezTo>
                <a:cubicBezTo>
                  <a:pt x="9" y="391"/>
                  <a:pt x="0" y="380"/>
                  <a:pt x="0" y="368"/>
                </a:cubicBezTo>
                <a:lnTo>
                  <a:pt x="0" y="336"/>
                </a:lnTo>
                <a:cubicBezTo>
                  <a:pt x="0" y="324"/>
                  <a:pt x="9" y="313"/>
                  <a:pt x="22" y="312"/>
                </a:cubicBezTo>
                <a:cubicBezTo>
                  <a:pt x="25" y="302"/>
                  <a:pt x="29" y="292"/>
                  <a:pt x="34" y="282"/>
                </a:cubicBezTo>
                <a:cubicBezTo>
                  <a:pt x="26" y="273"/>
                  <a:pt x="27" y="259"/>
                  <a:pt x="36" y="250"/>
                </a:cubicBezTo>
                <a:lnTo>
                  <a:pt x="58" y="227"/>
                </a:lnTo>
                <a:cubicBezTo>
                  <a:pt x="67" y="219"/>
                  <a:pt x="81" y="218"/>
                  <a:pt x="90" y="226"/>
                </a:cubicBezTo>
                <a:cubicBezTo>
                  <a:pt x="92" y="225"/>
                  <a:pt x="94" y="224"/>
                  <a:pt x="96" y="223"/>
                </a:cubicBezTo>
                <a:close/>
                <a:moveTo>
                  <a:pt x="160" y="96"/>
                </a:moveTo>
                <a:lnTo>
                  <a:pt x="160" y="192"/>
                </a:lnTo>
                <a:lnTo>
                  <a:pt x="293" y="192"/>
                </a:lnTo>
                <a:lnTo>
                  <a:pt x="236" y="96"/>
                </a:lnTo>
                <a:lnTo>
                  <a:pt x="160" y="96"/>
                </a:lnTo>
                <a:close/>
                <a:moveTo>
                  <a:pt x="160" y="288"/>
                </a:moveTo>
                <a:cubicBezTo>
                  <a:pt x="125" y="288"/>
                  <a:pt x="96" y="317"/>
                  <a:pt x="96" y="352"/>
                </a:cubicBezTo>
                <a:cubicBezTo>
                  <a:pt x="96" y="387"/>
                  <a:pt x="125" y="416"/>
                  <a:pt x="160" y="416"/>
                </a:cubicBezTo>
                <a:cubicBezTo>
                  <a:pt x="195" y="416"/>
                  <a:pt x="224" y="387"/>
                  <a:pt x="224" y="352"/>
                </a:cubicBezTo>
                <a:cubicBezTo>
                  <a:pt x="224" y="317"/>
                  <a:pt x="195" y="288"/>
                  <a:pt x="160" y="288"/>
                </a:cubicBezTo>
                <a:close/>
                <a:moveTo>
                  <a:pt x="440" y="424"/>
                </a:moveTo>
                <a:cubicBezTo>
                  <a:pt x="440" y="446"/>
                  <a:pt x="458" y="464"/>
                  <a:pt x="480" y="464"/>
                </a:cubicBezTo>
                <a:cubicBezTo>
                  <a:pt x="502" y="464"/>
                  <a:pt x="520" y="446"/>
                  <a:pt x="520" y="424"/>
                </a:cubicBezTo>
                <a:cubicBezTo>
                  <a:pt x="520" y="402"/>
                  <a:pt x="502" y="384"/>
                  <a:pt x="480" y="384"/>
                </a:cubicBezTo>
                <a:cubicBezTo>
                  <a:pt x="458" y="384"/>
                  <a:pt x="440" y="402"/>
                  <a:pt x="440" y="424"/>
                </a:cubicBezTo>
                <a:close/>
              </a:path>
            </a:pathLst>
          </a:custGeom>
          <a:solidFill>
            <a:srgbClr val="173B27"/>
          </a:solidFill>
          <a:ln>
            <a:noFill/>
          </a:ln>
        </p:spPr>
      </p:sp>
      <p:sp>
        <p:nvSpPr>
          <p:cNvPr id="35" name="l3-c3-text"/>
          <p:cNvSpPr txBox="1"/>
          <p:nvPr/>
        </p:nvSpPr>
        <p:spPr>
          <a:xfrm>
            <a:off x="5435600" y="45974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73B27"/>
                </a:solidFill>
                <a:latin typeface="MiSans"/>
                <a:ea typeface="MiSans"/>
              </a:rPr>
              <a:t>Farm data</a:t>
            </a:r>
            <a:endParaRPr lang="en-US" sz="1100" noProof="1"/>
          </a:p>
        </p:txBody>
      </p:sp>
      <p:sp>
        <p:nvSpPr>
          <p:cNvPr id="36" name="leg1-sw"/>
          <p:cNvSpPr/>
          <p:nvPr/>
        </p:nvSpPr>
        <p:spPr>
          <a:xfrm>
            <a:off x="609600" y="5638800"/>
            <a:ext cx="304800" cy="38100"/>
          </a:xfrm>
          <a:prstGeom prst="rect">
            <a:avLst/>
          </a:prstGeom>
          <a:solidFill>
            <a:srgbClr val="3E7A4E"/>
          </a:solidFill>
          <a:ln>
            <a:noFill/>
          </a:ln>
        </p:spPr>
      </p:sp>
      <p:sp>
        <p:nvSpPr>
          <p:cNvPr id="37" name="leg1-t"/>
          <p:cNvSpPr txBox="1"/>
          <p:nvPr/>
        </p:nvSpPr>
        <p:spPr>
          <a:xfrm>
            <a:off x="1016000" y="55626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00" kern="0">
                <a:solidFill>
                  <a:srgbClr val="66725F"/>
                </a:solidFill>
                <a:latin typeface="MiSans"/>
                <a:ea typeface="MiSans"/>
              </a:rPr>
              <a:t>implemented in prototype</a:t>
            </a:r>
            <a:endParaRPr lang="en-US" sz="900" noProof="1"/>
          </a:p>
        </p:txBody>
      </p:sp>
      <p:sp>
        <p:nvSpPr>
          <p:cNvPr id="38" name="future-zone"/>
          <p:cNvSpPr/>
          <p:nvPr/>
        </p:nvSpPr>
        <p:spPr>
          <a:xfrm>
            <a:off x="7620000" y="1371600"/>
            <a:ext cx="3962400" cy="3962400"/>
          </a:xfrm>
          <a:prstGeom prst="roundRect">
            <a:avLst>
              <a:gd name="adj" fmla="val 4000"/>
            </a:avLst>
          </a:prstGeom>
          <a:solidFill>
            <a:srgbClr val="F4E3C2">
              <a:alpha val="25098"/>
            </a:srgbClr>
          </a:solidFill>
          <a:ln w="19050">
            <a:solidFill>
              <a:srgbClr val="D99A3D"/>
            </a:solidFill>
            <a:prstDash val="dash"/>
          </a:ln>
        </p:spPr>
      </p:sp>
      <p:sp>
        <p:nvSpPr>
          <p:cNvPr id="39" name="future-header"/>
          <p:cNvSpPr txBox="1"/>
          <p:nvPr/>
        </p:nvSpPr>
        <p:spPr>
          <a:xfrm>
            <a:off x="7823200" y="1549400"/>
            <a:ext cx="355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8A5E14"/>
                </a:solidFill>
                <a:latin typeface="MiSans"/>
                <a:ea typeface="MiSans"/>
              </a:rPr>
              <a:t>PLANNED INTEGRATIONS</a:t>
            </a:r>
            <a:endParaRPr lang="en-US" sz="900" noProof="1"/>
          </a:p>
        </p:txBody>
      </p:sp>
      <p:sp>
        <p:nvSpPr>
          <p:cNvPr id="40" name="future-sub"/>
          <p:cNvSpPr txBox="1"/>
          <p:nvPr/>
        </p:nvSpPr>
        <p:spPr>
          <a:xfrm>
            <a:off x="7823200" y="1752600"/>
            <a:ext cx="3556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00" kern="0">
                <a:solidFill>
                  <a:srgbClr val="66725F"/>
                </a:solidFill>
                <a:latin typeface="MiSans"/>
                <a:ea typeface="MiSans"/>
              </a:rPr>
              <a:t>future scope — not yet implemented</a:t>
            </a:r>
            <a:endParaRPr lang="en-US" sz="900" noProof="1"/>
          </a:p>
        </p:txBody>
      </p:sp>
      <p:sp>
        <p:nvSpPr>
          <p:cNvPr id="41" name="fu1"/>
          <p:cNvSpPr/>
          <p:nvPr/>
        </p:nvSpPr>
        <p:spPr>
          <a:xfrm>
            <a:off x="7823200" y="2082800"/>
            <a:ext cx="1727200" cy="431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99A3D"/>
            </a:solidFill>
            <a:prstDash val="dash"/>
          </a:ln>
        </p:spPr>
      </p:sp>
      <p:sp>
        <p:nvSpPr>
          <p:cNvPr id="42" name="fu1-t"/>
          <p:cNvSpPr txBox="1"/>
          <p:nvPr/>
        </p:nvSpPr>
        <p:spPr>
          <a:xfrm>
            <a:off x="7823200" y="20828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F2A20"/>
                </a:solidFill>
                <a:latin typeface="MiSans"/>
                <a:ea typeface="MiSans"/>
              </a:rPr>
              <a:t>Weather APIs</a:t>
            </a:r>
            <a:endParaRPr lang="en-US" sz="1000" noProof="1"/>
          </a:p>
        </p:txBody>
      </p:sp>
      <p:sp>
        <p:nvSpPr>
          <p:cNvPr id="43" name="fu2"/>
          <p:cNvSpPr/>
          <p:nvPr/>
        </p:nvSpPr>
        <p:spPr>
          <a:xfrm>
            <a:off x="9702800" y="2082800"/>
            <a:ext cx="1727200" cy="431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99A3D"/>
            </a:solidFill>
            <a:prstDash val="dash"/>
          </a:ln>
        </p:spPr>
      </p:sp>
      <p:sp>
        <p:nvSpPr>
          <p:cNvPr id="44" name="fu2-t"/>
          <p:cNvSpPr txBox="1"/>
          <p:nvPr/>
        </p:nvSpPr>
        <p:spPr>
          <a:xfrm>
            <a:off x="9702800" y="20828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F2A20"/>
                </a:solidFill>
                <a:latin typeface="MiSans"/>
                <a:ea typeface="MiSans"/>
              </a:rPr>
              <a:t>Soil-test data</a:t>
            </a:r>
            <a:endParaRPr lang="en-US" sz="1000" noProof="1"/>
          </a:p>
        </p:txBody>
      </p:sp>
      <p:sp>
        <p:nvSpPr>
          <p:cNvPr id="45" name="fu3"/>
          <p:cNvSpPr/>
          <p:nvPr/>
        </p:nvSpPr>
        <p:spPr>
          <a:xfrm>
            <a:off x="7823200" y="2667000"/>
            <a:ext cx="1727200" cy="431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99A3D"/>
            </a:solidFill>
            <a:prstDash val="dash"/>
          </a:ln>
        </p:spPr>
      </p:sp>
      <p:sp>
        <p:nvSpPr>
          <p:cNvPr id="46" name="fu3-t"/>
          <p:cNvSpPr txBox="1"/>
          <p:nvPr/>
        </p:nvSpPr>
        <p:spPr>
          <a:xfrm>
            <a:off x="7823200" y="26670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F2A20"/>
                </a:solidFill>
                <a:latin typeface="MiSans"/>
                <a:ea typeface="MiSans"/>
              </a:rPr>
              <a:t>Market / mandi data</a:t>
            </a:r>
            <a:endParaRPr lang="en-US" sz="1000" noProof="1"/>
          </a:p>
        </p:txBody>
      </p:sp>
      <p:sp>
        <p:nvSpPr>
          <p:cNvPr id="47" name="fu4"/>
          <p:cNvSpPr/>
          <p:nvPr/>
        </p:nvSpPr>
        <p:spPr>
          <a:xfrm>
            <a:off x="9702800" y="2667000"/>
            <a:ext cx="1727200" cy="431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99A3D"/>
            </a:solidFill>
            <a:prstDash val="dash"/>
          </a:ln>
        </p:spPr>
      </p:sp>
      <p:sp>
        <p:nvSpPr>
          <p:cNvPr id="48" name="fu4-t"/>
          <p:cNvSpPr txBox="1"/>
          <p:nvPr/>
        </p:nvSpPr>
        <p:spPr>
          <a:xfrm>
            <a:off x="9702800" y="26670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F2A20"/>
                </a:solidFill>
                <a:latin typeface="MiSans"/>
                <a:ea typeface="MiSans"/>
              </a:rPr>
              <a:t>ML yield prediction</a:t>
            </a:r>
            <a:endParaRPr lang="en-US" sz="1000" noProof="1"/>
          </a:p>
        </p:txBody>
      </p:sp>
      <p:sp>
        <p:nvSpPr>
          <p:cNvPr id="49" name="fu5"/>
          <p:cNvSpPr/>
          <p:nvPr/>
        </p:nvSpPr>
        <p:spPr>
          <a:xfrm>
            <a:off x="7823200" y="3251200"/>
            <a:ext cx="1727200" cy="431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99A3D"/>
            </a:solidFill>
            <a:prstDash val="dash"/>
          </a:ln>
        </p:spPr>
      </p:sp>
      <p:sp>
        <p:nvSpPr>
          <p:cNvPr id="50" name="fu5-t"/>
          <p:cNvSpPr txBox="1"/>
          <p:nvPr/>
        </p:nvSpPr>
        <p:spPr>
          <a:xfrm>
            <a:off x="7823200" y="32512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F2A20"/>
                </a:solidFill>
                <a:latin typeface="MiSans"/>
                <a:ea typeface="MiSans"/>
              </a:rPr>
              <a:t>ML price prediction</a:t>
            </a:r>
            <a:endParaRPr lang="en-US" sz="1000" noProof="1"/>
          </a:p>
        </p:txBody>
      </p:sp>
      <p:sp>
        <p:nvSpPr>
          <p:cNvPr id="51" name="fu6"/>
          <p:cNvSpPr/>
          <p:nvPr/>
        </p:nvSpPr>
        <p:spPr>
          <a:xfrm>
            <a:off x="9702800" y="3251200"/>
            <a:ext cx="1727200" cy="431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99A3D"/>
            </a:solidFill>
            <a:prstDash val="dash"/>
          </a:ln>
        </p:spPr>
      </p:sp>
      <p:sp>
        <p:nvSpPr>
          <p:cNvPr id="52" name="fu6-t"/>
          <p:cNvSpPr txBox="1"/>
          <p:nvPr/>
        </p:nvSpPr>
        <p:spPr>
          <a:xfrm>
            <a:off x="9702800" y="32512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F2A20"/>
                </a:solidFill>
                <a:latin typeface="MiSans"/>
                <a:ea typeface="MiSans"/>
              </a:rPr>
              <a:t>ESP32 / IoT sensors</a:t>
            </a:r>
            <a:endParaRPr lang="en-US" sz="1000" noProof="1"/>
          </a:p>
        </p:txBody>
      </p:sp>
      <p:sp>
        <p:nvSpPr>
          <p:cNvPr id="53" name="fu7"/>
          <p:cNvSpPr/>
          <p:nvPr/>
        </p:nvSpPr>
        <p:spPr>
          <a:xfrm>
            <a:off x="7823200" y="3835400"/>
            <a:ext cx="1727200" cy="431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99A3D"/>
            </a:solidFill>
            <a:prstDash val="dash"/>
          </a:ln>
        </p:spPr>
      </p:sp>
      <p:sp>
        <p:nvSpPr>
          <p:cNvPr id="54" name="fu7-t"/>
          <p:cNvSpPr txBox="1"/>
          <p:nvPr/>
        </p:nvSpPr>
        <p:spPr>
          <a:xfrm>
            <a:off x="7823200" y="38354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F2A20"/>
                </a:solidFill>
                <a:latin typeface="MiSans"/>
                <a:ea typeface="MiSans"/>
              </a:rPr>
              <a:t>Bluetooth</a:t>
            </a:r>
            <a:endParaRPr lang="en-US" sz="1000" noProof="1"/>
          </a:p>
        </p:txBody>
      </p:sp>
      <p:sp>
        <p:nvSpPr>
          <p:cNvPr id="55" name="fu8"/>
          <p:cNvSpPr/>
          <p:nvPr/>
        </p:nvSpPr>
        <p:spPr>
          <a:xfrm>
            <a:off x="9702800" y="3835400"/>
            <a:ext cx="1727200" cy="431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99A3D"/>
            </a:solidFill>
            <a:prstDash val="dash"/>
          </a:ln>
        </p:spPr>
      </p:sp>
      <p:sp>
        <p:nvSpPr>
          <p:cNvPr id="56" name="fu8-t"/>
          <p:cNvSpPr txBox="1"/>
          <p:nvPr/>
        </p:nvSpPr>
        <p:spPr>
          <a:xfrm>
            <a:off x="9702800" y="38354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F2A20"/>
                </a:solidFill>
                <a:latin typeface="MiSans"/>
                <a:ea typeface="MiSans"/>
              </a:rPr>
              <a:t>GPS</a:t>
            </a:r>
            <a:endParaRPr lang="en-US" sz="1000" noProof="1"/>
          </a:p>
        </p:txBody>
      </p:sp>
      <p:sp>
        <p:nvSpPr>
          <p:cNvPr id="57" name="fu9"/>
          <p:cNvSpPr/>
          <p:nvPr/>
        </p:nvSpPr>
        <p:spPr>
          <a:xfrm>
            <a:off x="7823200" y="4419600"/>
            <a:ext cx="1727200" cy="431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99A3D"/>
            </a:solidFill>
            <a:prstDash val="dash"/>
          </a:ln>
        </p:spPr>
      </p:sp>
      <p:sp>
        <p:nvSpPr>
          <p:cNvPr id="58" name="fu9-t"/>
          <p:cNvSpPr txBox="1"/>
          <p:nvPr/>
        </p:nvSpPr>
        <p:spPr>
          <a:xfrm>
            <a:off x="7823200" y="44196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F2A20"/>
                </a:solidFill>
                <a:latin typeface="MiSans"/>
                <a:ea typeface="MiSans"/>
              </a:rPr>
              <a:t>FastAPI</a:t>
            </a:r>
            <a:endParaRPr lang="en-US" sz="1000" noProof="1"/>
          </a:p>
        </p:txBody>
      </p:sp>
      <p:sp>
        <p:nvSpPr>
          <p:cNvPr id="59" name="fu10"/>
          <p:cNvSpPr/>
          <p:nvPr/>
        </p:nvSpPr>
        <p:spPr>
          <a:xfrm>
            <a:off x="9702800" y="4419600"/>
            <a:ext cx="1727200" cy="4318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12700">
            <a:solidFill>
              <a:srgbClr val="D99A3D"/>
            </a:solidFill>
            <a:prstDash val="dash"/>
          </a:ln>
        </p:spPr>
      </p:sp>
      <p:sp>
        <p:nvSpPr>
          <p:cNvPr id="60" name="fu10-t"/>
          <p:cNvSpPr txBox="1"/>
          <p:nvPr/>
        </p:nvSpPr>
        <p:spPr>
          <a:xfrm>
            <a:off x="9702800" y="44196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F2A20"/>
                </a:solidFill>
                <a:latin typeface="MiSans"/>
                <a:ea typeface="MiSans"/>
              </a:rPr>
              <a:t>PostgreSQL</a:t>
            </a:r>
            <a:endParaRPr lang="en-US" sz="1000" noProof="1"/>
          </a:p>
        </p:txBody>
      </p:sp>
      <p:sp>
        <p:nvSpPr>
          <p:cNvPr id="61" name="leg2-sw"/>
          <p:cNvSpPr/>
          <p:nvPr>
            <p:extLst>
              <p:ext uri="{F5677B7D-0D2A-4D9B-9A5C-6D8D7D0E5A5D}">
                <pptd:line encoding="base64url">eyJ2aWV3Qm94IjpbMjQsNl0sInBvaW50cyI6IjAsMyAyNCwzIn0</pptd:line>
              </p:ext>
            </p:extLst>
          </p:nvPr>
        </p:nvSpPr>
        <p:spPr>
          <a:xfrm>
            <a:off x="7620000" y="55880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24" h="6">
                <a:moveTo>
                  <a:pt x="0" y="3"/>
                </a:moveTo>
                <a:lnTo>
                  <a:pt x="24" y="3"/>
                </a:lnTo>
              </a:path>
            </a:pathLst>
          </a:custGeom>
          <a:noFill/>
          <a:ln w="25400" cap="rnd">
            <a:solidFill>
              <a:srgbClr val="D99A3D"/>
            </a:solidFill>
            <a:prstDash val="dash"/>
            <a:round/>
          </a:ln>
        </p:spPr>
      </p:sp>
      <p:sp>
        <p:nvSpPr>
          <p:cNvPr id="62" name="leg2-t"/>
          <p:cNvSpPr txBox="1"/>
          <p:nvPr/>
        </p:nvSpPr>
        <p:spPr>
          <a:xfrm>
            <a:off x="8026400" y="5562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00" kern="0">
                <a:solidFill>
                  <a:srgbClr val="66725F"/>
                </a:solidFill>
                <a:latin typeface="MiSans"/>
                <a:ea typeface="MiSans"/>
              </a:rPr>
              <a:t>planned / future integration</a:t>
            </a:r>
            <a:endParaRPr lang="en-US" sz="900" noProof="1"/>
          </a:p>
        </p:txBody>
      </p:sp>
      <p:sp>
        <p:nvSpPr>
          <p:cNvPr id="63" name="note"/>
          <p:cNvSpPr txBox="1"/>
          <p:nvPr/>
        </p:nvSpPr>
        <p:spPr>
          <a:xfrm>
            <a:off x="609600" y="60706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The prototype runs fully on-device with local demo data; live sources connect through a FastAPI + PostgreSQL backend as they are added.</a:t>
            </a:r>
            <a:endParaRPr lang="en-US" sz="1000" noProof="1"/>
          </a:p>
        </p:txBody>
      </p:sp>
      <p:sp>
        <p:nvSpPr>
          <p:cNvPr id="64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12 / 14</a:t>
            </a:r>
            <a:endParaRPr lang="en-US" sz="9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3E7A4E"/>
                </a:solidFill>
                <a:latin typeface="MiSans"/>
                <a:ea typeface="MiSans"/>
              </a:rPr>
              <a:t>LIMITATIONS &amp; FUTURE SCOPE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812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2A20"/>
                </a:solidFill>
                <a:latin typeface="MiSans"/>
                <a:ea typeface="MiSans"/>
              </a:rPr>
              <a:t>Where AgriSense Goes Next</a:t>
            </a:r>
            <a:endParaRPr lang="en-US" sz="2600" noProof="1"/>
          </a:p>
        </p:txBody>
      </p:sp>
      <p:sp>
        <p:nvSpPr>
          <p:cNvPr id="4" name="lim-header"/>
          <p:cNvSpPr txBox="1"/>
          <p:nvPr/>
        </p:nvSpPr>
        <p:spPr>
          <a:xfrm>
            <a:off x="609600" y="1371600"/>
            <a:ext cx="431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B44A32"/>
                </a:solidFill>
                <a:latin typeface="MiSans"/>
                <a:ea typeface="MiSans"/>
              </a:rPr>
              <a:t>CURRENT LIMITATIONS — PROTOTYPE</a:t>
            </a:r>
            <a:endParaRPr lang="en-US" sz="900" noProof="1"/>
          </a:p>
        </p:txBody>
      </p:sp>
      <p:sp>
        <p:nvSpPr>
          <p:cNvPr id="5" name="lim1-dot"/>
          <p:cNvSpPr/>
          <p:nvPr/>
        </p:nvSpPr>
        <p:spPr>
          <a:xfrm>
            <a:off x="609600" y="1790700"/>
            <a:ext cx="76200" cy="76200"/>
          </a:xfrm>
          <a:prstGeom prst="ellipse">
            <a:avLst/>
          </a:prstGeom>
          <a:solidFill>
            <a:srgbClr val="B44A32"/>
          </a:solidFill>
          <a:ln>
            <a:noFill/>
          </a:ln>
        </p:spPr>
      </p:sp>
      <p:sp>
        <p:nvSpPr>
          <p:cNvPr id="6" name="lim1"/>
          <p:cNvSpPr txBox="1"/>
          <p:nvPr/>
        </p:nvSpPr>
        <p:spPr>
          <a:xfrm>
            <a:off x="812800" y="1701800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Some modules run on demonstration / local data</a:t>
            </a:r>
            <a:endParaRPr lang="en-US" sz="1100" noProof="1"/>
          </a:p>
        </p:txBody>
      </p:sp>
      <p:sp>
        <p:nvSpPr>
          <p:cNvPr id="7" name="lim2-dot"/>
          <p:cNvSpPr/>
          <p:nvPr/>
        </p:nvSpPr>
        <p:spPr>
          <a:xfrm>
            <a:off x="609600" y="2527300"/>
            <a:ext cx="76200" cy="76200"/>
          </a:xfrm>
          <a:prstGeom prst="ellipse">
            <a:avLst/>
          </a:prstGeom>
          <a:solidFill>
            <a:srgbClr val="B44A32"/>
          </a:solidFill>
          <a:ln>
            <a:noFill/>
          </a:ln>
        </p:spPr>
      </p:sp>
      <p:sp>
        <p:nvSpPr>
          <p:cNvPr id="8" name="lim2"/>
          <p:cNvSpPr txBox="1"/>
          <p:nvPr/>
        </p:nvSpPr>
        <p:spPr>
          <a:xfrm>
            <a:off x="812800" y="2438400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Real agricultural predictions require validated regional datasets</a:t>
            </a:r>
            <a:endParaRPr lang="en-US" sz="1100" noProof="1"/>
          </a:p>
        </p:txBody>
      </p:sp>
      <p:sp>
        <p:nvSpPr>
          <p:cNvPr id="9" name="lim3-dot"/>
          <p:cNvSpPr/>
          <p:nvPr/>
        </p:nvSpPr>
        <p:spPr>
          <a:xfrm>
            <a:off x="609600" y="3263900"/>
            <a:ext cx="76200" cy="76200"/>
          </a:xfrm>
          <a:prstGeom prst="ellipse">
            <a:avLst/>
          </a:prstGeom>
          <a:solidFill>
            <a:srgbClr val="B44A32"/>
          </a:solidFill>
          <a:ln>
            <a:noFill/>
          </a:ln>
        </p:spPr>
      </p:sp>
      <p:sp>
        <p:nvSpPr>
          <p:cNvPr id="10" name="lim3"/>
          <p:cNvSpPr txBox="1"/>
          <p:nvPr/>
        </p:nvSpPr>
        <p:spPr>
          <a:xfrm>
            <a:off x="812800" y="3175000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Market and weather features need live API integration</a:t>
            </a:r>
            <a:endParaRPr lang="en-US" sz="1100" noProof="1"/>
          </a:p>
        </p:txBody>
      </p:sp>
      <p:sp>
        <p:nvSpPr>
          <p:cNvPr id="11" name="lim4-dot"/>
          <p:cNvSpPr/>
          <p:nvPr/>
        </p:nvSpPr>
        <p:spPr>
          <a:xfrm>
            <a:off x="609600" y="4000500"/>
            <a:ext cx="76200" cy="76200"/>
          </a:xfrm>
          <a:prstGeom prst="ellipse">
            <a:avLst/>
          </a:prstGeom>
          <a:solidFill>
            <a:srgbClr val="B44A32"/>
          </a:solidFill>
          <a:ln>
            <a:noFill/>
          </a:ln>
        </p:spPr>
      </p:sp>
      <p:sp>
        <p:nvSpPr>
          <p:cNvPr id="12" name="lim4"/>
          <p:cNvSpPr txBox="1"/>
          <p:nvPr/>
        </p:nvSpPr>
        <p:spPr>
          <a:xfrm>
            <a:off x="812800" y="3911600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ML models require sufficient historical regional data</a:t>
            </a:r>
            <a:endParaRPr lang="en-US" sz="1100" noProof="1"/>
          </a:p>
        </p:txBody>
      </p:sp>
      <p:sp>
        <p:nvSpPr>
          <p:cNvPr id="13" name="lim5-dot"/>
          <p:cNvSpPr/>
          <p:nvPr/>
        </p:nvSpPr>
        <p:spPr>
          <a:xfrm>
            <a:off x="609600" y="4737100"/>
            <a:ext cx="76200" cy="76200"/>
          </a:xfrm>
          <a:prstGeom prst="ellipse">
            <a:avLst/>
          </a:prstGeom>
          <a:solidFill>
            <a:srgbClr val="B44A32"/>
          </a:solidFill>
          <a:ln>
            <a:noFill/>
          </a:ln>
        </p:spPr>
      </p:sp>
      <p:sp>
        <p:nvSpPr>
          <p:cNvPr id="14" name="lim5"/>
          <p:cNvSpPr txBox="1"/>
          <p:nvPr/>
        </p:nvSpPr>
        <p:spPr>
          <a:xfrm>
            <a:off x="812800" y="4648200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1F2A20"/>
                </a:solidFill>
                <a:latin typeface="MiSans"/>
                <a:ea typeface="MiSans"/>
              </a:rPr>
              <a:t>Sensor measurements require calibrated hardware</a:t>
            </a:r>
            <a:endParaRPr lang="en-US" sz="1100" noProof="1"/>
          </a:p>
        </p:txBody>
      </p:sp>
      <p:sp>
        <p:nvSpPr>
          <p:cNvPr id="15" name="lim6-dot"/>
          <p:cNvSpPr/>
          <p:nvPr/>
        </p:nvSpPr>
        <p:spPr>
          <a:xfrm>
            <a:off x="609600" y="5473700"/>
            <a:ext cx="76200" cy="76200"/>
          </a:xfrm>
          <a:prstGeom prst="ellipse">
            <a:avLst/>
          </a:prstGeom>
          <a:solidFill>
            <a:srgbClr val="B44A32"/>
          </a:solidFill>
          <a:ln>
            <a:noFill/>
          </a:ln>
        </p:spPr>
      </p:sp>
      <p:sp>
        <p:nvSpPr>
          <p:cNvPr id="16" name="lim6"/>
          <p:cNvSpPr txBox="1"/>
          <p:nvPr/>
        </p:nvSpPr>
        <p:spPr>
          <a:xfrm>
            <a:off x="812800" y="5384800"/>
            <a:ext cx="4267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100" noProof="1" b="1">
                <a:solidFill>
                  <a:srgbClr val="1F2A20"/>
                </a:solidFill>
                <a:latin typeface="MiSans"/>
                <a:ea typeface="MiSans"/>
              </a:rPr>
              <a:t>Recommendations are decision support — not guaranteed outcomes</a:t>
            </a:r>
            <a:endParaRPr lang="en-US" sz="1100" noProof="1"/>
          </a:p>
        </p:txBody>
      </p:sp>
      <p:sp>
        <p:nvSpPr>
          <p:cNvPr id="17" name="divider"/>
          <p:cNvSpPr/>
          <p:nvPr/>
        </p:nvSpPr>
        <p:spPr>
          <a:xfrm>
            <a:off x="5384800" y="1473200"/>
            <a:ext cx="12700" cy="4521200"/>
          </a:xfrm>
          <a:prstGeom prst="rect">
            <a:avLst/>
          </a:prstGeom>
          <a:solidFill>
            <a:srgbClr val="D8D2BE"/>
          </a:solidFill>
          <a:ln>
            <a:noFill/>
          </a:ln>
        </p:spPr>
      </p:sp>
      <p:sp>
        <p:nvSpPr>
          <p:cNvPr id="18" name="rm-header"/>
          <p:cNvSpPr txBox="1"/>
          <p:nvPr/>
        </p:nvSpPr>
        <p:spPr>
          <a:xfrm>
            <a:off x="5892800" y="1371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66725F"/>
                </a:solidFill>
                <a:latin typeface="MiSans"/>
                <a:ea typeface="MiSans"/>
              </a:rPr>
              <a:t>DEVELOPMENT ROADMAP</a:t>
            </a:r>
            <a:endParaRPr lang="en-US" sz="900" noProof="1"/>
          </a:p>
        </p:txBody>
      </p:sp>
      <p:sp>
        <p:nvSpPr>
          <p:cNvPr id="19" name="rail1"/>
          <p:cNvSpPr/>
          <p:nvPr/>
        </p:nvSpPr>
        <p:spPr>
          <a:xfrm>
            <a:off x="6642100" y="2044700"/>
            <a:ext cx="4191000" cy="25400"/>
          </a:xfrm>
          <a:prstGeom prst="rect">
            <a:avLst/>
          </a:prstGeom>
          <a:solidFill>
            <a:srgbClr val="D8D2BE"/>
          </a:solidFill>
          <a:ln>
            <a:noFill/>
          </a:ln>
        </p:spPr>
      </p:sp>
      <p:sp>
        <p:nvSpPr>
          <p:cNvPr id="20" name="rail-down"/>
          <p:cNvSpPr/>
          <p:nvPr/>
        </p:nvSpPr>
        <p:spPr>
          <a:xfrm>
            <a:off x="10820400" y="2057400"/>
            <a:ext cx="25400" cy="1905000"/>
          </a:xfrm>
          <a:prstGeom prst="rect">
            <a:avLst/>
          </a:prstGeom>
          <a:solidFill>
            <a:srgbClr val="D8D2BE"/>
          </a:solidFill>
          <a:ln>
            <a:noFill/>
          </a:ln>
        </p:spPr>
      </p:sp>
      <p:sp>
        <p:nvSpPr>
          <p:cNvPr id="21" name="rail2"/>
          <p:cNvSpPr/>
          <p:nvPr/>
        </p:nvSpPr>
        <p:spPr>
          <a:xfrm>
            <a:off x="6642100" y="3949700"/>
            <a:ext cx="4191000" cy="25400"/>
          </a:xfrm>
          <a:prstGeom prst="rect">
            <a:avLst/>
          </a:prstGeom>
          <a:solidFill>
            <a:srgbClr val="D8D2BE"/>
          </a:solidFill>
          <a:ln>
            <a:noFill/>
          </a:ln>
        </p:spPr>
      </p:sp>
      <p:sp>
        <p:nvSpPr>
          <p:cNvPr id="22" name="ph1-c"/>
          <p:cNvSpPr/>
          <p:nvPr/>
        </p:nvSpPr>
        <p:spPr>
          <a:xfrm>
            <a:off x="6413500" y="1828800"/>
            <a:ext cx="457200" cy="457200"/>
          </a:xfrm>
          <a:prstGeom prst="ellipse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23" name="ph1-n"/>
          <p:cNvSpPr txBox="1"/>
          <p:nvPr/>
        </p:nvSpPr>
        <p:spPr>
          <a:xfrm>
            <a:off x="64135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1300" noProof="1"/>
          </a:p>
        </p:txBody>
      </p:sp>
      <p:sp>
        <p:nvSpPr>
          <p:cNvPr id="24" name="ph1-l"/>
          <p:cNvSpPr txBox="1"/>
          <p:nvPr/>
        </p:nvSpPr>
        <p:spPr>
          <a:xfrm>
            <a:off x="5905500" y="2413000"/>
            <a:ext cx="147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1F2A20"/>
                </a:solidFill>
                <a:latin typeface="MiSans"/>
                <a:ea typeface="MiSans"/>
              </a:rPr>
              <a:t>Real weather API</a:t>
            </a:r>
            <a:endParaRPr lang="en-US" sz="1000" noProof="1"/>
          </a:p>
        </p:txBody>
      </p:sp>
      <p:sp>
        <p:nvSpPr>
          <p:cNvPr id="25" name="ph2-c"/>
          <p:cNvSpPr/>
          <p:nvPr/>
        </p:nvSpPr>
        <p:spPr>
          <a:xfrm>
            <a:off x="7810500" y="1828800"/>
            <a:ext cx="457200" cy="4572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26" name="ph2-n"/>
          <p:cNvSpPr txBox="1"/>
          <p:nvPr/>
        </p:nvSpPr>
        <p:spPr>
          <a:xfrm>
            <a:off x="78105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3E7A4E"/>
                </a:solidFill>
                <a:latin typeface="MiSans"/>
                <a:ea typeface="MiSans"/>
              </a:rPr>
              <a:t>2</a:t>
            </a:r>
            <a:endParaRPr lang="en-US" sz="1300" noProof="1"/>
          </a:p>
        </p:txBody>
      </p:sp>
      <p:sp>
        <p:nvSpPr>
          <p:cNvPr id="27" name="ph2-l"/>
          <p:cNvSpPr txBox="1"/>
          <p:nvPr/>
        </p:nvSpPr>
        <p:spPr>
          <a:xfrm>
            <a:off x="7302500" y="2413000"/>
            <a:ext cx="147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1F2A20"/>
                </a:solidFill>
                <a:latin typeface="MiSans"/>
                <a:ea typeface="MiSans"/>
              </a:rPr>
              <a:t>Real market / mandi data</a:t>
            </a:r>
            <a:endParaRPr lang="en-US" sz="1000" noProof="1"/>
          </a:p>
        </p:txBody>
      </p:sp>
      <p:sp>
        <p:nvSpPr>
          <p:cNvPr id="28" name="ph3-c"/>
          <p:cNvSpPr/>
          <p:nvPr/>
        </p:nvSpPr>
        <p:spPr>
          <a:xfrm>
            <a:off x="9207500" y="1828800"/>
            <a:ext cx="457200" cy="4572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29" name="ph3-n"/>
          <p:cNvSpPr txBox="1"/>
          <p:nvPr/>
        </p:nvSpPr>
        <p:spPr>
          <a:xfrm>
            <a:off x="92075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3E7A4E"/>
                </a:solidFill>
                <a:latin typeface="MiSans"/>
                <a:ea typeface="MiSans"/>
              </a:rPr>
              <a:t>3</a:t>
            </a:r>
            <a:endParaRPr lang="en-US" sz="1300" noProof="1"/>
          </a:p>
        </p:txBody>
      </p:sp>
      <p:sp>
        <p:nvSpPr>
          <p:cNvPr id="30" name="ph3-l"/>
          <p:cNvSpPr txBox="1"/>
          <p:nvPr/>
        </p:nvSpPr>
        <p:spPr>
          <a:xfrm>
            <a:off x="8699500" y="2413000"/>
            <a:ext cx="147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1F2A20"/>
                </a:solidFill>
                <a:latin typeface="MiSans"/>
                <a:ea typeface="MiSans"/>
              </a:rPr>
              <a:t>Soil-test integration</a:t>
            </a:r>
            <a:endParaRPr lang="en-US" sz="1000" noProof="1"/>
          </a:p>
        </p:txBody>
      </p:sp>
      <p:sp>
        <p:nvSpPr>
          <p:cNvPr id="31" name="ph4-c"/>
          <p:cNvSpPr/>
          <p:nvPr/>
        </p:nvSpPr>
        <p:spPr>
          <a:xfrm>
            <a:off x="10604500" y="1828800"/>
            <a:ext cx="457200" cy="4572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32" name="ph4-n"/>
          <p:cNvSpPr txBox="1"/>
          <p:nvPr/>
        </p:nvSpPr>
        <p:spPr>
          <a:xfrm>
            <a:off x="106045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3E7A4E"/>
                </a:solidFill>
                <a:latin typeface="MiSans"/>
                <a:ea typeface="MiSans"/>
              </a:rPr>
              <a:t>4</a:t>
            </a:r>
            <a:endParaRPr lang="en-US" sz="1300" noProof="1"/>
          </a:p>
        </p:txBody>
      </p:sp>
      <p:sp>
        <p:nvSpPr>
          <p:cNvPr id="33" name="ph4-l"/>
          <p:cNvSpPr txBox="1"/>
          <p:nvPr/>
        </p:nvSpPr>
        <p:spPr>
          <a:xfrm>
            <a:off x="10096500" y="2413000"/>
            <a:ext cx="147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1F2A20"/>
                </a:solidFill>
                <a:latin typeface="MiSans"/>
                <a:ea typeface="MiSans"/>
              </a:rPr>
              <a:t>ML yield prediction</a:t>
            </a:r>
            <a:endParaRPr lang="en-US" sz="1000" noProof="1"/>
          </a:p>
        </p:txBody>
      </p:sp>
      <p:sp>
        <p:nvSpPr>
          <p:cNvPr id="34" name="ph5-c"/>
          <p:cNvSpPr/>
          <p:nvPr/>
        </p:nvSpPr>
        <p:spPr>
          <a:xfrm>
            <a:off x="10604500" y="3733800"/>
            <a:ext cx="457200" cy="4572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35" name="ph5-n"/>
          <p:cNvSpPr txBox="1"/>
          <p:nvPr/>
        </p:nvSpPr>
        <p:spPr>
          <a:xfrm>
            <a:off x="10604500" y="3733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3E7A4E"/>
                </a:solidFill>
                <a:latin typeface="MiSans"/>
                <a:ea typeface="MiSans"/>
              </a:rPr>
              <a:t>5</a:t>
            </a:r>
            <a:endParaRPr lang="en-US" sz="1300" noProof="1"/>
          </a:p>
        </p:txBody>
      </p:sp>
      <p:sp>
        <p:nvSpPr>
          <p:cNvPr id="36" name="ph5-l"/>
          <p:cNvSpPr txBox="1"/>
          <p:nvPr/>
        </p:nvSpPr>
        <p:spPr>
          <a:xfrm>
            <a:off x="10096500" y="4318000"/>
            <a:ext cx="147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1F2A20"/>
                </a:solidFill>
                <a:latin typeface="MiSans"/>
                <a:ea typeface="MiSans"/>
              </a:rPr>
              <a:t>Price &amp; risk prediction</a:t>
            </a:r>
            <a:endParaRPr lang="en-US" sz="1000" noProof="1"/>
          </a:p>
        </p:txBody>
      </p:sp>
      <p:sp>
        <p:nvSpPr>
          <p:cNvPr id="37" name="ph6-c"/>
          <p:cNvSpPr/>
          <p:nvPr/>
        </p:nvSpPr>
        <p:spPr>
          <a:xfrm>
            <a:off x="9207500" y="3733800"/>
            <a:ext cx="457200" cy="4572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38" name="ph6-n"/>
          <p:cNvSpPr txBox="1"/>
          <p:nvPr/>
        </p:nvSpPr>
        <p:spPr>
          <a:xfrm>
            <a:off x="9207500" y="3733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3E7A4E"/>
                </a:solidFill>
                <a:latin typeface="MiSans"/>
                <a:ea typeface="MiSans"/>
              </a:rPr>
              <a:t>6</a:t>
            </a:r>
            <a:endParaRPr lang="en-US" sz="1300" noProof="1"/>
          </a:p>
        </p:txBody>
      </p:sp>
      <p:sp>
        <p:nvSpPr>
          <p:cNvPr id="39" name="ph6-l"/>
          <p:cNvSpPr txBox="1"/>
          <p:nvPr/>
        </p:nvSpPr>
        <p:spPr>
          <a:xfrm>
            <a:off x="8699500" y="4318000"/>
            <a:ext cx="147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1F2A20"/>
                </a:solidFill>
                <a:latin typeface="MiSans"/>
                <a:ea typeface="MiSans"/>
              </a:rPr>
              <a:t>ESP32 IoT field sensors</a:t>
            </a:r>
            <a:endParaRPr lang="en-US" sz="1000" noProof="1"/>
          </a:p>
        </p:txBody>
      </p:sp>
      <p:sp>
        <p:nvSpPr>
          <p:cNvPr id="40" name="ph7-c"/>
          <p:cNvSpPr/>
          <p:nvPr/>
        </p:nvSpPr>
        <p:spPr>
          <a:xfrm>
            <a:off x="7810500" y="3733800"/>
            <a:ext cx="457200" cy="457200"/>
          </a:xfrm>
          <a:prstGeom prst="ellipse">
            <a:avLst/>
          </a:prstGeom>
          <a:solidFill>
            <a:srgbClr val="FDFBF4"/>
          </a:solidFill>
          <a:ln w="19050">
            <a:solidFill>
              <a:srgbClr val="3E7A4E"/>
            </a:solidFill>
          </a:ln>
        </p:spPr>
      </p:sp>
      <p:sp>
        <p:nvSpPr>
          <p:cNvPr id="41" name="ph7-n"/>
          <p:cNvSpPr txBox="1"/>
          <p:nvPr/>
        </p:nvSpPr>
        <p:spPr>
          <a:xfrm>
            <a:off x="7810500" y="3733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3E7A4E"/>
                </a:solidFill>
                <a:latin typeface="MiSans"/>
                <a:ea typeface="MiSans"/>
              </a:rPr>
              <a:t>7</a:t>
            </a:r>
            <a:endParaRPr lang="en-US" sz="1300" noProof="1"/>
          </a:p>
        </p:txBody>
      </p:sp>
      <p:sp>
        <p:nvSpPr>
          <p:cNvPr id="42" name="ph7-l"/>
          <p:cNvSpPr txBox="1"/>
          <p:nvPr/>
        </p:nvSpPr>
        <p:spPr>
          <a:xfrm>
            <a:off x="7302500" y="4318000"/>
            <a:ext cx="147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1F2A20"/>
                </a:solidFill>
                <a:latin typeface="MiSans"/>
                <a:ea typeface="MiSans"/>
              </a:rPr>
              <a:t>Hindi / local voice interface</a:t>
            </a:r>
            <a:endParaRPr lang="en-US" sz="1000" noProof="1"/>
          </a:p>
        </p:txBody>
      </p:sp>
      <p:sp>
        <p:nvSpPr>
          <p:cNvPr id="43" name="ph8-c"/>
          <p:cNvSpPr/>
          <p:nvPr/>
        </p:nvSpPr>
        <p:spPr>
          <a:xfrm>
            <a:off x="6413500" y="3733800"/>
            <a:ext cx="457200" cy="457200"/>
          </a:xfrm>
          <a:prstGeom prst="ellipse">
            <a:avLst/>
          </a:prstGeom>
          <a:solidFill>
            <a:srgbClr val="173B27"/>
          </a:solidFill>
          <a:ln>
            <a:noFill/>
          </a:ln>
        </p:spPr>
      </p:sp>
      <p:sp>
        <p:nvSpPr>
          <p:cNvPr id="44" name="ph8-n"/>
          <p:cNvSpPr txBox="1"/>
          <p:nvPr/>
        </p:nvSpPr>
        <p:spPr>
          <a:xfrm>
            <a:off x="6413500" y="3733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8</a:t>
            </a:r>
            <a:endParaRPr lang="en-US" sz="1300" noProof="1"/>
          </a:p>
        </p:txBody>
      </p:sp>
      <p:sp>
        <p:nvSpPr>
          <p:cNvPr id="45" name="ph8-l"/>
          <p:cNvSpPr txBox="1"/>
          <p:nvPr/>
        </p:nvSpPr>
        <p:spPr>
          <a:xfrm>
            <a:off x="5905500" y="4318000"/>
            <a:ext cx="147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1F2A20"/>
                </a:solidFill>
                <a:latin typeface="MiSans"/>
                <a:ea typeface="MiSans"/>
              </a:rPr>
              <a:t>Scale &amp; personalized recommendations</a:t>
            </a:r>
            <a:endParaRPr lang="en-US" sz="1000" noProof="1"/>
          </a:p>
        </p:txBody>
      </p:sp>
      <p:sp>
        <p:nvSpPr>
          <p:cNvPr id="46" name="rm-note"/>
          <p:cNvSpPr txBox="1"/>
          <p:nvPr/>
        </p:nvSpPr>
        <p:spPr>
          <a:xfrm>
            <a:off x="5892800" y="5461000"/>
            <a:ext cx="5689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6725F"/>
                </a:solidFill>
                <a:latin typeface="MiSans"/>
                <a:ea typeface="MiSans"/>
              </a:rPr>
              <a:t>Each phase is independent — the app stays useful at every stage of the roadmap, and each addition strengthens the decision engine.</a:t>
            </a:r>
            <a:endParaRPr lang="en-US" sz="1000" noProof="1"/>
          </a:p>
        </p:txBody>
      </p:sp>
      <p:sp>
        <p:nvSpPr>
          <p:cNvPr id="47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6725F"/>
                </a:solidFill>
                <a:latin typeface="MiSans"/>
                <a:ea typeface="MiSans"/>
              </a:rPr>
              <a:t>13 / 14</a:t>
            </a:r>
            <a:endParaRPr lang="en-US" sz="9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73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nd-image"/>
          <p:cNvPicPr/>
          <p:nvPr/>
        </p:nvPicPr>
        <p:blipFill>
          <a:blip r:embed="rId2"/>
          <a:srcRect t="20625" b="20625"/>
          <a:stretch>
            <a:fillRect/>
          </a:stretch>
        </p:blipFill>
        <p:spPr>
          <a:xfrm>
            <a:off x="0" y="4470400"/>
            <a:ext cx="12192000" cy="2387600"/>
          </a:xfrm>
          <a:prstGeom prst="rect">
            <a:avLst/>
          </a:prstGeom>
          <a:ln>
            <a:noFill/>
          </a:ln>
        </p:spPr>
      </p:pic>
      <p:sp>
        <p:nvSpPr>
          <p:cNvPr id="3" name="band-blend"/>
          <p:cNvSpPr/>
          <p:nvPr/>
        </p:nvSpPr>
        <p:spPr>
          <a:xfrm>
            <a:off x="0" y="4064000"/>
            <a:ext cx="12192000" cy="1778000"/>
          </a:xfrm>
          <a:prstGeom prst="rect">
            <a:avLst/>
          </a:prstGeom>
          <a:gradFill rotWithShape="1">
            <a:gsLst>
              <a:gs pos="0">
                <a:srgbClr val="173B27"/>
              </a:gs>
              <a:gs pos="100000">
                <a:srgbClr val="173B27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812800" y="685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300" kern="0">
                <a:solidFill>
                  <a:srgbClr val="8FBF7F"/>
                </a:solidFill>
                <a:latin typeface="MiSans"/>
                <a:ea typeface="MiSans"/>
              </a:rPr>
              <a:t>CONCLUSION</a:t>
            </a:r>
            <a:endParaRPr lang="en-US" sz="1000" noProof="1"/>
          </a:p>
        </p:txBody>
      </p:sp>
      <p:sp>
        <p:nvSpPr>
          <p:cNvPr id="5" name="title"/>
          <p:cNvSpPr txBox="1"/>
          <p:nvPr/>
        </p:nvSpPr>
        <p:spPr>
          <a:xfrm>
            <a:off x="812800" y="965200"/>
            <a:ext cx="10566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700" noProof="1" b="1">
                <a:solidFill>
                  <a:srgbClr val="FFFFFF"/>
                </a:solidFill>
                <a:latin typeface="MiSans"/>
                <a:ea typeface="MiSans"/>
              </a:rPr>
              <a:t>AgriSense — Smarter Decisions, Not Blind Predictions</a:t>
            </a:r>
            <a:endParaRPr lang="en-US" sz="2700" noProof="1"/>
          </a:p>
        </p:txBody>
      </p:sp>
      <p:sp>
        <p:nvSpPr>
          <p:cNvPr id="6" name="c1"/>
          <p:cNvSpPr/>
          <p:nvPr/>
        </p:nvSpPr>
        <p:spPr>
          <a:xfrm>
            <a:off x="812800" y="2159000"/>
            <a:ext cx="787400" cy="381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30196"/>
              </a:srgbClr>
            </a:solidFill>
          </a:ln>
        </p:spPr>
      </p:sp>
      <p:sp>
        <p:nvSpPr>
          <p:cNvPr id="7" name="c1-t"/>
          <p:cNvSpPr txBox="1"/>
          <p:nvPr/>
        </p:nvSpPr>
        <p:spPr>
          <a:xfrm>
            <a:off x="812800" y="2159000"/>
            <a:ext cx="787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Soil</a:t>
            </a:r>
            <a:endParaRPr lang="en-US" sz="1100" noProof="1"/>
          </a:p>
        </p:txBody>
      </p:sp>
      <p:sp>
        <p:nvSpPr>
          <p:cNvPr id="8" name="plus1"/>
          <p:cNvSpPr txBox="1"/>
          <p:nvPr/>
        </p:nvSpPr>
        <p:spPr>
          <a:xfrm>
            <a:off x="1600200" y="2159000"/>
            <a:ext cx="177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8FBF7F"/>
                </a:solidFill>
                <a:latin typeface="MiSans"/>
                <a:ea typeface="MiSans"/>
              </a:rPr>
              <a:t>+</a:t>
            </a:r>
            <a:endParaRPr lang="en-US" sz="1300" noProof="1"/>
          </a:p>
        </p:txBody>
      </p:sp>
      <p:sp>
        <p:nvSpPr>
          <p:cNvPr id="9" name="c2"/>
          <p:cNvSpPr/>
          <p:nvPr/>
        </p:nvSpPr>
        <p:spPr>
          <a:xfrm>
            <a:off x="1778000" y="2159000"/>
            <a:ext cx="1117600" cy="381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30196"/>
              </a:srgbClr>
            </a:solidFill>
          </a:ln>
        </p:spPr>
      </p:sp>
      <p:sp>
        <p:nvSpPr>
          <p:cNvPr id="10" name="c2-t"/>
          <p:cNvSpPr txBox="1"/>
          <p:nvPr/>
        </p:nvSpPr>
        <p:spPr>
          <a:xfrm>
            <a:off x="1778000" y="2159000"/>
            <a:ext cx="1117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Weather</a:t>
            </a:r>
            <a:endParaRPr lang="en-US" sz="1100" noProof="1"/>
          </a:p>
        </p:txBody>
      </p:sp>
      <p:sp>
        <p:nvSpPr>
          <p:cNvPr id="11" name="plus2"/>
          <p:cNvSpPr txBox="1"/>
          <p:nvPr/>
        </p:nvSpPr>
        <p:spPr>
          <a:xfrm>
            <a:off x="2895600" y="2159000"/>
            <a:ext cx="177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8FBF7F"/>
                </a:solidFill>
                <a:latin typeface="MiSans"/>
                <a:ea typeface="MiSans"/>
              </a:rPr>
              <a:t>+</a:t>
            </a:r>
            <a:endParaRPr lang="en-US" sz="1300" noProof="1"/>
          </a:p>
        </p:txBody>
      </p:sp>
      <p:sp>
        <p:nvSpPr>
          <p:cNvPr id="12" name="c3"/>
          <p:cNvSpPr/>
          <p:nvPr/>
        </p:nvSpPr>
        <p:spPr>
          <a:xfrm>
            <a:off x="3073400" y="2159000"/>
            <a:ext cx="889000" cy="381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30196"/>
              </a:srgbClr>
            </a:solidFill>
          </a:ln>
        </p:spPr>
      </p:sp>
      <p:sp>
        <p:nvSpPr>
          <p:cNvPr id="13" name="c3-t"/>
          <p:cNvSpPr txBox="1"/>
          <p:nvPr/>
        </p:nvSpPr>
        <p:spPr>
          <a:xfrm>
            <a:off x="3073400" y="21590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Water</a:t>
            </a:r>
            <a:endParaRPr lang="en-US" sz="1100" noProof="1"/>
          </a:p>
        </p:txBody>
      </p:sp>
      <p:sp>
        <p:nvSpPr>
          <p:cNvPr id="14" name="plus3"/>
          <p:cNvSpPr txBox="1"/>
          <p:nvPr/>
        </p:nvSpPr>
        <p:spPr>
          <a:xfrm>
            <a:off x="3962400" y="2159000"/>
            <a:ext cx="177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8FBF7F"/>
                </a:solidFill>
                <a:latin typeface="MiSans"/>
                <a:ea typeface="MiSans"/>
              </a:rPr>
              <a:t>+</a:t>
            </a:r>
            <a:endParaRPr lang="en-US" sz="1300" noProof="1"/>
          </a:p>
        </p:txBody>
      </p:sp>
      <p:sp>
        <p:nvSpPr>
          <p:cNvPr id="15" name="c4"/>
          <p:cNvSpPr/>
          <p:nvPr/>
        </p:nvSpPr>
        <p:spPr>
          <a:xfrm>
            <a:off x="4140200" y="2159000"/>
            <a:ext cx="1295400" cy="381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30196"/>
              </a:srgbClr>
            </a:solidFill>
          </a:ln>
        </p:spPr>
      </p:sp>
      <p:sp>
        <p:nvSpPr>
          <p:cNvPr id="16" name="c4-t"/>
          <p:cNvSpPr txBox="1"/>
          <p:nvPr/>
        </p:nvSpPr>
        <p:spPr>
          <a:xfrm>
            <a:off x="4140200" y="2159000"/>
            <a:ext cx="1295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Economics</a:t>
            </a:r>
            <a:endParaRPr lang="en-US" sz="1100" noProof="1"/>
          </a:p>
        </p:txBody>
      </p:sp>
      <p:sp>
        <p:nvSpPr>
          <p:cNvPr id="17" name="plus4"/>
          <p:cNvSpPr txBox="1"/>
          <p:nvPr/>
        </p:nvSpPr>
        <p:spPr>
          <a:xfrm>
            <a:off x="5435600" y="2159000"/>
            <a:ext cx="177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8FBF7F"/>
                </a:solidFill>
                <a:latin typeface="MiSans"/>
                <a:ea typeface="MiSans"/>
              </a:rPr>
              <a:t>+</a:t>
            </a:r>
            <a:endParaRPr lang="en-US" sz="1300" noProof="1"/>
          </a:p>
        </p:txBody>
      </p:sp>
      <p:sp>
        <p:nvSpPr>
          <p:cNvPr id="18" name="c5"/>
          <p:cNvSpPr/>
          <p:nvPr/>
        </p:nvSpPr>
        <p:spPr>
          <a:xfrm>
            <a:off x="5613400" y="2159000"/>
            <a:ext cx="1574800" cy="381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30196"/>
              </a:srgbClr>
            </a:solidFill>
          </a:ln>
        </p:spPr>
      </p:sp>
      <p:sp>
        <p:nvSpPr>
          <p:cNvPr id="19" name="c5-t"/>
          <p:cNvSpPr txBox="1"/>
          <p:nvPr/>
        </p:nvSpPr>
        <p:spPr>
          <a:xfrm>
            <a:off x="5613400" y="2159000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Crop knowledge</a:t>
            </a:r>
            <a:endParaRPr lang="en-US" sz="1100" noProof="1"/>
          </a:p>
        </p:txBody>
      </p:sp>
      <p:sp>
        <p:nvSpPr>
          <p:cNvPr id="20" name="plus5"/>
          <p:cNvSpPr txBox="1"/>
          <p:nvPr/>
        </p:nvSpPr>
        <p:spPr>
          <a:xfrm>
            <a:off x="7188200" y="2159000"/>
            <a:ext cx="177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8FBF7F"/>
                </a:solidFill>
                <a:latin typeface="MiSans"/>
                <a:ea typeface="MiSans"/>
              </a:rPr>
              <a:t>+</a:t>
            </a:r>
            <a:endParaRPr lang="en-US" sz="1300" noProof="1"/>
          </a:p>
        </p:txBody>
      </p:sp>
      <p:sp>
        <p:nvSpPr>
          <p:cNvPr id="21" name="c6"/>
          <p:cNvSpPr/>
          <p:nvPr/>
        </p:nvSpPr>
        <p:spPr>
          <a:xfrm>
            <a:off x="7366000" y="2159000"/>
            <a:ext cx="736600" cy="381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30196"/>
              </a:srgbClr>
            </a:solidFill>
          </a:ln>
        </p:spPr>
      </p:sp>
      <p:sp>
        <p:nvSpPr>
          <p:cNvPr id="22" name="c6-t"/>
          <p:cNvSpPr txBox="1"/>
          <p:nvPr/>
        </p:nvSpPr>
        <p:spPr>
          <a:xfrm>
            <a:off x="7366000" y="2159000"/>
            <a:ext cx="736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Risk</a:t>
            </a:r>
            <a:endParaRPr lang="en-US" sz="1100" noProof="1"/>
          </a:p>
        </p:txBody>
      </p:sp>
      <p:sp>
        <p:nvSpPr>
          <p:cNvPr id="23" name="plus6"/>
          <p:cNvSpPr txBox="1"/>
          <p:nvPr/>
        </p:nvSpPr>
        <p:spPr>
          <a:xfrm>
            <a:off x="8102600" y="2159000"/>
            <a:ext cx="177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8FBF7F"/>
                </a:solidFill>
                <a:latin typeface="MiSans"/>
                <a:ea typeface="MiSans"/>
              </a:rPr>
              <a:t>+</a:t>
            </a:r>
            <a:endParaRPr lang="en-US" sz="1300" noProof="1"/>
          </a:p>
        </p:txBody>
      </p:sp>
      <p:sp>
        <p:nvSpPr>
          <p:cNvPr id="24" name="c7"/>
          <p:cNvSpPr/>
          <p:nvPr/>
        </p:nvSpPr>
        <p:spPr>
          <a:xfrm>
            <a:off x="8280400" y="2159000"/>
            <a:ext cx="1676400" cy="381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30196"/>
              </a:srgbClr>
            </a:solidFill>
          </a:ln>
        </p:spPr>
      </p:sp>
      <p:sp>
        <p:nvSpPr>
          <p:cNvPr id="25" name="c7-t"/>
          <p:cNvSpPr txBox="1"/>
          <p:nvPr/>
        </p:nvSpPr>
        <p:spPr>
          <a:xfrm>
            <a:off x="8280400" y="2159000"/>
            <a:ext cx="1676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Scenario analysis</a:t>
            </a:r>
            <a:endParaRPr lang="en-US" sz="1100" noProof="1"/>
          </a:p>
        </p:txBody>
      </p:sp>
      <p:sp>
        <p:nvSpPr>
          <p:cNvPr id="26" name="outcome"/>
          <p:cNvSpPr txBox="1"/>
          <p:nvPr/>
        </p:nvSpPr>
        <p:spPr>
          <a:xfrm>
            <a:off x="812800" y="27178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8FBF7F"/>
                </a:solidFill>
                <a:latin typeface="MiSans"/>
                <a:ea typeface="MiSans"/>
              </a:rPr>
              <a:t>→</a:t>
            </a: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better-informed planting decisions, compared before sowing</a:t>
            </a:r>
            <a:endParaRPr lang="en-US" sz="1400" noProof="1"/>
          </a:p>
        </p:txBody>
      </p:sp>
      <p:sp>
        <p:nvSpPr>
          <p:cNvPr id="27" name="quote-bar"/>
          <p:cNvSpPr/>
          <p:nvPr/>
        </p:nvSpPr>
        <p:spPr>
          <a:xfrm>
            <a:off x="812800" y="3327400"/>
            <a:ext cx="38100" cy="609600"/>
          </a:xfrm>
          <a:prstGeom prst="rect">
            <a:avLst/>
          </a:prstGeom>
          <a:solidFill>
            <a:srgbClr val="8FBF7F"/>
          </a:solidFill>
          <a:ln>
            <a:noFill/>
          </a:ln>
        </p:spPr>
      </p:sp>
      <p:sp>
        <p:nvSpPr>
          <p:cNvPr id="28" name="quote"/>
          <p:cNvSpPr txBox="1"/>
          <p:nvPr/>
        </p:nvSpPr>
        <p:spPr>
          <a:xfrm>
            <a:off x="1016000" y="3327400"/>
            <a:ext cx="9906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500" noProof="1">
                <a:solidFill>
                  <a:srgbClr val="DFF0DA"/>
                </a:solidFill>
                <a:latin typeface="MiSans"/>
                <a:ea typeface="MiSans"/>
              </a:rPr>
              <a:t>“The goal is not to tell farmers what to do.</a:t>
            </a:r>
            <a:endParaRPr lang="en-US" sz="1500" noProof="1"/>
          </a:p>
          <a:p>
            <a:pPr algn="l">
              <a:lnSpc>
                <a:spcPct val="140000"/>
              </a:lnSpc>
            </a:pPr>
            <a:r>
              <a:rPr lang="en-US" sz="1500" noProof="1">
                <a:solidFill>
                  <a:srgbClr val="DFF0DA"/>
                </a:solidFill>
                <a:latin typeface="MiSans"/>
                <a:ea typeface="MiSans"/>
              </a:rPr>
              <a:t>The goal is to help them make better-informed decisions.”</a:t>
            </a:r>
            <a:endParaRPr lang="en-US" sz="1500" noProof="1"/>
          </a:p>
        </p:txBody>
      </p:sp>
      <p:sp>
        <p:nvSpPr>
          <p:cNvPr id="29" name="thanks"/>
          <p:cNvSpPr txBox="1"/>
          <p:nvPr/>
        </p:nvSpPr>
        <p:spPr>
          <a:xfrm>
            <a:off x="812800" y="56642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FFFFFF"/>
                </a:solidFill>
                <a:effectLst>
                  <a:outerShdw blurRad="101600" dist="25400" dir="5400000" sx="100000" sy="100000" kx="0" ky="0" algn="bl" rotWithShape="0">
                    <a:srgbClr val="000000">
                      <a:alpha val="40000"/>
                    </a:srgbClr>
                  </a:outerShdw>
                </a:effectLst>
                <a:latin typeface="MiSans"/>
                <a:ea typeface="MiSans"/>
              </a:rPr>
              <a:t>Thank You</a:t>
            </a:r>
            <a:endParaRPr lang="en-US" sz="2800" noProof="1"/>
          </a:p>
        </p:txBody>
      </p:sp>
      <p:sp>
        <p:nvSpPr>
          <p:cNvPr id="30" name="questions"/>
          <p:cNvSpPr txBox="1"/>
          <p:nvPr/>
        </p:nvSpPr>
        <p:spPr>
          <a:xfrm>
            <a:off x="812800" y="6223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CFE3C8"/>
                </a:solidFill>
                <a:latin typeface="MiSans"/>
                <a:ea typeface="MiSans"/>
              </a:rPr>
              <a:t>Questions?</a:t>
            </a:r>
            <a:endParaRPr lang="en-US" sz="1300" noProof="1"/>
          </a:p>
        </p:txBody>
      </p:sp>
      <p:sp>
        <p:nvSpPr>
          <p:cNvPr id="31" name="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FFFFFF">
                    <a:alpha val="50196"/>
                  </a:srgbClr>
                </a:solidFill>
                <a:latin typeface="MiSans"/>
                <a:ea typeface="MiSans"/>
              </a:rPr>
              <a:t>14 / 14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AgriSense — Intelligent Crop Decision &amp; Risk Analysis System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